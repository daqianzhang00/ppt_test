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84" r:id="rId2"/>
    <p:sldId id="285" r:id="rId3"/>
    <p:sldId id="286" r:id="rId4"/>
    <p:sldId id="263" r:id="rId5"/>
    <p:sldId id="264" r:id="rId6"/>
    <p:sldId id="261" r:id="rId7"/>
    <p:sldId id="265" r:id="rId8"/>
    <p:sldId id="262" r:id="rId9"/>
    <p:sldId id="266" r:id="rId10"/>
    <p:sldId id="274" r:id="rId11"/>
    <p:sldId id="270" r:id="rId12"/>
    <p:sldId id="271" r:id="rId13"/>
    <p:sldId id="272" r:id="rId14"/>
    <p:sldId id="273" r:id="rId15"/>
    <p:sldId id="275" r:id="rId16"/>
    <p:sldId id="276" r:id="rId17"/>
    <p:sldId id="277" r:id="rId18"/>
    <p:sldId id="278" r:id="rId19"/>
    <p:sldId id="279" r:id="rId20"/>
    <p:sldId id="287" r:id="rId21"/>
    <p:sldId id="288" r:id="rId22"/>
    <p:sldId id="290" r:id="rId23"/>
    <p:sldId id="281" r:id="rId24"/>
    <p:sldId id="282" r:id="rId25"/>
    <p:sldId id="283"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095E"/>
    <a:srgbClr val="0007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75" autoAdjust="0"/>
  </p:normalViewPr>
  <p:slideViewPr>
    <p:cSldViewPr snapToGrid="0">
      <p:cViewPr varScale="1">
        <p:scale>
          <a:sx n="103" d="100"/>
          <a:sy n="103" d="100"/>
        </p:scale>
        <p:origin x="852" y="102"/>
      </p:cViewPr>
      <p:guideLst/>
    </p:cSldViewPr>
  </p:slideViewPr>
  <p:outlineViewPr>
    <p:cViewPr>
      <p:scale>
        <a:sx n="33" d="100"/>
        <a:sy n="33" d="100"/>
      </p:scale>
      <p:origin x="0" y="-37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91F5FD-B3CB-4957-9B9F-00E31345C3F7}" type="datetimeFigureOut">
              <a:rPr lang="zh-CN" altLang="en-US" smtClean="0"/>
              <a:t>2025/12/6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3EEFA-A2A2-479D-8AAD-76A53C3282DD}" type="slidenum">
              <a:rPr lang="zh-CN" altLang="en-US" smtClean="0"/>
              <a:t>‹#›</a:t>
            </a:fld>
            <a:endParaRPr lang="zh-CN" altLang="en-US"/>
          </a:p>
        </p:txBody>
      </p:sp>
    </p:spTree>
    <p:extLst>
      <p:ext uri="{BB962C8B-B14F-4D97-AF65-F5344CB8AC3E}">
        <p14:creationId xmlns:p14="http://schemas.microsoft.com/office/powerpoint/2010/main" val="193947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a:t>其原因在于，人工智能技术有助于管理层更全面科学地评估各类因素对未来投资的影响，客观判断投资项目回报，从而有效抑制过度投资行为。相较之下，投资不足主要源于融资约束，人工智能技术本身并不能直接缓解企业面临的融资压力，且在技术部署后企业可能面临更紧张的融资环境，因此其对投资不足的系数虽为正，但未表现出显著性。</a:t>
            </a:r>
            <a:endParaRPr lang="zh-CN" altLang="en-US" dirty="0"/>
          </a:p>
        </p:txBody>
      </p:sp>
      <p:sp>
        <p:nvSpPr>
          <p:cNvPr id="4" name="灯片编号占位符 3"/>
          <p:cNvSpPr>
            <a:spLocks noGrp="1"/>
          </p:cNvSpPr>
          <p:nvPr>
            <p:ph type="sldNum" sz="quarter" idx="5"/>
          </p:nvPr>
        </p:nvSpPr>
        <p:spPr/>
        <p:txBody>
          <a:bodyPr/>
          <a:lstStyle/>
          <a:p>
            <a:fld id="{6363EEFA-A2A2-479D-8AAD-76A53C3282DD}" type="slidenum">
              <a:rPr lang="zh-CN" altLang="en-US" smtClean="0"/>
              <a:t>13</a:t>
            </a:fld>
            <a:endParaRPr lang="zh-CN" altLang="en-US"/>
          </a:p>
        </p:txBody>
      </p:sp>
    </p:spTree>
    <p:extLst>
      <p:ext uri="{BB962C8B-B14F-4D97-AF65-F5344CB8AC3E}">
        <p14:creationId xmlns:p14="http://schemas.microsoft.com/office/powerpoint/2010/main" val="616172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68CE17-9EAE-F341-2B00-BB1FD00C7F8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8322B42-836E-CD61-C681-E942BFBB2FA9}"/>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2381518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2D6845-CD3A-34EE-6425-64F4A3F1C668}"/>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5472241C-AEBC-8E08-5BA2-78A53B41F9D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68693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页">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71A159A-4519-0DA4-7BB8-E219A2C8C2EC}"/>
              </a:ext>
            </a:extLst>
          </p:cNvPr>
          <p:cNvSpPr/>
          <p:nvPr userDrawn="1"/>
        </p:nvSpPr>
        <p:spPr>
          <a:xfrm>
            <a:off x="0" y="1409903"/>
            <a:ext cx="12192000" cy="3778623"/>
          </a:xfrm>
          <a:prstGeom prst="rect">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latin typeface="楷体" panose="02010609060101010101" pitchFamily="49" charset="-122"/>
              <a:ea typeface="楷体" panose="02010609060101010101" pitchFamily="49" charset="-122"/>
              <a:cs typeface="Open Sans" panose="020B0606030504020204" pitchFamily="34" charset="0"/>
            </a:endParaRPr>
          </a:p>
        </p:txBody>
      </p:sp>
      <p:sp>
        <p:nvSpPr>
          <p:cNvPr id="2" name="标题 1">
            <a:extLst>
              <a:ext uri="{FF2B5EF4-FFF2-40B4-BE49-F238E27FC236}">
                <a16:creationId xmlns:a16="http://schemas.microsoft.com/office/drawing/2014/main" id="{B2408111-9A6B-8A8B-17CA-DD724D3B554A}"/>
              </a:ext>
            </a:extLst>
          </p:cNvPr>
          <p:cNvSpPr>
            <a:spLocks noGrp="1"/>
          </p:cNvSpPr>
          <p:nvPr>
            <p:ph type="title"/>
          </p:nvPr>
        </p:nvSpPr>
        <p:spPr>
          <a:xfrm>
            <a:off x="2281456" y="2227291"/>
            <a:ext cx="7629088" cy="1325563"/>
          </a:xfrm>
        </p:spPr>
        <p:txBody>
          <a:bodyPr/>
          <a:lstStyle>
            <a:lvl1pPr>
              <a:defRPr sz="4800">
                <a:solidFill>
                  <a:schemeClr val="bg1"/>
                </a:solidFill>
              </a:defRPr>
            </a:lvl1pPr>
          </a:lstStyle>
          <a:p>
            <a:r>
              <a:rPr lang="zh-CN" altLang="en-US" dirty="0"/>
              <a:t>单击此处编辑母版标题样式</a:t>
            </a:r>
          </a:p>
        </p:txBody>
      </p:sp>
      <p:sp>
        <p:nvSpPr>
          <p:cNvPr id="14" name="文本占位符 13">
            <a:extLst>
              <a:ext uri="{FF2B5EF4-FFF2-40B4-BE49-F238E27FC236}">
                <a16:creationId xmlns:a16="http://schemas.microsoft.com/office/drawing/2014/main" id="{96918FDE-BC91-738D-BE40-A041F15CD5A2}"/>
              </a:ext>
            </a:extLst>
          </p:cNvPr>
          <p:cNvSpPr>
            <a:spLocks noGrp="1"/>
          </p:cNvSpPr>
          <p:nvPr>
            <p:ph type="body" sz="quarter" idx="10"/>
          </p:nvPr>
        </p:nvSpPr>
        <p:spPr>
          <a:xfrm>
            <a:off x="3646043" y="4098201"/>
            <a:ext cx="4899913" cy="544978"/>
          </a:xfrm>
        </p:spPr>
        <p:txBody>
          <a:bodyPr>
            <a:normAutofit/>
          </a:bodyPr>
          <a:lstStyle>
            <a:lvl1pPr>
              <a:defRPr sz="2400">
                <a:solidFill>
                  <a:schemeClr val="bg1"/>
                </a:solidFill>
              </a:defRPr>
            </a:lvl1pPr>
            <a:lvl2pPr marL="457200" indent="0">
              <a:buNone/>
              <a:defRPr/>
            </a:lvl2pPr>
          </a:lstStyle>
          <a:p>
            <a:pPr lvl="0"/>
            <a:r>
              <a:rPr lang="zh-CN" altLang="en-US" dirty="0"/>
              <a:t>单击此处编辑母版文本样式</a:t>
            </a:r>
          </a:p>
        </p:txBody>
      </p:sp>
      <p:sp>
        <p:nvSpPr>
          <p:cNvPr id="16" name="内容占位符 15">
            <a:extLst>
              <a:ext uri="{FF2B5EF4-FFF2-40B4-BE49-F238E27FC236}">
                <a16:creationId xmlns:a16="http://schemas.microsoft.com/office/drawing/2014/main" id="{FA06B1ED-4924-35C8-DC81-EEA20A802CE4}"/>
              </a:ext>
            </a:extLst>
          </p:cNvPr>
          <p:cNvSpPr>
            <a:spLocks noGrp="1"/>
          </p:cNvSpPr>
          <p:nvPr>
            <p:ph sz="quarter" idx="11"/>
          </p:nvPr>
        </p:nvSpPr>
        <p:spPr>
          <a:xfrm>
            <a:off x="8050296" y="5830262"/>
            <a:ext cx="4080186" cy="486649"/>
          </a:xfrm>
        </p:spPr>
        <p:txBody>
          <a:bodyPr>
            <a:normAutofit/>
          </a:bodyPr>
          <a:lstStyle>
            <a:lvl1pPr>
              <a:defRPr sz="2400"/>
            </a:lvl1pPr>
          </a:lstStyle>
          <a:p>
            <a:pPr lvl="0"/>
            <a:r>
              <a:rPr lang="zh-CN" altLang="en-US" dirty="0"/>
              <a:t>单击此处编辑母版文本样式</a:t>
            </a:r>
          </a:p>
        </p:txBody>
      </p:sp>
    </p:spTree>
    <p:extLst>
      <p:ext uri="{BB962C8B-B14F-4D97-AF65-F5344CB8AC3E}">
        <p14:creationId xmlns:p14="http://schemas.microsoft.com/office/powerpoint/2010/main" val="37831828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047B30-F499-623F-D66A-18750D16E31B}"/>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98609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88F8D5-F4F5-C4EC-C8FC-077B73BEF4F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5287743-C6E9-FAF5-A4EC-C7A21F506E0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385372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60AEF0-97ED-9D58-7698-E863009686D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1BE5D61-B661-5A51-9898-93E6C4C8B5D3}"/>
              </a:ext>
            </a:extLst>
          </p:cNvPr>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9696CDC-57A9-DCDA-7A96-74E74DE6C174}"/>
              </a:ext>
            </a:extLst>
          </p:cNvPr>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852811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横向两段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111161-D0B9-74B2-7082-5EA49DB974A7}"/>
              </a:ext>
            </a:extLst>
          </p:cNvPr>
          <p:cNvSpPr>
            <a:spLocks noGrp="1"/>
          </p:cNvSpPr>
          <p:nvPr>
            <p:ph type="title"/>
          </p:nvPr>
        </p:nvSpPr>
        <p:spPr/>
        <p:txBody>
          <a:bodyPr/>
          <a:lstStyle/>
          <a:p>
            <a:r>
              <a:rPr lang="zh-CN" altLang="en-US"/>
              <a:t>单击此处编辑母版标题样式</a:t>
            </a:r>
          </a:p>
        </p:txBody>
      </p:sp>
      <p:sp>
        <p:nvSpPr>
          <p:cNvPr id="4" name="内容占位符 3">
            <a:extLst>
              <a:ext uri="{FF2B5EF4-FFF2-40B4-BE49-F238E27FC236}">
                <a16:creationId xmlns:a16="http://schemas.microsoft.com/office/drawing/2014/main" id="{6A357C3B-1F07-D162-6CD3-5E80667FC8C7}"/>
              </a:ext>
            </a:extLst>
          </p:cNvPr>
          <p:cNvSpPr>
            <a:spLocks noGrp="1"/>
          </p:cNvSpPr>
          <p:nvPr>
            <p:ph sz="quarter" idx="10"/>
          </p:nvPr>
        </p:nvSpPr>
        <p:spPr>
          <a:xfrm>
            <a:off x="838200" y="1946535"/>
            <a:ext cx="10515600" cy="224796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内容占位符 3">
            <a:extLst>
              <a:ext uri="{FF2B5EF4-FFF2-40B4-BE49-F238E27FC236}">
                <a16:creationId xmlns:a16="http://schemas.microsoft.com/office/drawing/2014/main" id="{9C9F0929-8443-6A63-C3F9-E72E23E3765C}"/>
              </a:ext>
            </a:extLst>
          </p:cNvPr>
          <p:cNvSpPr>
            <a:spLocks noGrp="1"/>
          </p:cNvSpPr>
          <p:nvPr>
            <p:ph sz="quarter" idx="11"/>
          </p:nvPr>
        </p:nvSpPr>
        <p:spPr>
          <a:xfrm>
            <a:off x="838200" y="4450342"/>
            <a:ext cx="10515600" cy="224796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91277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AFDD13-6D3E-7217-1470-2ED29CB0A11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D821739-5235-0BAF-BCA2-CFB158153396}"/>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B46240D-C3AE-763C-BD82-0C7D04134104}"/>
              </a:ext>
            </a:extLst>
          </p:cNvPr>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89352E7-B61D-3EFB-FE5A-59551D075F2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491C551-C27F-B0AE-449A-91E3D3448E94}"/>
              </a:ext>
            </a:extLst>
          </p:cNvPr>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5153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纵向三段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13996F-E9A4-CE85-B515-94FCA6561DD8}"/>
              </a:ext>
            </a:extLst>
          </p:cNvPr>
          <p:cNvSpPr>
            <a:spLocks noGrp="1"/>
          </p:cNvSpPr>
          <p:nvPr>
            <p:ph type="title"/>
          </p:nvPr>
        </p:nvSpPr>
        <p:spPr/>
        <p:txBody>
          <a:bodyPr/>
          <a:lstStyle/>
          <a:p>
            <a:r>
              <a:rPr lang="zh-CN" altLang="en-US"/>
              <a:t>单击此处编辑母版标题样式</a:t>
            </a:r>
          </a:p>
        </p:txBody>
      </p:sp>
      <p:sp>
        <p:nvSpPr>
          <p:cNvPr id="4" name="内容占位符 3">
            <a:extLst>
              <a:ext uri="{FF2B5EF4-FFF2-40B4-BE49-F238E27FC236}">
                <a16:creationId xmlns:a16="http://schemas.microsoft.com/office/drawing/2014/main" id="{ED59C98D-7ACB-6A57-198C-7AE03E372744}"/>
              </a:ext>
            </a:extLst>
          </p:cNvPr>
          <p:cNvSpPr>
            <a:spLocks noGrp="1"/>
          </p:cNvSpPr>
          <p:nvPr>
            <p:ph sz="quarter" idx="10"/>
          </p:nvPr>
        </p:nvSpPr>
        <p:spPr>
          <a:xfrm>
            <a:off x="838200" y="2097088"/>
            <a:ext cx="3406629" cy="4119562"/>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内容占位符 3">
            <a:extLst>
              <a:ext uri="{FF2B5EF4-FFF2-40B4-BE49-F238E27FC236}">
                <a16:creationId xmlns:a16="http://schemas.microsoft.com/office/drawing/2014/main" id="{3B418BD8-452D-3AA4-8F78-90DB4D8054D5}"/>
              </a:ext>
            </a:extLst>
          </p:cNvPr>
          <p:cNvSpPr>
            <a:spLocks noGrp="1"/>
          </p:cNvSpPr>
          <p:nvPr>
            <p:ph sz="quarter" idx="11"/>
          </p:nvPr>
        </p:nvSpPr>
        <p:spPr>
          <a:xfrm>
            <a:off x="4540544" y="2097088"/>
            <a:ext cx="3406629" cy="4119562"/>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内容占位符 3">
            <a:extLst>
              <a:ext uri="{FF2B5EF4-FFF2-40B4-BE49-F238E27FC236}">
                <a16:creationId xmlns:a16="http://schemas.microsoft.com/office/drawing/2014/main" id="{460A15E1-9E57-14C6-A148-5340DE97D9A4}"/>
              </a:ext>
            </a:extLst>
          </p:cNvPr>
          <p:cNvSpPr>
            <a:spLocks noGrp="1"/>
          </p:cNvSpPr>
          <p:nvPr>
            <p:ph sz="quarter" idx="12"/>
          </p:nvPr>
        </p:nvSpPr>
        <p:spPr>
          <a:xfrm>
            <a:off x="8242888" y="2097088"/>
            <a:ext cx="3406629" cy="4119562"/>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685126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横向三段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F9C44F-FFA0-FF0D-09E9-91352D641132}"/>
              </a:ext>
            </a:extLst>
          </p:cNvPr>
          <p:cNvSpPr>
            <a:spLocks noGrp="1"/>
          </p:cNvSpPr>
          <p:nvPr>
            <p:ph type="title"/>
          </p:nvPr>
        </p:nvSpPr>
        <p:spPr/>
        <p:txBody>
          <a:bodyPr/>
          <a:lstStyle/>
          <a:p>
            <a:r>
              <a:rPr lang="zh-CN" altLang="en-US"/>
              <a:t>单击此处编辑母版标题样式</a:t>
            </a:r>
          </a:p>
        </p:txBody>
      </p:sp>
      <p:sp>
        <p:nvSpPr>
          <p:cNvPr id="4" name="内容占位符 3">
            <a:extLst>
              <a:ext uri="{FF2B5EF4-FFF2-40B4-BE49-F238E27FC236}">
                <a16:creationId xmlns:a16="http://schemas.microsoft.com/office/drawing/2014/main" id="{973A8300-337A-4496-3103-89630B2D8D73}"/>
              </a:ext>
            </a:extLst>
          </p:cNvPr>
          <p:cNvSpPr>
            <a:spLocks noGrp="1"/>
          </p:cNvSpPr>
          <p:nvPr>
            <p:ph sz="quarter" idx="10"/>
          </p:nvPr>
        </p:nvSpPr>
        <p:spPr>
          <a:xfrm>
            <a:off x="838200" y="1904999"/>
            <a:ext cx="10515600" cy="1458986"/>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3">
            <a:extLst>
              <a:ext uri="{FF2B5EF4-FFF2-40B4-BE49-F238E27FC236}">
                <a16:creationId xmlns:a16="http://schemas.microsoft.com/office/drawing/2014/main" id="{875B8D29-4EA4-E09B-F9BA-B62390616F16}"/>
              </a:ext>
            </a:extLst>
          </p:cNvPr>
          <p:cNvSpPr>
            <a:spLocks noGrp="1"/>
          </p:cNvSpPr>
          <p:nvPr>
            <p:ph sz="quarter" idx="11"/>
          </p:nvPr>
        </p:nvSpPr>
        <p:spPr>
          <a:xfrm>
            <a:off x="838200" y="3578296"/>
            <a:ext cx="10515600" cy="1458986"/>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内容占位符 3">
            <a:extLst>
              <a:ext uri="{FF2B5EF4-FFF2-40B4-BE49-F238E27FC236}">
                <a16:creationId xmlns:a16="http://schemas.microsoft.com/office/drawing/2014/main" id="{8AC0674C-7CC9-DA29-F5E6-113BD19F4E79}"/>
              </a:ext>
            </a:extLst>
          </p:cNvPr>
          <p:cNvSpPr>
            <a:spLocks noGrp="1"/>
          </p:cNvSpPr>
          <p:nvPr>
            <p:ph sz="quarter" idx="12"/>
          </p:nvPr>
        </p:nvSpPr>
        <p:spPr>
          <a:xfrm>
            <a:off x="838200" y="5255481"/>
            <a:ext cx="10515600" cy="1458986"/>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410600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364B49-F7D5-6EA8-F832-1E4E6251489A}"/>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32876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910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829A01-CAAC-F1B7-3E1C-7B8AC8F7895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D493965-14BA-ACF3-7A47-CAFBA4BDB58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A24AB87-B1E8-1BB8-0D55-5A1F2C25E26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835216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4CB146-C221-82CF-6CA7-1E5ACF767E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BFB98EE-9E9C-BA80-B8D3-DBCA2381F3C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7074160-0170-2B8B-D3F8-4BA3A811893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573194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032B5C-637E-BC2F-63AF-CC8119325C1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546653D-2CF2-D004-9375-087A5C845574}"/>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853728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456564E-396D-2F56-7966-405D21EB56F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BBC5C2F-0D8A-6F9E-95B7-F0F8DBC77128}"/>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95187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65A61EB-ECAF-DCA1-6254-BBA978E59F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5383C63-8572-4EE3-8920-2EBDE8DF9C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7" name="图片 6">
            <a:extLst>
              <a:ext uri="{FF2B5EF4-FFF2-40B4-BE49-F238E27FC236}">
                <a16:creationId xmlns:a16="http://schemas.microsoft.com/office/drawing/2014/main" id="{3558DDD8-CCF8-95AB-389C-2724D5DDA5C8}"/>
              </a:ext>
            </a:extLst>
          </p:cNvPr>
          <p:cNvPicPr>
            <a:picLocks noChangeAspect="1"/>
          </p:cNvPicPr>
          <p:nvPr userDrawn="1"/>
        </p:nvPicPr>
        <p:blipFill>
          <a:blip r:embed="rId18">
            <a:clrChange>
              <a:clrFrom>
                <a:srgbClr val="FFFFFF"/>
              </a:clrFrom>
              <a:clrTo>
                <a:srgbClr val="FFFFFF">
                  <a:alpha val="0"/>
                </a:srgbClr>
              </a:clrTo>
            </a:clrChange>
          </a:blip>
          <a:stretch>
            <a:fillRect/>
          </a:stretch>
        </p:blipFill>
        <p:spPr>
          <a:xfrm>
            <a:off x="9815495" y="0"/>
            <a:ext cx="2376505" cy="809631"/>
          </a:xfrm>
          <a:prstGeom prst="rect">
            <a:avLst/>
          </a:prstGeom>
        </p:spPr>
      </p:pic>
    </p:spTree>
    <p:extLst>
      <p:ext uri="{BB962C8B-B14F-4D97-AF65-F5344CB8AC3E}">
        <p14:creationId xmlns:p14="http://schemas.microsoft.com/office/powerpoint/2010/main" val="2500340836"/>
      </p:ext>
    </p:extLst>
  </p:cSld>
  <p:clrMap bg1="lt1" tx1="dk1" bg2="lt2" tx2="dk2" accent1="accent1" accent2="accent2" accent3="accent3" accent4="accent4" accent5="accent5" accent6="accent6" hlink="hlink" folHlink="folHlink"/>
  <p:sldLayoutIdLst>
    <p:sldLayoutId id="2147483649" r:id="rId1"/>
    <p:sldLayoutId id="2147483676" r:id="rId2"/>
    <p:sldLayoutId id="2147483650" r:id="rId3"/>
    <p:sldLayoutId id="2147483663" r:id="rId4"/>
    <p:sldLayoutId id="2147483651" r:id="rId5"/>
    <p:sldLayoutId id="2147483652" r:id="rId6"/>
    <p:sldLayoutId id="2147483662" r:id="rId7"/>
    <p:sldLayoutId id="2147483653" r:id="rId8"/>
    <p:sldLayoutId id="2147483660" r:id="rId9"/>
    <p:sldLayoutId id="2147483661" r:id="rId10"/>
    <p:sldLayoutId id="2147483654" r:id="rId11"/>
    <p:sldLayoutId id="2147483655" r:id="rId12"/>
    <p:sldLayoutId id="2147483656" r:id="rId13"/>
    <p:sldLayoutId id="2147483657" r:id="rId14"/>
    <p:sldLayoutId id="2147483658" r:id="rId15"/>
    <p:sldLayoutId id="2147483659"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DD5130-063C-87A2-69A5-9493F1409F21}"/>
              </a:ext>
            </a:extLst>
          </p:cNvPr>
          <p:cNvSpPr>
            <a:spLocks noGrp="1"/>
          </p:cNvSpPr>
          <p:nvPr>
            <p:ph type="title"/>
          </p:nvPr>
        </p:nvSpPr>
        <p:spPr>
          <a:xfrm>
            <a:off x="1678609" y="2642517"/>
            <a:ext cx="8834779" cy="786483"/>
          </a:xfrm>
        </p:spPr>
        <p:txBody>
          <a:bodyPr>
            <a:noAutofit/>
          </a:bodyPr>
          <a:lstStyle/>
          <a:p>
            <a:r>
              <a:rPr lang="zh-CN" altLang="en-US" dirty="0"/>
              <a:t>人工智能、不确定性与投资效率</a:t>
            </a:r>
          </a:p>
        </p:txBody>
      </p:sp>
      <p:sp>
        <p:nvSpPr>
          <p:cNvPr id="3" name="文本占位符 2">
            <a:extLst>
              <a:ext uri="{FF2B5EF4-FFF2-40B4-BE49-F238E27FC236}">
                <a16:creationId xmlns:a16="http://schemas.microsoft.com/office/drawing/2014/main" id="{8F08CC5B-F92F-0DB2-4EDA-C89EAE5C6344}"/>
              </a:ext>
            </a:extLst>
          </p:cNvPr>
          <p:cNvSpPr>
            <a:spLocks noGrp="1"/>
          </p:cNvSpPr>
          <p:nvPr>
            <p:ph type="body" sz="quarter" idx="10"/>
          </p:nvPr>
        </p:nvSpPr>
        <p:spPr>
          <a:xfrm>
            <a:off x="2509159" y="3605142"/>
            <a:ext cx="7173681" cy="486649"/>
          </a:xfrm>
        </p:spPr>
        <p:txBody>
          <a:bodyPr>
            <a:noAutofit/>
          </a:bodyPr>
          <a:lstStyle/>
          <a:p>
            <a:pPr marL="0" indent="0">
              <a:buNone/>
            </a:pPr>
            <a:r>
              <a:rPr lang="en-GB" altLang="zh-CN" sz="2000" kern="100" dirty="0">
                <a:ea typeface="宋体" panose="02010600030101010101" pitchFamily="2" charset="-122"/>
                <a:cs typeface="宋体" panose="02010600030101010101" pitchFamily="2" charset="-122"/>
              </a:rPr>
              <a:t>Artificial Intelligence, Uncertainty and Investment Efficiency</a:t>
            </a:r>
            <a:endParaRPr lang="zh-CN" altLang="en-US" sz="2000" dirty="0"/>
          </a:p>
        </p:txBody>
      </p:sp>
      <p:sp>
        <p:nvSpPr>
          <p:cNvPr id="4" name="内容占位符 3">
            <a:extLst>
              <a:ext uri="{FF2B5EF4-FFF2-40B4-BE49-F238E27FC236}">
                <a16:creationId xmlns:a16="http://schemas.microsoft.com/office/drawing/2014/main" id="{DC92725B-E223-83FA-BC2B-701D789BFB4B}"/>
              </a:ext>
            </a:extLst>
          </p:cNvPr>
          <p:cNvSpPr>
            <a:spLocks noGrp="1"/>
          </p:cNvSpPr>
          <p:nvPr>
            <p:ph sz="quarter" idx="11"/>
          </p:nvPr>
        </p:nvSpPr>
        <p:spPr>
          <a:xfrm>
            <a:off x="10096461" y="5848192"/>
            <a:ext cx="1970033" cy="310561"/>
          </a:xfrm>
        </p:spPr>
        <p:txBody>
          <a:bodyPr>
            <a:normAutofit fontScale="77500" lnSpcReduction="20000"/>
          </a:bodyPr>
          <a:lstStyle/>
          <a:p>
            <a:pPr marL="0" indent="0">
              <a:buNone/>
            </a:pPr>
            <a:r>
              <a:rPr lang="zh-CN" altLang="en-US" dirty="0"/>
              <a:t>汇报人：张齐凯</a:t>
            </a:r>
          </a:p>
        </p:txBody>
      </p:sp>
    </p:spTree>
    <p:extLst>
      <p:ext uri="{BB962C8B-B14F-4D97-AF65-F5344CB8AC3E}">
        <p14:creationId xmlns:p14="http://schemas.microsoft.com/office/powerpoint/2010/main" val="1133102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8EAF9-4616-8062-BAA3-89DD3F7BF5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EBA852-AB09-A294-1C68-3B82F56AAD80}"/>
              </a:ext>
            </a:extLst>
          </p:cNvPr>
          <p:cNvSpPr>
            <a:spLocks noGrp="1"/>
          </p:cNvSpPr>
          <p:nvPr>
            <p:ph type="title"/>
          </p:nvPr>
        </p:nvSpPr>
        <p:spPr/>
        <p:txBody>
          <a:bodyPr>
            <a:normAutofit/>
          </a:bodyPr>
          <a:lstStyle/>
          <a:p>
            <a:r>
              <a:rPr lang="zh-CN" altLang="en-US" sz="2800" dirty="0"/>
              <a:t>摘要</a:t>
            </a:r>
          </a:p>
        </p:txBody>
      </p:sp>
      <p:sp>
        <p:nvSpPr>
          <p:cNvPr id="3" name="内容占位符 2">
            <a:extLst>
              <a:ext uri="{FF2B5EF4-FFF2-40B4-BE49-F238E27FC236}">
                <a16:creationId xmlns:a16="http://schemas.microsoft.com/office/drawing/2014/main" id="{B404BD2B-1369-4CFD-CB46-B4B7B3DFF276}"/>
              </a:ext>
            </a:extLst>
          </p:cNvPr>
          <p:cNvSpPr>
            <a:spLocks noGrp="1"/>
          </p:cNvSpPr>
          <p:nvPr>
            <p:ph sz="half" idx="1"/>
          </p:nvPr>
        </p:nvSpPr>
        <p:spPr>
          <a:xfrm>
            <a:off x="1163217" y="1683203"/>
            <a:ext cx="9371045" cy="4351338"/>
          </a:xfrm>
        </p:spPr>
        <p:txBody>
          <a:bodyPr>
            <a:normAutofit fontScale="70000" lnSpcReduction="20000"/>
          </a:bodyPr>
          <a:lstStyle/>
          <a:p>
            <a:pPr marL="0" indent="0" algn="just">
              <a:lnSpc>
                <a:spcPct val="150000"/>
              </a:lnSpc>
              <a:spcAft>
                <a:spcPts val="1800"/>
              </a:spcAft>
              <a:buNone/>
            </a:pPr>
            <a:r>
              <a:rPr lang="zh-CN" altLang="zh-CN" dirty="0"/>
              <a:t>人工智能技术不仅改变了业务流程与生产体系，同时赋予了企业深度洞察潜在信息以提升投资效率的能力。本文从人工智能的两大经济特性：</a:t>
            </a:r>
            <a:r>
              <a:rPr lang="zh-CN" altLang="zh-CN" b="1" dirty="0"/>
              <a:t>精准预测和极限理性</a:t>
            </a:r>
            <a:r>
              <a:rPr lang="zh-CN" altLang="zh-CN" dirty="0"/>
              <a:t>的视角考察了人工智能技术应用对企业投资效率的影响。进一步，借助中国上市公司数据进行实证检验，研究发现：（</a:t>
            </a:r>
            <a:r>
              <a:rPr lang="en-GB" altLang="zh-CN" dirty="0"/>
              <a:t>1</a:t>
            </a:r>
            <a:r>
              <a:rPr lang="zh-CN" altLang="zh-CN" dirty="0"/>
              <a:t>）人工智能技术抑制了企业过度投资和投资不足行为，显著提升了投资效率。（</a:t>
            </a:r>
            <a:r>
              <a:rPr lang="en-GB" altLang="zh-CN" dirty="0"/>
              <a:t>2</a:t>
            </a:r>
            <a:r>
              <a:rPr lang="zh-CN" altLang="zh-CN" dirty="0"/>
              <a:t>）机制分析发现，人工智能技术通过缓解</a:t>
            </a:r>
            <a:r>
              <a:rPr lang="zh-CN" altLang="zh-CN" b="1" dirty="0"/>
              <a:t>环境、政治、政策不确定性</a:t>
            </a:r>
            <a:r>
              <a:rPr lang="zh-CN" altLang="zh-CN" dirty="0"/>
              <a:t>，进而提升投资效率。（</a:t>
            </a:r>
            <a:r>
              <a:rPr lang="en-GB" altLang="zh-CN" dirty="0"/>
              <a:t>3</a:t>
            </a:r>
            <a:r>
              <a:rPr lang="zh-CN" altLang="zh-CN" dirty="0"/>
              <a:t>）异质性分析发现，人工智能技术对投资效率的提升效应在成长性更高、技术密集型与劳动密集型行业和东部经济较发达地区的企业中更为突出。（</a:t>
            </a:r>
            <a:r>
              <a:rPr lang="en-GB" altLang="zh-CN" dirty="0"/>
              <a:t>4</a:t>
            </a:r>
            <a:r>
              <a:rPr lang="zh-CN" altLang="zh-CN" dirty="0"/>
              <a:t>）进一步分析表明，位于集聚网络中心位置的企业拥有信息优势，采用人工智能技术优化投资效率的效果更为显著。本文为人工智能技术应用提升企业投资效率提供了新的经验证据。</a:t>
            </a:r>
            <a:endParaRPr lang="zh-CN" altLang="en-US" sz="1600" dirty="0"/>
          </a:p>
        </p:txBody>
      </p:sp>
    </p:spTree>
    <p:extLst>
      <p:ext uri="{BB962C8B-B14F-4D97-AF65-F5344CB8AC3E}">
        <p14:creationId xmlns:p14="http://schemas.microsoft.com/office/powerpoint/2010/main" val="4016780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DBDF2-DCD2-B6D9-897C-F8043800EBD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95210E-A521-3231-69AE-0C1871DB4F09}"/>
              </a:ext>
            </a:extLst>
          </p:cNvPr>
          <p:cNvSpPr>
            <a:spLocks noGrp="1"/>
          </p:cNvSpPr>
          <p:nvPr>
            <p:ph type="title"/>
          </p:nvPr>
        </p:nvSpPr>
        <p:spPr/>
        <p:txBody>
          <a:bodyPr>
            <a:normAutofit/>
          </a:bodyPr>
          <a:lstStyle/>
          <a:p>
            <a:r>
              <a:rPr lang="zh-CN" altLang="en-US" sz="2800" dirty="0"/>
              <a:t>边际贡献</a:t>
            </a:r>
          </a:p>
        </p:txBody>
      </p:sp>
      <p:sp>
        <p:nvSpPr>
          <p:cNvPr id="3" name="内容占位符 2">
            <a:extLst>
              <a:ext uri="{FF2B5EF4-FFF2-40B4-BE49-F238E27FC236}">
                <a16:creationId xmlns:a16="http://schemas.microsoft.com/office/drawing/2014/main" id="{13A1597C-C3C4-A1B2-3090-5D08A8B806AF}"/>
              </a:ext>
            </a:extLst>
          </p:cNvPr>
          <p:cNvSpPr>
            <a:spLocks noGrp="1"/>
          </p:cNvSpPr>
          <p:nvPr>
            <p:ph sz="half" idx="1"/>
          </p:nvPr>
        </p:nvSpPr>
        <p:spPr>
          <a:xfrm>
            <a:off x="1163217" y="1683203"/>
            <a:ext cx="9790922" cy="4614960"/>
          </a:xfrm>
        </p:spPr>
        <p:txBody>
          <a:bodyPr>
            <a:normAutofit lnSpcReduction="10000"/>
          </a:bodyPr>
          <a:lstStyle/>
          <a:p>
            <a:pPr marL="0" indent="0" algn="just">
              <a:lnSpc>
                <a:spcPct val="150000"/>
              </a:lnSpc>
              <a:spcAft>
                <a:spcPts val="1800"/>
              </a:spcAft>
              <a:buNone/>
            </a:pPr>
            <a:r>
              <a:rPr lang="zh-CN" altLang="en-US" sz="1600" dirty="0"/>
              <a:t>本文的边际贡献有三点：</a:t>
            </a:r>
            <a:r>
              <a:rPr lang="zh-CN" altLang="en-US" sz="1600" b="1" dirty="0"/>
              <a:t>第一，从经济特性视角构建了人工智能与投资效率的分析框架。</a:t>
            </a:r>
            <a:r>
              <a:rPr lang="zh-CN" altLang="en-US" sz="1600" dirty="0"/>
              <a:t>本文在已有研究的基础上（</a:t>
            </a:r>
            <a:r>
              <a:rPr lang="en-US" altLang="zh-CN" sz="1600" dirty="0"/>
              <a:t>Wilson and Daugherty</a:t>
            </a:r>
            <a:r>
              <a:rPr lang="zh-CN" altLang="en-US" sz="1600" dirty="0"/>
              <a:t>，</a:t>
            </a:r>
            <a:r>
              <a:rPr lang="en-US" altLang="zh-CN" sz="1600" dirty="0"/>
              <a:t>2018</a:t>
            </a:r>
            <a:r>
              <a:rPr lang="zh-CN" altLang="en-US" sz="1600" dirty="0"/>
              <a:t>；徐鹏和徐向艺，</a:t>
            </a:r>
            <a:r>
              <a:rPr lang="en-US" altLang="zh-CN" sz="1600" dirty="0"/>
              <a:t>2020</a:t>
            </a:r>
            <a:r>
              <a:rPr lang="zh-CN" altLang="en-US" sz="1600" dirty="0"/>
              <a:t>；</a:t>
            </a:r>
            <a:r>
              <a:rPr lang="en-US" altLang="zh-CN" sz="1600" dirty="0"/>
              <a:t>Bianchi et al.</a:t>
            </a:r>
            <a:r>
              <a:rPr lang="zh-CN" altLang="en-US" sz="1600" dirty="0"/>
              <a:t>，</a:t>
            </a:r>
            <a:r>
              <a:rPr lang="en-US" altLang="zh-CN" sz="1600" dirty="0"/>
              <a:t>2022</a:t>
            </a:r>
            <a:r>
              <a:rPr lang="zh-CN" altLang="en-US" sz="1600" dirty="0"/>
              <a:t>），从理论上梳理了人工智能技术的两项基本能力</a:t>
            </a:r>
            <a:r>
              <a:rPr lang="en-US" altLang="zh-CN" sz="1600" dirty="0"/>
              <a:t>——</a:t>
            </a:r>
            <a:r>
              <a:rPr lang="zh-CN" altLang="en-US" sz="1600" dirty="0"/>
              <a:t>精准预测（第一经济特性）和极限理性（第二经济特性），并将其作为分析框架切入企业投资研究。该框架有助于我们将人工智能作为“决策辅助技术”而非传统的生产增强工具展开分析，突出其在减弱不确定性方面的作用，深刻理解人工智能在纠正市场失灵方面的独特价值。</a:t>
            </a:r>
            <a:r>
              <a:rPr lang="zh-CN" altLang="en-US" sz="1600" b="1" dirty="0"/>
              <a:t>第二，从不确定性的视角丰富了人工智能技术影响企业投资效率的机制研究。</a:t>
            </a:r>
            <a:r>
              <a:rPr lang="zh-CN" altLang="en-US" sz="1600" dirty="0"/>
              <a:t>区别于已有主要从信息不对称或代理问题视角探讨投资效率的文献（</a:t>
            </a:r>
            <a:r>
              <a:rPr lang="en-US" altLang="zh-CN" sz="1600" dirty="0"/>
              <a:t>Jensen and Meckling</a:t>
            </a:r>
            <a:r>
              <a:rPr lang="zh-CN" altLang="en-US" sz="1600" dirty="0"/>
              <a:t>，</a:t>
            </a:r>
            <a:r>
              <a:rPr lang="en-US" altLang="zh-CN" sz="1600" dirty="0"/>
              <a:t>1976</a:t>
            </a:r>
            <a:r>
              <a:rPr lang="zh-CN" altLang="en-US" sz="1600" dirty="0"/>
              <a:t>；</a:t>
            </a:r>
            <a:r>
              <a:rPr lang="en-US" altLang="zh-CN" sz="1600" dirty="0"/>
              <a:t>Biddle et al.</a:t>
            </a:r>
            <a:r>
              <a:rPr lang="zh-CN" altLang="en-US" sz="1600" dirty="0"/>
              <a:t>，</a:t>
            </a:r>
            <a:r>
              <a:rPr lang="en-US" altLang="zh-CN" sz="1600" dirty="0"/>
              <a:t>2009</a:t>
            </a:r>
            <a:r>
              <a:rPr lang="zh-CN" altLang="en-US" sz="1600" dirty="0"/>
              <a:t>），本文发现人工智能技术可以通过降低企业所面临的环境不确定性、政治不确定性和政策不确定性，显著提升投资效率，主要体现在抑制过度投资。本文不仅拓展了投资效率研究的分析视角，也为理解新一代通用技术在企业投资决策中的作用机制提供了新的解释路径。</a:t>
            </a:r>
            <a:r>
              <a:rPr lang="zh-CN" altLang="en-US" sz="1600" b="1" dirty="0"/>
              <a:t>第三，本文将企业投资效率的研究从单经济主体扩展到多经济主体。</a:t>
            </a:r>
            <a:r>
              <a:rPr lang="zh-CN" altLang="en-US" sz="1600" dirty="0"/>
              <a:t>现有文献对企业投资效率的研究大多聚焦于单一企业层面（姜付秀等，</a:t>
            </a:r>
            <a:r>
              <a:rPr lang="en-US" altLang="zh-CN" sz="1600" dirty="0"/>
              <a:t>2009</a:t>
            </a:r>
            <a:r>
              <a:rPr lang="zh-CN" altLang="en-US" sz="1600" dirty="0"/>
              <a:t>；聂辉华等，</a:t>
            </a:r>
            <a:r>
              <a:rPr lang="en-US" altLang="zh-CN" sz="1600" dirty="0"/>
              <a:t>2020</a:t>
            </a:r>
            <a:r>
              <a:rPr lang="zh-CN" altLang="en-US" sz="1600" dirty="0"/>
              <a:t>），并未将企业放在集聚网络中考察多企业效应。本文进一步考察了在集聚网络中的企业中应用人工智能对投资效率的影响，丰富了现有文献对企业投资效率的研究，也为理解企业应用人工智能的经济后果提供了一个全新视角。</a:t>
            </a:r>
            <a:endParaRPr lang="zh-CN" altLang="en-US" sz="1800" dirty="0"/>
          </a:p>
        </p:txBody>
      </p:sp>
    </p:spTree>
    <p:extLst>
      <p:ext uri="{BB962C8B-B14F-4D97-AF65-F5344CB8AC3E}">
        <p14:creationId xmlns:p14="http://schemas.microsoft.com/office/powerpoint/2010/main" val="3386154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61D924-09F5-829B-4B10-8AB643CE9180}"/>
              </a:ext>
            </a:extLst>
          </p:cNvPr>
          <p:cNvSpPr>
            <a:spLocks noGrp="1"/>
          </p:cNvSpPr>
          <p:nvPr>
            <p:ph type="title"/>
          </p:nvPr>
        </p:nvSpPr>
        <p:spPr/>
        <p:txBody>
          <a:bodyPr>
            <a:normAutofit/>
          </a:bodyPr>
          <a:lstStyle/>
          <a:p>
            <a:r>
              <a:rPr lang="zh-CN" altLang="en-US" sz="2800" dirty="0"/>
              <a:t>投资效率</a:t>
            </a:r>
          </a:p>
        </p:txBody>
      </p:sp>
      <p:sp>
        <p:nvSpPr>
          <p:cNvPr id="3" name="内容占位符 2">
            <a:extLst>
              <a:ext uri="{FF2B5EF4-FFF2-40B4-BE49-F238E27FC236}">
                <a16:creationId xmlns:a16="http://schemas.microsoft.com/office/drawing/2014/main" id="{2D8F929E-35D1-7244-54CD-BB2379B68C40}"/>
              </a:ext>
            </a:extLst>
          </p:cNvPr>
          <p:cNvSpPr>
            <a:spLocks noGrp="1"/>
          </p:cNvSpPr>
          <p:nvPr>
            <p:ph sz="half" idx="1"/>
          </p:nvPr>
        </p:nvSpPr>
        <p:spPr>
          <a:xfrm>
            <a:off x="1153886" y="1825625"/>
            <a:ext cx="9371045" cy="1981265"/>
          </a:xfrm>
        </p:spPr>
        <p:txBody>
          <a:bodyPr/>
          <a:lstStyle/>
          <a:p>
            <a:pPr marL="0" indent="0">
              <a:lnSpc>
                <a:spcPct val="120000"/>
              </a:lnSpc>
              <a:spcAft>
                <a:spcPts val="1800"/>
              </a:spcAft>
              <a:buNone/>
            </a:pPr>
            <a:r>
              <a:rPr lang="zh-CN" altLang="en-US" sz="2400" b="1" dirty="0"/>
              <a:t>中央政策文件</a:t>
            </a:r>
            <a:endParaRPr lang="en-US" altLang="zh-CN" sz="2400" b="1" dirty="0"/>
          </a:p>
          <a:p>
            <a:pPr>
              <a:lnSpc>
                <a:spcPct val="120000"/>
              </a:lnSpc>
              <a:spcBef>
                <a:spcPts val="0"/>
              </a:spcBef>
              <a:spcAft>
                <a:spcPts val="600"/>
              </a:spcAft>
            </a:pPr>
            <a:r>
              <a:rPr lang="en-US" altLang="zh-CN" sz="2000" dirty="0"/>
              <a:t>2025</a:t>
            </a:r>
            <a:r>
              <a:rPr lang="zh-CN" altLang="en-US" sz="2000" dirty="0"/>
              <a:t>年</a:t>
            </a:r>
            <a:r>
              <a:rPr lang="en-US" altLang="zh-CN" sz="2000" dirty="0"/>
              <a:t>1</a:t>
            </a:r>
            <a:r>
              <a:rPr lang="zh-CN" altLang="en-US" sz="2000" dirty="0"/>
              <a:t>月</a:t>
            </a:r>
            <a:r>
              <a:rPr lang="en-US" altLang="zh-CN" sz="2000" dirty="0"/>
              <a:t>3</a:t>
            </a:r>
            <a:r>
              <a:rPr lang="zh-CN" altLang="en-US" sz="2000" dirty="0"/>
              <a:t>日，国家发展改革委提出“从三方面精准发力</a:t>
            </a:r>
            <a:r>
              <a:rPr lang="zh-CN" altLang="en-US" sz="2000" b="1" dirty="0"/>
              <a:t>提高投资效益</a:t>
            </a:r>
            <a:r>
              <a:rPr lang="zh-CN" altLang="en-US" sz="2000" dirty="0"/>
              <a:t>”</a:t>
            </a:r>
            <a:endParaRPr lang="en-US" altLang="zh-CN" sz="2000" dirty="0"/>
          </a:p>
          <a:p>
            <a:pPr>
              <a:lnSpc>
                <a:spcPct val="120000"/>
              </a:lnSpc>
              <a:spcBef>
                <a:spcPts val="0"/>
              </a:spcBef>
              <a:spcAft>
                <a:spcPts val="600"/>
              </a:spcAft>
            </a:pPr>
            <a:r>
              <a:rPr lang="en-US" altLang="zh-CN" sz="2000" dirty="0"/>
              <a:t>2025</a:t>
            </a:r>
            <a:r>
              <a:rPr lang="zh-CN" altLang="en-US" sz="2000" dirty="0"/>
              <a:t>年</a:t>
            </a:r>
            <a:r>
              <a:rPr lang="en-US" altLang="zh-CN" sz="2000" dirty="0"/>
              <a:t>3</a:t>
            </a:r>
            <a:r>
              <a:rPr lang="zh-CN" altLang="en-US" sz="2000" dirty="0"/>
              <a:t>月</a:t>
            </a:r>
            <a:r>
              <a:rPr lang="en-US" altLang="zh-CN" sz="2000" dirty="0"/>
              <a:t>5</a:t>
            </a:r>
            <a:r>
              <a:rPr lang="zh-CN" altLang="en-US" sz="2000" dirty="0"/>
              <a:t>日，全国两会政府工作报告中将“大力提振消费、提高投资效益”作为</a:t>
            </a:r>
            <a:r>
              <a:rPr lang="en-US" altLang="zh-CN" sz="2000" dirty="0"/>
              <a:t>2025</a:t>
            </a:r>
            <a:r>
              <a:rPr lang="zh-CN" altLang="en-US" sz="2000" dirty="0"/>
              <a:t>年政府工作任务之首，提出要“</a:t>
            </a:r>
            <a:r>
              <a:rPr lang="zh-CN" altLang="en-US" sz="2000" b="1" dirty="0"/>
              <a:t>积极扩大有效投资</a:t>
            </a:r>
            <a:r>
              <a:rPr lang="zh-CN" altLang="en-US" sz="2000" dirty="0"/>
              <a:t>”。</a:t>
            </a:r>
          </a:p>
        </p:txBody>
      </p:sp>
    </p:spTree>
    <p:extLst>
      <p:ext uri="{BB962C8B-B14F-4D97-AF65-F5344CB8AC3E}">
        <p14:creationId xmlns:p14="http://schemas.microsoft.com/office/powerpoint/2010/main" val="400645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3CC63E-35C9-81BD-8A4B-8229761BAFFD}"/>
              </a:ext>
            </a:extLst>
          </p:cNvPr>
          <p:cNvSpPr>
            <a:spLocks noGrp="1"/>
          </p:cNvSpPr>
          <p:nvPr>
            <p:ph type="title"/>
          </p:nvPr>
        </p:nvSpPr>
        <p:spPr/>
        <p:txBody>
          <a:bodyPr vert="horz" lIns="91440" tIns="45720" rIns="91440" bIns="45720" rtlCol="0" anchor="ctr">
            <a:normAutofit/>
          </a:bodyPr>
          <a:lstStyle/>
          <a:p>
            <a:r>
              <a:rPr lang="zh-CN" altLang="en-US" sz="2800" dirty="0"/>
              <a:t>传统视角下的投资效率</a:t>
            </a:r>
          </a:p>
        </p:txBody>
      </p:sp>
      <p:sp>
        <p:nvSpPr>
          <p:cNvPr id="3" name="文本占位符 2">
            <a:extLst>
              <a:ext uri="{FF2B5EF4-FFF2-40B4-BE49-F238E27FC236}">
                <a16:creationId xmlns:a16="http://schemas.microsoft.com/office/drawing/2014/main" id="{D1633FBA-B56E-EC45-D38D-DB030A469419}"/>
              </a:ext>
            </a:extLst>
          </p:cNvPr>
          <p:cNvSpPr>
            <a:spLocks noGrp="1"/>
          </p:cNvSpPr>
          <p:nvPr>
            <p:ph type="body" idx="1"/>
          </p:nvPr>
        </p:nvSpPr>
        <p:spPr/>
        <p:txBody>
          <a:bodyPr/>
          <a:lstStyle/>
          <a:p>
            <a:r>
              <a:rPr lang="zh-CN" altLang="en-US" dirty="0"/>
              <a:t>委托代理</a:t>
            </a:r>
          </a:p>
        </p:txBody>
      </p:sp>
      <p:sp>
        <p:nvSpPr>
          <p:cNvPr id="4" name="内容占位符 3">
            <a:extLst>
              <a:ext uri="{FF2B5EF4-FFF2-40B4-BE49-F238E27FC236}">
                <a16:creationId xmlns:a16="http://schemas.microsoft.com/office/drawing/2014/main" id="{BD9BFFD8-04FA-EE2D-75DE-342E0A87CA85}"/>
              </a:ext>
            </a:extLst>
          </p:cNvPr>
          <p:cNvSpPr>
            <a:spLocks noGrp="1"/>
          </p:cNvSpPr>
          <p:nvPr>
            <p:ph sz="half" idx="2"/>
          </p:nvPr>
        </p:nvSpPr>
        <p:spPr>
          <a:xfrm>
            <a:off x="839788" y="2707993"/>
            <a:ext cx="5157787" cy="1959349"/>
          </a:xfrm>
        </p:spPr>
        <p:txBody>
          <a:bodyPr>
            <a:normAutofit/>
          </a:bodyPr>
          <a:lstStyle/>
          <a:p>
            <a:pPr>
              <a:lnSpc>
                <a:spcPct val="120000"/>
              </a:lnSpc>
            </a:pPr>
            <a:r>
              <a:rPr lang="zh-CN" altLang="en-US" sz="2000" dirty="0"/>
              <a:t>委托人与代理人目标函数存在系统偏离</a:t>
            </a:r>
            <a:r>
              <a:rPr lang="zh-CN" altLang="en-US" sz="1600" dirty="0"/>
              <a:t>（</a:t>
            </a:r>
            <a:r>
              <a:rPr lang="en-US" altLang="zh-CN" sz="1600" dirty="0"/>
              <a:t>Jensen and Meckling</a:t>
            </a:r>
            <a:r>
              <a:rPr lang="zh-CN" altLang="en-US" sz="1600" dirty="0"/>
              <a:t>，</a:t>
            </a:r>
            <a:r>
              <a:rPr lang="en-US" altLang="zh-CN" sz="1600" dirty="0"/>
              <a:t>1976</a:t>
            </a:r>
            <a:r>
              <a:rPr lang="zh-CN" altLang="en-US" sz="1600" dirty="0"/>
              <a:t>；</a:t>
            </a:r>
            <a:r>
              <a:rPr lang="en-US" altLang="zh-CN" sz="1600" dirty="0"/>
              <a:t>Jensen</a:t>
            </a:r>
            <a:r>
              <a:rPr lang="zh-CN" altLang="en-US" sz="1600" dirty="0"/>
              <a:t>，</a:t>
            </a:r>
            <a:r>
              <a:rPr lang="en-US" altLang="zh-CN" sz="1600" dirty="0"/>
              <a:t>1986</a:t>
            </a:r>
            <a:r>
              <a:rPr lang="zh-CN" altLang="en-US" sz="1600" dirty="0"/>
              <a:t>）</a:t>
            </a:r>
            <a:endParaRPr lang="en-US" altLang="zh-CN" sz="1800" dirty="0"/>
          </a:p>
          <a:p>
            <a:pPr>
              <a:lnSpc>
                <a:spcPct val="120000"/>
              </a:lnSpc>
            </a:pPr>
            <a:endParaRPr lang="zh-CN" altLang="en-US" sz="2000" dirty="0"/>
          </a:p>
        </p:txBody>
      </p:sp>
      <p:sp>
        <p:nvSpPr>
          <p:cNvPr id="5" name="文本占位符 4">
            <a:extLst>
              <a:ext uri="{FF2B5EF4-FFF2-40B4-BE49-F238E27FC236}">
                <a16:creationId xmlns:a16="http://schemas.microsoft.com/office/drawing/2014/main" id="{90B7FCCD-719D-6CEC-E0CA-642190C730D5}"/>
              </a:ext>
            </a:extLst>
          </p:cNvPr>
          <p:cNvSpPr>
            <a:spLocks noGrp="1"/>
          </p:cNvSpPr>
          <p:nvPr>
            <p:ph type="body" sz="quarter" idx="3"/>
          </p:nvPr>
        </p:nvSpPr>
        <p:spPr/>
        <p:txBody>
          <a:bodyPr/>
          <a:lstStyle/>
          <a:p>
            <a:r>
              <a:rPr lang="zh-CN" altLang="en-US" dirty="0"/>
              <a:t>信息不对称</a:t>
            </a:r>
          </a:p>
        </p:txBody>
      </p:sp>
      <p:sp>
        <p:nvSpPr>
          <p:cNvPr id="6" name="内容占位符 5">
            <a:extLst>
              <a:ext uri="{FF2B5EF4-FFF2-40B4-BE49-F238E27FC236}">
                <a16:creationId xmlns:a16="http://schemas.microsoft.com/office/drawing/2014/main" id="{BA202CFC-FC17-81F9-D24F-4C309DB7F194}"/>
              </a:ext>
            </a:extLst>
          </p:cNvPr>
          <p:cNvSpPr>
            <a:spLocks noGrp="1"/>
          </p:cNvSpPr>
          <p:nvPr>
            <p:ph sz="quarter" idx="4"/>
          </p:nvPr>
        </p:nvSpPr>
        <p:spPr>
          <a:xfrm>
            <a:off x="6172200" y="2707993"/>
            <a:ext cx="5183188" cy="1959349"/>
          </a:xfrm>
        </p:spPr>
        <p:txBody>
          <a:bodyPr>
            <a:normAutofit/>
          </a:bodyPr>
          <a:lstStyle/>
          <a:p>
            <a:pPr>
              <a:lnSpc>
                <a:spcPct val="120000"/>
              </a:lnSpc>
            </a:pPr>
            <a:r>
              <a:rPr lang="zh-CN" altLang="en-US" sz="2000" dirty="0"/>
              <a:t>外部投资者因信息劣势要求风险溢价</a:t>
            </a:r>
            <a:r>
              <a:rPr lang="zh-CN" altLang="en-US" sz="1600" dirty="0"/>
              <a:t>（</a:t>
            </a:r>
            <a:r>
              <a:rPr lang="en-GB" altLang="zh-CN" sz="1600" dirty="0"/>
              <a:t>Myers and Majluf</a:t>
            </a:r>
            <a:r>
              <a:rPr lang="zh-CN" altLang="en-US" sz="1600" dirty="0"/>
              <a:t>，</a:t>
            </a:r>
            <a:r>
              <a:rPr lang="en-GB" altLang="zh-CN" sz="1600" dirty="0"/>
              <a:t>1984</a:t>
            </a:r>
            <a:r>
              <a:rPr lang="zh-CN" altLang="en-US" sz="1600" dirty="0"/>
              <a:t>）</a:t>
            </a:r>
            <a:endParaRPr lang="en-US" altLang="zh-CN" sz="1600" dirty="0"/>
          </a:p>
          <a:p>
            <a:pPr marL="0" indent="0">
              <a:lnSpc>
                <a:spcPct val="120000"/>
              </a:lnSpc>
              <a:buNone/>
            </a:pPr>
            <a:endParaRPr lang="zh-CN" altLang="en-US" sz="2000" dirty="0"/>
          </a:p>
        </p:txBody>
      </p:sp>
      <p:sp>
        <p:nvSpPr>
          <p:cNvPr id="8" name="文本框 7">
            <a:extLst>
              <a:ext uri="{FF2B5EF4-FFF2-40B4-BE49-F238E27FC236}">
                <a16:creationId xmlns:a16="http://schemas.microsoft.com/office/drawing/2014/main" id="{94AE3CA4-4AA9-5CA9-B1BD-2676D7DD8FEF}"/>
              </a:ext>
            </a:extLst>
          </p:cNvPr>
          <p:cNvSpPr txBox="1"/>
          <p:nvPr/>
        </p:nvSpPr>
        <p:spPr>
          <a:xfrm>
            <a:off x="4767032" y="4916049"/>
            <a:ext cx="1882588" cy="584775"/>
          </a:xfrm>
          <a:prstGeom prst="rect">
            <a:avLst/>
          </a:prstGeom>
          <a:noFill/>
        </p:spPr>
        <p:txBody>
          <a:bodyPr wrap="square">
            <a:spAutoFit/>
          </a:bodyPr>
          <a:lstStyle/>
          <a:p>
            <a:r>
              <a:rPr lang="zh-CN" altLang="en-US" sz="3200" b="1" dirty="0"/>
              <a:t>不确定性</a:t>
            </a:r>
          </a:p>
        </p:txBody>
      </p:sp>
      <p:cxnSp>
        <p:nvCxnSpPr>
          <p:cNvPr id="10" name="连接符: 肘形 9">
            <a:extLst>
              <a:ext uri="{FF2B5EF4-FFF2-40B4-BE49-F238E27FC236}">
                <a16:creationId xmlns:a16="http://schemas.microsoft.com/office/drawing/2014/main" id="{C502CC0D-D061-5A90-0049-84A002A44452}"/>
              </a:ext>
            </a:extLst>
          </p:cNvPr>
          <p:cNvCxnSpPr>
            <a:cxnSpLocks/>
            <a:stCxn id="8" idx="1"/>
          </p:cNvCxnSpPr>
          <p:nvPr/>
        </p:nvCxnSpPr>
        <p:spPr>
          <a:xfrm rot="10800000">
            <a:off x="3129434" y="4203637"/>
            <a:ext cx="1637599" cy="1004801"/>
          </a:xfrm>
          <a:prstGeom prst="bentConnector2">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0C617378-6ADB-7757-07B2-1E5F28B4FFC8}"/>
              </a:ext>
            </a:extLst>
          </p:cNvPr>
          <p:cNvCxnSpPr>
            <a:cxnSpLocks/>
            <a:stCxn id="8" idx="3"/>
          </p:cNvCxnSpPr>
          <p:nvPr/>
        </p:nvCxnSpPr>
        <p:spPr>
          <a:xfrm flipV="1">
            <a:off x="6649620" y="4203636"/>
            <a:ext cx="1824925" cy="1004801"/>
          </a:xfrm>
          <a:prstGeom prst="bentConnector2">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B84343C1-151D-72F6-EA2A-F18302274408}"/>
              </a:ext>
            </a:extLst>
          </p:cNvPr>
          <p:cNvSpPr txBox="1"/>
          <p:nvPr/>
        </p:nvSpPr>
        <p:spPr>
          <a:xfrm>
            <a:off x="3476115" y="4731383"/>
            <a:ext cx="699247" cy="369332"/>
          </a:xfrm>
          <a:prstGeom prst="rect">
            <a:avLst/>
          </a:prstGeom>
          <a:noFill/>
        </p:spPr>
        <p:txBody>
          <a:bodyPr wrap="square">
            <a:spAutoFit/>
          </a:bodyPr>
          <a:lstStyle/>
          <a:p>
            <a:r>
              <a:rPr lang="zh-CN" altLang="en-US" b="1" dirty="0"/>
              <a:t>加剧</a:t>
            </a:r>
          </a:p>
        </p:txBody>
      </p:sp>
      <p:sp>
        <p:nvSpPr>
          <p:cNvPr id="19" name="文本框 18">
            <a:extLst>
              <a:ext uri="{FF2B5EF4-FFF2-40B4-BE49-F238E27FC236}">
                <a16:creationId xmlns:a16="http://schemas.microsoft.com/office/drawing/2014/main" id="{D7590147-1A8F-42D6-9624-17475FA24A9F}"/>
              </a:ext>
            </a:extLst>
          </p:cNvPr>
          <p:cNvSpPr txBox="1"/>
          <p:nvPr/>
        </p:nvSpPr>
        <p:spPr>
          <a:xfrm>
            <a:off x="7416289" y="4731383"/>
            <a:ext cx="699247" cy="369332"/>
          </a:xfrm>
          <a:prstGeom prst="rect">
            <a:avLst/>
          </a:prstGeom>
          <a:noFill/>
        </p:spPr>
        <p:txBody>
          <a:bodyPr wrap="square">
            <a:spAutoFit/>
          </a:bodyPr>
          <a:lstStyle/>
          <a:p>
            <a:r>
              <a:rPr lang="zh-CN" altLang="en-US" b="1" dirty="0"/>
              <a:t>加剧</a:t>
            </a:r>
          </a:p>
        </p:txBody>
      </p:sp>
      <p:sp>
        <p:nvSpPr>
          <p:cNvPr id="20" name="内容占位符 5">
            <a:extLst>
              <a:ext uri="{FF2B5EF4-FFF2-40B4-BE49-F238E27FC236}">
                <a16:creationId xmlns:a16="http://schemas.microsoft.com/office/drawing/2014/main" id="{1D07EF39-1588-75BC-AE4A-1C4D58DDD613}"/>
              </a:ext>
            </a:extLst>
          </p:cNvPr>
          <p:cNvSpPr txBox="1">
            <a:spLocks/>
          </p:cNvSpPr>
          <p:nvPr/>
        </p:nvSpPr>
        <p:spPr>
          <a:xfrm>
            <a:off x="3657770" y="5624686"/>
            <a:ext cx="4101112" cy="10048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t>实物期权效应使管理层延迟投资</a:t>
            </a:r>
            <a:r>
              <a:rPr lang="zh-CN" altLang="en-US" sz="1600" dirty="0"/>
              <a:t>（</a:t>
            </a:r>
            <a:r>
              <a:rPr lang="en-US" altLang="zh-CN" sz="1600" dirty="0"/>
              <a:t>Myers</a:t>
            </a:r>
            <a:r>
              <a:rPr lang="zh-CN" altLang="en-US" sz="1600" dirty="0"/>
              <a:t>，</a:t>
            </a:r>
            <a:r>
              <a:rPr lang="en-US" altLang="zh-CN" sz="1600" dirty="0"/>
              <a:t>1977</a:t>
            </a:r>
            <a:r>
              <a:rPr lang="zh-CN" altLang="en-US" sz="1600" dirty="0"/>
              <a:t>）</a:t>
            </a:r>
            <a:endParaRPr lang="zh-CN" altLang="en-US" sz="2000" dirty="0"/>
          </a:p>
        </p:txBody>
      </p:sp>
    </p:spTree>
    <p:extLst>
      <p:ext uri="{BB962C8B-B14F-4D97-AF65-F5344CB8AC3E}">
        <p14:creationId xmlns:p14="http://schemas.microsoft.com/office/powerpoint/2010/main" val="1855092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63330D-2EC0-152F-7682-3B18CAFD9AA1}"/>
              </a:ext>
            </a:extLst>
          </p:cNvPr>
          <p:cNvSpPr>
            <a:spLocks noGrp="1"/>
          </p:cNvSpPr>
          <p:nvPr>
            <p:ph type="title"/>
          </p:nvPr>
        </p:nvSpPr>
        <p:spPr/>
        <p:txBody>
          <a:bodyPr vert="horz" lIns="91440" tIns="45720" rIns="91440" bIns="45720" rtlCol="0" anchor="ctr">
            <a:normAutofit/>
          </a:bodyPr>
          <a:lstStyle/>
          <a:p>
            <a:r>
              <a:rPr lang="zh-CN" altLang="en-US" sz="2800" dirty="0"/>
              <a:t>人工智能的作用</a:t>
            </a:r>
          </a:p>
        </p:txBody>
      </p:sp>
      <p:sp>
        <p:nvSpPr>
          <p:cNvPr id="3" name="内容占位符 2">
            <a:extLst>
              <a:ext uri="{FF2B5EF4-FFF2-40B4-BE49-F238E27FC236}">
                <a16:creationId xmlns:a16="http://schemas.microsoft.com/office/drawing/2014/main" id="{D9CCB3A9-F5C8-EB16-19EA-4A8279DD7124}"/>
              </a:ext>
            </a:extLst>
          </p:cNvPr>
          <p:cNvSpPr>
            <a:spLocks noGrp="1"/>
          </p:cNvSpPr>
          <p:nvPr>
            <p:ph idx="1"/>
          </p:nvPr>
        </p:nvSpPr>
        <p:spPr>
          <a:xfrm>
            <a:off x="1192763" y="1825625"/>
            <a:ext cx="6225073" cy="4351338"/>
          </a:xfrm>
        </p:spPr>
        <p:txBody>
          <a:bodyPr>
            <a:normAutofit/>
          </a:bodyPr>
          <a:lstStyle/>
          <a:p>
            <a:pPr marL="0" indent="0">
              <a:lnSpc>
                <a:spcPct val="115000"/>
              </a:lnSpc>
              <a:spcBef>
                <a:spcPts val="3000"/>
              </a:spcBef>
              <a:buNone/>
            </a:pPr>
            <a:r>
              <a:rPr lang="zh-CN" altLang="en-US" sz="2000" dirty="0"/>
              <a:t>修正管理层信念偏差（</a:t>
            </a:r>
            <a:r>
              <a:rPr lang="en-US" altLang="zh-CN" sz="2000" dirty="0"/>
              <a:t>Bianchi et al.</a:t>
            </a:r>
            <a:r>
              <a:rPr lang="zh-CN" altLang="en-US" sz="2000" dirty="0"/>
              <a:t>，</a:t>
            </a:r>
            <a:r>
              <a:rPr lang="en-US" altLang="zh-CN" sz="2000" dirty="0"/>
              <a:t>2022</a:t>
            </a:r>
            <a:r>
              <a:rPr lang="zh-CN" altLang="en-US" sz="2000" dirty="0"/>
              <a:t>）</a:t>
            </a:r>
            <a:endParaRPr lang="en-US" altLang="zh-CN" sz="2000" dirty="0"/>
          </a:p>
          <a:p>
            <a:pPr marL="0" indent="0">
              <a:lnSpc>
                <a:spcPct val="115000"/>
              </a:lnSpc>
              <a:spcBef>
                <a:spcPts val="3000"/>
              </a:spcBef>
              <a:buNone/>
            </a:pPr>
            <a:r>
              <a:rPr lang="zh-CN" altLang="en-US" sz="2000" dirty="0"/>
              <a:t>强化员工生产力（</a:t>
            </a:r>
            <a:r>
              <a:rPr lang="en-US" altLang="zh-CN" sz="2000" dirty="0"/>
              <a:t>Brynjolfsson et al.</a:t>
            </a:r>
            <a:r>
              <a:rPr lang="zh-CN" altLang="en-US" sz="2000" dirty="0"/>
              <a:t>，</a:t>
            </a:r>
            <a:r>
              <a:rPr lang="en-US" altLang="zh-CN" sz="2000" dirty="0"/>
              <a:t>2025</a:t>
            </a:r>
            <a:r>
              <a:rPr lang="zh-CN" altLang="en-US" sz="2000" dirty="0"/>
              <a:t>）</a:t>
            </a:r>
            <a:endParaRPr lang="en-US" altLang="zh-CN" sz="2000" dirty="0"/>
          </a:p>
          <a:p>
            <a:pPr marL="0" indent="0">
              <a:lnSpc>
                <a:spcPct val="115000"/>
              </a:lnSpc>
              <a:spcBef>
                <a:spcPts val="3000"/>
              </a:spcBef>
              <a:buNone/>
            </a:pPr>
            <a:r>
              <a:rPr lang="zh-CN" altLang="en-US" sz="2000" dirty="0"/>
              <a:t>提高企业全要素生产率（</a:t>
            </a:r>
            <a:r>
              <a:rPr lang="en-US" altLang="zh-CN" sz="2000" dirty="0"/>
              <a:t>Acemoglu</a:t>
            </a:r>
            <a:r>
              <a:rPr lang="zh-CN" altLang="en-US" sz="2000" dirty="0"/>
              <a:t>，</a:t>
            </a:r>
            <a:r>
              <a:rPr lang="en-US" altLang="zh-CN" sz="2000" dirty="0"/>
              <a:t>2025</a:t>
            </a:r>
            <a:r>
              <a:rPr lang="zh-CN" altLang="en-US" sz="2000" dirty="0"/>
              <a:t>）</a:t>
            </a:r>
            <a:endParaRPr lang="en-US" altLang="zh-CN" sz="2000" dirty="0"/>
          </a:p>
          <a:p>
            <a:pPr marL="0" indent="0">
              <a:lnSpc>
                <a:spcPct val="115000"/>
              </a:lnSpc>
              <a:spcBef>
                <a:spcPts val="3000"/>
              </a:spcBef>
              <a:buNone/>
            </a:pPr>
            <a:r>
              <a:rPr lang="zh-CN" altLang="en-US" sz="2000" dirty="0"/>
              <a:t>提高企业绩效和成长速度（</a:t>
            </a:r>
            <a:r>
              <a:rPr lang="en-US" altLang="zh-CN" sz="2000" dirty="0"/>
              <a:t>Mishra et al.</a:t>
            </a:r>
            <a:r>
              <a:rPr lang="zh-CN" altLang="en-US" sz="2000" dirty="0"/>
              <a:t>，</a:t>
            </a:r>
            <a:r>
              <a:rPr lang="en-US" altLang="zh-CN" sz="2000" dirty="0"/>
              <a:t>2022</a:t>
            </a:r>
            <a:r>
              <a:rPr lang="zh-CN" altLang="en-US" sz="2000" dirty="0"/>
              <a:t>；</a:t>
            </a:r>
            <a:r>
              <a:rPr lang="en-US" altLang="zh-CN" sz="2000" dirty="0"/>
              <a:t>Babina et al.</a:t>
            </a:r>
            <a:r>
              <a:rPr lang="zh-CN" altLang="en-US" sz="2000" dirty="0"/>
              <a:t>，</a:t>
            </a:r>
            <a:r>
              <a:rPr lang="en-US" altLang="zh-CN" sz="2000" dirty="0"/>
              <a:t>2024</a:t>
            </a:r>
            <a:r>
              <a:rPr lang="zh-CN" altLang="en-US" sz="2000" dirty="0"/>
              <a:t>）</a:t>
            </a:r>
            <a:endParaRPr lang="en-US" altLang="zh-CN" sz="2000" dirty="0"/>
          </a:p>
          <a:p>
            <a:pPr marL="0" indent="0">
              <a:lnSpc>
                <a:spcPct val="115000"/>
              </a:lnSpc>
              <a:spcBef>
                <a:spcPts val="3000"/>
              </a:spcBef>
              <a:buNone/>
            </a:pPr>
            <a:r>
              <a:rPr lang="zh-CN" altLang="en-US" sz="2000" dirty="0"/>
              <a:t>减少投资的风险溢价（</a:t>
            </a:r>
            <a:r>
              <a:rPr lang="en-US" altLang="zh-CN" sz="2000" dirty="0" err="1"/>
              <a:t>Vespignani</a:t>
            </a:r>
            <a:r>
              <a:rPr lang="en-US" altLang="zh-CN" sz="2000" dirty="0"/>
              <a:t> and Smyth</a:t>
            </a:r>
            <a:r>
              <a:rPr lang="zh-CN" altLang="en-US" sz="2000" dirty="0"/>
              <a:t>，</a:t>
            </a:r>
            <a:r>
              <a:rPr lang="en-US" altLang="zh-CN" sz="2000" dirty="0"/>
              <a:t>2024</a:t>
            </a:r>
            <a:r>
              <a:rPr lang="zh-CN" altLang="en-US" sz="2000" dirty="0"/>
              <a:t>）</a:t>
            </a:r>
          </a:p>
        </p:txBody>
      </p:sp>
      <p:grpSp>
        <p:nvGrpSpPr>
          <p:cNvPr id="15" name="组合 14">
            <a:extLst>
              <a:ext uri="{FF2B5EF4-FFF2-40B4-BE49-F238E27FC236}">
                <a16:creationId xmlns:a16="http://schemas.microsoft.com/office/drawing/2014/main" id="{87283A55-7DD2-6C71-1B2B-802F5AB6B818}"/>
              </a:ext>
            </a:extLst>
          </p:cNvPr>
          <p:cNvGrpSpPr/>
          <p:nvPr/>
        </p:nvGrpSpPr>
        <p:grpSpPr>
          <a:xfrm>
            <a:off x="8796432" y="2579291"/>
            <a:ext cx="795435" cy="461665"/>
            <a:chOff x="9430915" y="2619184"/>
            <a:chExt cx="795435" cy="461665"/>
          </a:xfrm>
        </p:grpSpPr>
        <p:sp>
          <p:nvSpPr>
            <p:cNvPr id="5" name="文本框 4">
              <a:extLst>
                <a:ext uri="{FF2B5EF4-FFF2-40B4-BE49-F238E27FC236}">
                  <a16:creationId xmlns:a16="http://schemas.microsoft.com/office/drawing/2014/main" id="{04B891DA-F6B3-075A-5BC4-4FFC455AF199}"/>
                </a:ext>
              </a:extLst>
            </p:cNvPr>
            <p:cNvSpPr txBox="1"/>
            <p:nvPr/>
          </p:nvSpPr>
          <p:spPr>
            <a:xfrm>
              <a:off x="9430915" y="2619184"/>
              <a:ext cx="795435" cy="461665"/>
            </a:xfrm>
            <a:prstGeom prst="rect">
              <a:avLst/>
            </a:prstGeom>
            <a:noFill/>
          </p:spPr>
          <p:txBody>
            <a:bodyPr wrap="square">
              <a:spAutoFit/>
            </a:bodyPr>
            <a:lstStyle/>
            <a:p>
              <a:r>
                <a:rPr lang="en-US" altLang="zh-CN" sz="2400" b="1" dirty="0"/>
                <a:t>15</a:t>
              </a:r>
              <a:r>
                <a:rPr lang="en-US" altLang="zh-CN" sz="1800" dirty="0"/>
                <a:t>%</a:t>
              </a:r>
              <a:endParaRPr lang="zh-CN" altLang="en-US" dirty="0"/>
            </a:p>
          </p:txBody>
        </p:sp>
        <p:sp>
          <p:nvSpPr>
            <p:cNvPr id="14" name="等腰三角形 13">
              <a:extLst>
                <a:ext uri="{FF2B5EF4-FFF2-40B4-BE49-F238E27FC236}">
                  <a16:creationId xmlns:a16="http://schemas.microsoft.com/office/drawing/2014/main" id="{91250C50-272D-A389-026B-67A158453C35}"/>
                </a:ext>
              </a:extLst>
            </p:cNvPr>
            <p:cNvSpPr/>
            <p:nvPr/>
          </p:nvSpPr>
          <p:spPr>
            <a:xfrm>
              <a:off x="10114382" y="2671342"/>
              <a:ext cx="65462" cy="5643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a:extLst>
              <a:ext uri="{FF2B5EF4-FFF2-40B4-BE49-F238E27FC236}">
                <a16:creationId xmlns:a16="http://schemas.microsoft.com/office/drawing/2014/main" id="{41E8BC16-5F85-3B67-822A-D1ED0FE04A69}"/>
              </a:ext>
            </a:extLst>
          </p:cNvPr>
          <p:cNvGrpSpPr/>
          <p:nvPr/>
        </p:nvGrpSpPr>
        <p:grpSpPr>
          <a:xfrm>
            <a:off x="8593494" y="3360486"/>
            <a:ext cx="998373" cy="461665"/>
            <a:chOff x="7539135" y="3198167"/>
            <a:chExt cx="998373" cy="461665"/>
          </a:xfrm>
        </p:grpSpPr>
        <p:sp>
          <p:nvSpPr>
            <p:cNvPr id="17" name="文本框 16">
              <a:extLst>
                <a:ext uri="{FF2B5EF4-FFF2-40B4-BE49-F238E27FC236}">
                  <a16:creationId xmlns:a16="http://schemas.microsoft.com/office/drawing/2014/main" id="{3DC8EA8A-13A4-9D35-4C93-A5B1BD436E5F}"/>
                </a:ext>
              </a:extLst>
            </p:cNvPr>
            <p:cNvSpPr txBox="1"/>
            <p:nvPr/>
          </p:nvSpPr>
          <p:spPr>
            <a:xfrm>
              <a:off x="7539135" y="3198167"/>
              <a:ext cx="998373" cy="461665"/>
            </a:xfrm>
            <a:prstGeom prst="rect">
              <a:avLst/>
            </a:prstGeom>
            <a:noFill/>
          </p:spPr>
          <p:txBody>
            <a:bodyPr wrap="square">
              <a:spAutoFit/>
            </a:bodyPr>
            <a:lstStyle/>
            <a:p>
              <a:r>
                <a:rPr lang="en-US" altLang="zh-CN" sz="2400" b="1" dirty="0"/>
                <a:t>0.66</a:t>
              </a:r>
              <a:r>
                <a:rPr lang="en-US" altLang="zh-CN" sz="1800" dirty="0"/>
                <a:t>%</a:t>
              </a:r>
              <a:endParaRPr lang="zh-CN" altLang="en-US" dirty="0"/>
            </a:p>
          </p:txBody>
        </p:sp>
        <p:sp>
          <p:nvSpPr>
            <p:cNvPr id="18" name="等腰三角形 17">
              <a:extLst>
                <a:ext uri="{FF2B5EF4-FFF2-40B4-BE49-F238E27FC236}">
                  <a16:creationId xmlns:a16="http://schemas.microsoft.com/office/drawing/2014/main" id="{4C4BCDF7-57F0-E807-F48A-7804792B0FA8}"/>
                </a:ext>
              </a:extLst>
            </p:cNvPr>
            <p:cNvSpPr/>
            <p:nvPr/>
          </p:nvSpPr>
          <p:spPr>
            <a:xfrm>
              <a:off x="8425540" y="3250325"/>
              <a:ext cx="65462" cy="5643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a:extLst>
              <a:ext uri="{FF2B5EF4-FFF2-40B4-BE49-F238E27FC236}">
                <a16:creationId xmlns:a16="http://schemas.microsoft.com/office/drawing/2014/main" id="{1782B4DA-A0C7-E29B-DC2C-D5E678B37B07}"/>
              </a:ext>
            </a:extLst>
          </p:cNvPr>
          <p:cNvGrpSpPr/>
          <p:nvPr/>
        </p:nvGrpSpPr>
        <p:grpSpPr>
          <a:xfrm>
            <a:off x="8593494" y="4327070"/>
            <a:ext cx="998373" cy="461665"/>
            <a:chOff x="7539135" y="3198167"/>
            <a:chExt cx="998373" cy="461665"/>
          </a:xfrm>
        </p:grpSpPr>
        <p:sp>
          <p:nvSpPr>
            <p:cNvPr id="21" name="文本框 20">
              <a:extLst>
                <a:ext uri="{FF2B5EF4-FFF2-40B4-BE49-F238E27FC236}">
                  <a16:creationId xmlns:a16="http://schemas.microsoft.com/office/drawing/2014/main" id="{FAE33664-1E17-FE3F-EE4A-24668AA32053}"/>
                </a:ext>
              </a:extLst>
            </p:cNvPr>
            <p:cNvSpPr txBox="1"/>
            <p:nvPr/>
          </p:nvSpPr>
          <p:spPr>
            <a:xfrm>
              <a:off x="7539135" y="3198167"/>
              <a:ext cx="998373" cy="461665"/>
            </a:xfrm>
            <a:prstGeom prst="rect">
              <a:avLst/>
            </a:prstGeom>
            <a:noFill/>
          </p:spPr>
          <p:txBody>
            <a:bodyPr wrap="square">
              <a:spAutoFit/>
            </a:bodyPr>
            <a:lstStyle/>
            <a:p>
              <a:r>
                <a:rPr lang="en-US" altLang="zh-CN" sz="2400" b="1" dirty="0"/>
                <a:t>19.5</a:t>
              </a:r>
              <a:r>
                <a:rPr lang="en-US" altLang="zh-CN" sz="1800" dirty="0"/>
                <a:t>%</a:t>
              </a:r>
              <a:endParaRPr lang="zh-CN" altLang="en-US" dirty="0"/>
            </a:p>
          </p:txBody>
        </p:sp>
        <p:sp>
          <p:nvSpPr>
            <p:cNvPr id="22" name="等腰三角形 21">
              <a:extLst>
                <a:ext uri="{FF2B5EF4-FFF2-40B4-BE49-F238E27FC236}">
                  <a16:creationId xmlns:a16="http://schemas.microsoft.com/office/drawing/2014/main" id="{40B10604-8BA3-9B5E-06D2-9EEFAFC15AFE}"/>
                </a:ext>
              </a:extLst>
            </p:cNvPr>
            <p:cNvSpPr/>
            <p:nvPr/>
          </p:nvSpPr>
          <p:spPr>
            <a:xfrm>
              <a:off x="8425540" y="3250325"/>
              <a:ext cx="65462" cy="5643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文本框 23">
            <a:extLst>
              <a:ext uri="{FF2B5EF4-FFF2-40B4-BE49-F238E27FC236}">
                <a16:creationId xmlns:a16="http://schemas.microsoft.com/office/drawing/2014/main" id="{13E85580-40AD-1249-AC91-C990E54180AC}"/>
              </a:ext>
            </a:extLst>
          </p:cNvPr>
          <p:cNvSpPr txBox="1"/>
          <p:nvPr/>
        </p:nvSpPr>
        <p:spPr>
          <a:xfrm>
            <a:off x="8157357" y="1890429"/>
            <a:ext cx="2073584" cy="369332"/>
          </a:xfrm>
          <a:prstGeom prst="rect">
            <a:avLst/>
          </a:prstGeom>
          <a:noFill/>
        </p:spPr>
        <p:txBody>
          <a:bodyPr wrap="square">
            <a:spAutoFit/>
          </a:bodyPr>
          <a:lstStyle/>
          <a:p>
            <a:r>
              <a:rPr lang="zh-CN" altLang="en-US" dirty="0"/>
              <a:t>修正公共信息权重</a:t>
            </a:r>
          </a:p>
        </p:txBody>
      </p:sp>
      <p:sp>
        <p:nvSpPr>
          <p:cNvPr id="26" name="文本框 25">
            <a:extLst>
              <a:ext uri="{FF2B5EF4-FFF2-40B4-BE49-F238E27FC236}">
                <a16:creationId xmlns:a16="http://schemas.microsoft.com/office/drawing/2014/main" id="{09C4816B-0F43-7601-7142-C8C46F24EDBF}"/>
              </a:ext>
            </a:extLst>
          </p:cNvPr>
          <p:cNvSpPr txBox="1"/>
          <p:nvPr/>
        </p:nvSpPr>
        <p:spPr>
          <a:xfrm>
            <a:off x="8291448" y="4966443"/>
            <a:ext cx="1602463" cy="923330"/>
          </a:xfrm>
          <a:prstGeom prst="rect">
            <a:avLst/>
          </a:prstGeom>
          <a:noFill/>
        </p:spPr>
        <p:txBody>
          <a:bodyPr wrap="square">
            <a:spAutoFit/>
          </a:bodyPr>
          <a:lstStyle/>
          <a:p>
            <a:r>
              <a:rPr lang="zh-CN" altLang="en-US" dirty="0"/>
              <a:t>缩短项目周期</a:t>
            </a:r>
            <a:endParaRPr lang="en-US" altLang="zh-CN" dirty="0"/>
          </a:p>
          <a:p>
            <a:r>
              <a:rPr lang="zh-CN" altLang="en-US" dirty="0"/>
              <a:t>降低资本成本</a:t>
            </a:r>
            <a:endParaRPr lang="en-US" altLang="zh-CN" dirty="0"/>
          </a:p>
          <a:p>
            <a:r>
              <a:rPr lang="zh-CN" altLang="en-US" dirty="0"/>
              <a:t>减少技术风险</a:t>
            </a:r>
          </a:p>
        </p:txBody>
      </p:sp>
      <p:cxnSp>
        <p:nvCxnSpPr>
          <p:cNvPr id="6" name="直接连接符 5">
            <a:extLst>
              <a:ext uri="{FF2B5EF4-FFF2-40B4-BE49-F238E27FC236}">
                <a16:creationId xmlns:a16="http://schemas.microsoft.com/office/drawing/2014/main" id="{500FD3FB-6FF2-8EF1-4F3C-E1A5EA3AADB9}"/>
              </a:ext>
            </a:extLst>
          </p:cNvPr>
          <p:cNvCxnSpPr>
            <a:cxnSpLocks/>
          </p:cNvCxnSpPr>
          <p:nvPr/>
        </p:nvCxnSpPr>
        <p:spPr>
          <a:xfrm>
            <a:off x="1539551" y="2369976"/>
            <a:ext cx="7623110" cy="0"/>
          </a:xfrm>
          <a:prstGeom prst="line">
            <a:avLst/>
          </a:prstGeom>
          <a:ln w="19050">
            <a:gradFill flip="none" rotWithShape="1">
              <a:gsLst>
                <a:gs pos="0">
                  <a:schemeClr val="tx1">
                    <a:alpha val="0"/>
                  </a:schemeClr>
                </a:gs>
                <a:gs pos="55000">
                  <a:schemeClr val="tx1"/>
                </a:gs>
                <a:gs pos="100000">
                  <a:schemeClr val="tx1">
                    <a:alpha val="0"/>
                  </a:schemeClr>
                </a:gs>
              </a:gsLst>
              <a:lin ang="10800000" scaled="1"/>
              <a:tileRect/>
            </a:gra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2C3C19E-0574-4276-CD89-6BD549598299}"/>
              </a:ext>
            </a:extLst>
          </p:cNvPr>
          <p:cNvCxnSpPr>
            <a:cxnSpLocks/>
          </p:cNvCxnSpPr>
          <p:nvPr/>
        </p:nvCxnSpPr>
        <p:spPr>
          <a:xfrm>
            <a:off x="1539551" y="3040956"/>
            <a:ext cx="7623110" cy="0"/>
          </a:xfrm>
          <a:prstGeom prst="line">
            <a:avLst/>
          </a:prstGeom>
          <a:ln w="19050">
            <a:gradFill flip="none" rotWithShape="1">
              <a:gsLst>
                <a:gs pos="0">
                  <a:schemeClr val="tx1">
                    <a:alpha val="0"/>
                  </a:schemeClr>
                </a:gs>
                <a:gs pos="55000">
                  <a:schemeClr val="tx1"/>
                </a:gs>
                <a:gs pos="100000">
                  <a:schemeClr val="tx1">
                    <a:alpha val="0"/>
                  </a:schemeClr>
                </a:gs>
              </a:gsLst>
              <a:lin ang="10800000" scaled="1"/>
              <a:tileRect/>
            </a:gra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4840D84-6D90-5DB8-CB5D-8CFFF7AE1F55}"/>
              </a:ext>
            </a:extLst>
          </p:cNvPr>
          <p:cNvCxnSpPr>
            <a:cxnSpLocks/>
          </p:cNvCxnSpPr>
          <p:nvPr/>
        </p:nvCxnSpPr>
        <p:spPr>
          <a:xfrm>
            <a:off x="1539551" y="3822151"/>
            <a:ext cx="7623110" cy="0"/>
          </a:xfrm>
          <a:prstGeom prst="line">
            <a:avLst/>
          </a:prstGeom>
          <a:ln w="19050">
            <a:gradFill flip="none" rotWithShape="1">
              <a:gsLst>
                <a:gs pos="0">
                  <a:schemeClr val="tx1">
                    <a:alpha val="0"/>
                  </a:schemeClr>
                </a:gs>
                <a:gs pos="55000">
                  <a:schemeClr val="tx1"/>
                </a:gs>
                <a:gs pos="100000">
                  <a:schemeClr val="tx1">
                    <a:alpha val="0"/>
                  </a:schemeClr>
                </a:gs>
              </a:gsLst>
              <a:lin ang="10800000" scaled="1"/>
              <a:tileRect/>
            </a:gra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810DBCD-86E3-0B93-B22C-15D4EA471447}"/>
              </a:ext>
            </a:extLst>
          </p:cNvPr>
          <p:cNvCxnSpPr>
            <a:cxnSpLocks/>
          </p:cNvCxnSpPr>
          <p:nvPr/>
        </p:nvCxnSpPr>
        <p:spPr>
          <a:xfrm>
            <a:off x="1539551" y="4839189"/>
            <a:ext cx="7623110" cy="0"/>
          </a:xfrm>
          <a:prstGeom prst="line">
            <a:avLst/>
          </a:prstGeom>
          <a:ln w="19050">
            <a:gradFill flip="none" rotWithShape="1">
              <a:gsLst>
                <a:gs pos="0">
                  <a:schemeClr val="tx1">
                    <a:alpha val="0"/>
                  </a:schemeClr>
                </a:gs>
                <a:gs pos="55000">
                  <a:schemeClr val="tx1"/>
                </a:gs>
                <a:gs pos="100000">
                  <a:schemeClr val="tx1">
                    <a:alpha val="0"/>
                  </a:schemeClr>
                </a:gs>
              </a:gsLst>
              <a:lin ang="10800000" scaled="1"/>
              <a:tileRect/>
            </a:gra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4215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8AA73F-6896-31D1-449E-91657CF10E4A}"/>
              </a:ext>
            </a:extLst>
          </p:cNvPr>
          <p:cNvSpPr>
            <a:spLocks noGrp="1"/>
          </p:cNvSpPr>
          <p:nvPr>
            <p:ph type="title"/>
          </p:nvPr>
        </p:nvSpPr>
        <p:spPr/>
        <p:txBody>
          <a:bodyPr vert="horz" lIns="91440" tIns="45720" rIns="91440" bIns="45720" rtlCol="0" anchor="ctr">
            <a:normAutofit/>
          </a:bodyPr>
          <a:lstStyle/>
          <a:p>
            <a:r>
              <a:rPr lang="zh-CN" altLang="en-US" sz="2800" dirty="0"/>
              <a:t>人工智能两大经济特性</a:t>
            </a:r>
          </a:p>
        </p:txBody>
      </p:sp>
      <p:sp>
        <p:nvSpPr>
          <p:cNvPr id="3" name="内容占位符 2">
            <a:extLst>
              <a:ext uri="{FF2B5EF4-FFF2-40B4-BE49-F238E27FC236}">
                <a16:creationId xmlns:a16="http://schemas.microsoft.com/office/drawing/2014/main" id="{2A66887E-3BEA-A194-276F-979CEA26F9A0}"/>
              </a:ext>
            </a:extLst>
          </p:cNvPr>
          <p:cNvSpPr>
            <a:spLocks noGrp="1"/>
          </p:cNvSpPr>
          <p:nvPr>
            <p:ph sz="half" idx="1"/>
          </p:nvPr>
        </p:nvSpPr>
        <p:spPr/>
        <p:txBody>
          <a:bodyPr>
            <a:normAutofit/>
          </a:bodyPr>
          <a:lstStyle/>
          <a:p>
            <a:pPr marL="0" indent="0">
              <a:lnSpc>
                <a:spcPct val="130000"/>
              </a:lnSpc>
              <a:spcBef>
                <a:spcPts val="1200"/>
              </a:spcBef>
              <a:buNone/>
            </a:pPr>
            <a:r>
              <a:rPr lang="zh-CN" altLang="en-US" sz="2400" dirty="0"/>
              <a:t>精准预测</a:t>
            </a:r>
            <a:endParaRPr lang="en-US" altLang="zh-CN" sz="2400" dirty="0"/>
          </a:p>
          <a:p>
            <a:pPr>
              <a:lnSpc>
                <a:spcPct val="130000"/>
              </a:lnSpc>
              <a:spcBef>
                <a:spcPts val="1200"/>
              </a:spcBef>
            </a:pPr>
            <a:r>
              <a:rPr lang="zh-CN" altLang="en-US" sz="2000" dirty="0"/>
              <a:t>通过科学算法在现有信息集的基础上预测，尽可能穷尽未来发生的可能性（杨虎涛和胡乐明，</a:t>
            </a:r>
            <a:r>
              <a:rPr lang="en-US" altLang="zh-CN" sz="2000" dirty="0"/>
              <a:t>2023</a:t>
            </a:r>
            <a:r>
              <a:rPr lang="zh-CN" altLang="en-US" sz="2000" dirty="0"/>
              <a:t>）</a:t>
            </a:r>
            <a:endParaRPr lang="zh-CN" altLang="en-US" sz="2400" dirty="0"/>
          </a:p>
        </p:txBody>
      </p:sp>
      <p:sp>
        <p:nvSpPr>
          <p:cNvPr id="4" name="内容占位符 3">
            <a:extLst>
              <a:ext uri="{FF2B5EF4-FFF2-40B4-BE49-F238E27FC236}">
                <a16:creationId xmlns:a16="http://schemas.microsoft.com/office/drawing/2014/main" id="{F30EE764-2243-727A-73E8-92AAA2FC5129}"/>
              </a:ext>
            </a:extLst>
          </p:cNvPr>
          <p:cNvSpPr>
            <a:spLocks noGrp="1"/>
          </p:cNvSpPr>
          <p:nvPr>
            <p:ph sz="half" idx="2"/>
          </p:nvPr>
        </p:nvSpPr>
        <p:spPr/>
        <p:txBody>
          <a:bodyPr>
            <a:normAutofit/>
          </a:bodyPr>
          <a:lstStyle/>
          <a:p>
            <a:pPr marL="0" indent="0">
              <a:lnSpc>
                <a:spcPct val="130000"/>
              </a:lnSpc>
              <a:spcBef>
                <a:spcPts val="1200"/>
              </a:spcBef>
              <a:buNone/>
            </a:pPr>
            <a:r>
              <a:rPr lang="zh-CN" altLang="en-US" sz="2400" dirty="0"/>
              <a:t>极限理性</a:t>
            </a:r>
            <a:endParaRPr lang="en-US" altLang="zh-CN" sz="2400" dirty="0"/>
          </a:p>
          <a:p>
            <a:pPr>
              <a:lnSpc>
                <a:spcPct val="130000"/>
              </a:lnSpc>
              <a:spcBef>
                <a:spcPts val="1200"/>
              </a:spcBef>
            </a:pPr>
            <a:r>
              <a:rPr lang="zh-CN" altLang="en-US" sz="2000" dirty="0"/>
              <a:t>以</a:t>
            </a:r>
            <a:r>
              <a:rPr lang="zh-CN" altLang="en-US" sz="2000" b="1" dirty="0"/>
              <a:t>完全客观</a:t>
            </a:r>
            <a:r>
              <a:rPr lang="zh-CN" altLang="en-US" sz="2000" dirty="0"/>
              <a:t>的视角执行大规模计算，突破决策者主观视角的有限理性约束，实现极限理 性并给出最优决策（徐鹏和徐向艺，</a:t>
            </a:r>
            <a:r>
              <a:rPr lang="en-US" altLang="zh-CN" sz="2000" dirty="0"/>
              <a:t>2020</a:t>
            </a:r>
            <a:r>
              <a:rPr lang="zh-CN" altLang="en-US" sz="2000" dirty="0"/>
              <a:t>；</a:t>
            </a:r>
            <a:r>
              <a:rPr lang="en-US" altLang="zh-CN" sz="2000" dirty="0"/>
              <a:t>Bianchi et al.</a:t>
            </a:r>
            <a:r>
              <a:rPr lang="zh-CN" altLang="en-US" sz="2000" dirty="0"/>
              <a:t>，</a:t>
            </a:r>
            <a:r>
              <a:rPr lang="en-US" altLang="zh-CN" sz="2000" dirty="0"/>
              <a:t>2022</a:t>
            </a:r>
            <a:r>
              <a:rPr lang="zh-CN" altLang="en-US" sz="2000" dirty="0"/>
              <a:t>）</a:t>
            </a:r>
          </a:p>
        </p:txBody>
      </p:sp>
      <p:cxnSp>
        <p:nvCxnSpPr>
          <p:cNvPr id="6" name="连接符: 肘形 5">
            <a:extLst>
              <a:ext uri="{FF2B5EF4-FFF2-40B4-BE49-F238E27FC236}">
                <a16:creationId xmlns:a16="http://schemas.microsoft.com/office/drawing/2014/main" id="{659E9C84-5917-E45A-A358-5C92CF93A446}"/>
              </a:ext>
            </a:extLst>
          </p:cNvPr>
          <p:cNvCxnSpPr/>
          <p:nvPr/>
        </p:nvCxnSpPr>
        <p:spPr>
          <a:xfrm rot="16200000" flipH="1">
            <a:off x="2729204" y="4455368"/>
            <a:ext cx="1707502" cy="1567543"/>
          </a:xfrm>
          <a:prstGeom prst="bentConnector3">
            <a:avLst/>
          </a:prstGeom>
          <a:ln w="1905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15" name="连接符: 肘形 14">
            <a:extLst>
              <a:ext uri="{FF2B5EF4-FFF2-40B4-BE49-F238E27FC236}">
                <a16:creationId xmlns:a16="http://schemas.microsoft.com/office/drawing/2014/main" id="{3D80D7D7-450D-F902-C3A9-4C91CF23280E}"/>
              </a:ext>
            </a:extLst>
          </p:cNvPr>
          <p:cNvCxnSpPr>
            <a:cxnSpLocks/>
          </p:cNvCxnSpPr>
          <p:nvPr/>
        </p:nvCxnSpPr>
        <p:spPr>
          <a:xfrm rot="5400000">
            <a:off x="6704045" y="4455369"/>
            <a:ext cx="1707502" cy="1567543"/>
          </a:xfrm>
          <a:prstGeom prst="bentConnector3">
            <a:avLst/>
          </a:prstGeom>
          <a:ln w="1905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85BE9117-078E-8C74-8E0C-9D50EF629DE2}"/>
              </a:ext>
            </a:extLst>
          </p:cNvPr>
          <p:cNvSpPr txBox="1"/>
          <p:nvPr/>
        </p:nvSpPr>
        <p:spPr>
          <a:xfrm>
            <a:off x="4149936" y="6262042"/>
            <a:ext cx="2987984" cy="461665"/>
          </a:xfrm>
          <a:prstGeom prst="rect">
            <a:avLst/>
          </a:prstGeom>
          <a:noFill/>
        </p:spPr>
        <p:txBody>
          <a:bodyPr wrap="square">
            <a:spAutoFit/>
          </a:bodyPr>
          <a:lstStyle/>
          <a:p>
            <a:r>
              <a:rPr lang="zh-CN" altLang="en-US" sz="2400" dirty="0"/>
              <a:t>融入企业决策体系中</a:t>
            </a:r>
          </a:p>
        </p:txBody>
      </p:sp>
    </p:spTree>
    <p:extLst>
      <p:ext uri="{BB962C8B-B14F-4D97-AF65-F5344CB8AC3E}">
        <p14:creationId xmlns:p14="http://schemas.microsoft.com/office/powerpoint/2010/main" val="3214481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9A7634-4479-A1FD-B6AF-78D108256193}"/>
              </a:ext>
            </a:extLst>
          </p:cNvPr>
          <p:cNvSpPr>
            <a:spLocks noGrp="1"/>
          </p:cNvSpPr>
          <p:nvPr>
            <p:ph type="title"/>
          </p:nvPr>
        </p:nvSpPr>
        <p:spPr/>
        <p:txBody>
          <a:bodyPr vert="horz" lIns="91440" tIns="45720" rIns="91440" bIns="45720" rtlCol="0" anchor="ctr">
            <a:normAutofit/>
          </a:bodyPr>
          <a:lstStyle/>
          <a:p>
            <a:r>
              <a:rPr lang="zh-CN" altLang="en-US" sz="2800" dirty="0"/>
              <a:t>人工智能与投资效率</a:t>
            </a:r>
          </a:p>
        </p:txBody>
      </p:sp>
      <p:sp>
        <p:nvSpPr>
          <p:cNvPr id="4" name="内容占位符 3">
            <a:extLst>
              <a:ext uri="{FF2B5EF4-FFF2-40B4-BE49-F238E27FC236}">
                <a16:creationId xmlns:a16="http://schemas.microsoft.com/office/drawing/2014/main" id="{80FEE65C-8AD6-D55D-46E5-B6B46451BD53}"/>
              </a:ext>
            </a:extLst>
          </p:cNvPr>
          <p:cNvSpPr>
            <a:spLocks noGrp="1"/>
          </p:cNvSpPr>
          <p:nvPr>
            <p:ph idx="1"/>
          </p:nvPr>
        </p:nvSpPr>
        <p:spPr>
          <a:xfrm>
            <a:off x="838200" y="1825624"/>
            <a:ext cx="10515600" cy="5032375"/>
          </a:xfrm>
        </p:spPr>
        <p:txBody>
          <a:bodyPr>
            <a:noAutofit/>
          </a:bodyPr>
          <a:lstStyle/>
          <a:p>
            <a:pPr marL="0" indent="0">
              <a:lnSpc>
                <a:spcPct val="100000"/>
              </a:lnSpc>
              <a:spcBef>
                <a:spcPts val="600"/>
              </a:spcBef>
              <a:buNone/>
            </a:pPr>
            <a:r>
              <a:rPr lang="zh-CN" altLang="en-US" sz="2400" dirty="0"/>
              <a:t>精准预测有助于企业</a:t>
            </a:r>
            <a:r>
              <a:rPr lang="zh-CN" altLang="en-US" sz="2400" b="1" dirty="0"/>
              <a:t>准确分析外部环境</a:t>
            </a:r>
            <a:r>
              <a:rPr lang="zh-CN" altLang="en-US" sz="2400" dirty="0"/>
              <a:t>，为管理层决策提供最优信息基础。</a:t>
            </a:r>
            <a:endParaRPr lang="en-US" altLang="zh-CN" sz="2400" dirty="0"/>
          </a:p>
          <a:p>
            <a:pPr lvl="1">
              <a:lnSpc>
                <a:spcPct val="100000"/>
              </a:lnSpc>
              <a:spcBef>
                <a:spcPts val="600"/>
              </a:spcBef>
            </a:pPr>
            <a:r>
              <a:rPr lang="zh-CN" altLang="en-US" sz="2000" dirty="0"/>
              <a:t>提取有效信息</a:t>
            </a:r>
            <a:endParaRPr lang="en-US" altLang="zh-CN" sz="2000" dirty="0"/>
          </a:p>
          <a:p>
            <a:pPr lvl="1">
              <a:lnSpc>
                <a:spcPct val="100000"/>
              </a:lnSpc>
              <a:spcBef>
                <a:spcPts val="600"/>
              </a:spcBef>
            </a:pPr>
            <a:r>
              <a:rPr lang="zh-CN" altLang="en-US" sz="2000" dirty="0"/>
              <a:t>实时追踪热点</a:t>
            </a:r>
            <a:endParaRPr lang="en-US" altLang="zh-CN" sz="2000" dirty="0"/>
          </a:p>
          <a:p>
            <a:pPr lvl="1">
              <a:lnSpc>
                <a:spcPct val="100000"/>
              </a:lnSpc>
              <a:spcBef>
                <a:spcPts val="600"/>
              </a:spcBef>
            </a:pPr>
            <a:r>
              <a:rPr lang="zh-CN" altLang="en-US" sz="2000" dirty="0"/>
              <a:t>提前布局未来产业</a:t>
            </a:r>
            <a:endParaRPr lang="en-US" altLang="zh-CN" sz="2000" dirty="0"/>
          </a:p>
          <a:p>
            <a:pPr marL="0" indent="0">
              <a:lnSpc>
                <a:spcPct val="100000"/>
              </a:lnSpc>
              <a:spcBef>
                <a:spcPts val="600"/>
              </a:spcBef>
              <a:buNone/>
            </a:pPr>
            <a:r>
              <a:rPr lang="zh-CN" altLang="en-US" sz="2400" dirty="0"/>
              <a:t>极限理性有助于企业</a:t>
            </a:r>
            <a:r>
              <a:rPr lang="zh-CN" altLang="en-US" sz="2400" b="1" dirty="0"/>
              <a:t>优化内部决策机制</a:t>
            </a:r>
            <a:r>
              <a:rPr lang="zh-CN" altLang="en-US" sz="2400" dirty="0"/>
              <a:t>，辅助管理层实现最优决策。</a:t>
            </a:r>
            <a:endParaRPr lang="en-US" altLang="zh-CN" sz="2400" dirty="0"/>
          </a:p>
          <a:p>
            <a:pPr lvl="1">
              <a:lnSpc>
                <a:spcPct val="100000"/>
              </a:lnSpc>
              <a:spcBef>
                <a:spcPts val="600"/>
              </a:spcBef>
            </a:pPr>
            <a:r>
              <a:rPr lang="zh-CN" altLang="en-US" sz="2000" dirty="0"/>
              <a:t>突破有限理性约束</a:t>
            </a:r>
            <a:endParaRPr lang="en-US" altLang="zh-CN" sz="2000" dirty="0"/>
          </a:p>
          <a:p>
            <a:pPr lvl="1">
              <a:lnSpc>
                <a:spcPct val="100000"/>
              </a:lnSpc>
              <a:spcBef>
                <a:spcPts val="600"/>
              </a:spcBef>
            </a:pPr>
            <a:r>
              <a:rPr lang="zh-CN" altLang="en-US" sz="2000" dirty="0"/>
              <a:t>减少系统性偏误</a:t>
            </a:r>
            <a:endParaRPr lang="en-US" altLang="zh-CN" sz="2000" dirty="0"/>
          </a:p>
          <a:p>
            <a:pPr lvl="1">
              <a:lnSpc>
                <a:spcPct val="100000"/>
              </a:lnSpc>
              <a:spcBef>
                <a:spcPts val="600"/>
              </a:spcBef>
            </a:pPr>
            <a:r>
              <a:rPr lang="zh-CN" altLang="en-US" sz="2000" dirty="0"/>
              <a:t>降低经验判断权重</a:t>
            </a:r>
            <a:endParaRPr lang="en-US" altLang="zh-CN" sz="2000" dirty="0"/>
          </a:p>
          <a:p>
            <a:pPr marL="457200" lvl="1" indent="0">
              <a:lnSpc>
                <a:spcPct val="100000"/>
              </a:lnSpc>
              <a:spcBef>
                <a:spcPts val="600"/>
              </a:spcBef>
              <a:buNone/>
            </a:pPr>
            <a:endParaRPr lang="en-US" altLang="zh-CN" sz="2000" dirty="0"/>
          </a:p>
          <a:p>
            <a:pPr marL="0" lvl="1" indent="0">
              <a:lnSpc>
                <a:spcPct val="100000"/>
              </a:lnSpc>
              <a:spcBef>
                <a:spcPts val="600"/>
              </a:spcBef>
              <a:buNone/>
            </a:pPr>
            <a:r>
              <a:rPr lang="zh-CN" altLang="en-US" dirty="0"/>
              <a:t>人工智能作为一种决策辅助技术降低了信息不对称与非理性决策对投资的干扰，有效提升投资效率。</a:t>
            </a:r>
            <a:endParaRPr lang="en-US" altLang="zh-CN" dirty="0"/>
          </a:p>
        </p:txBody>
      </p:sp>
    </p:spTree>
    <p:extLst>
      <p:ext uri="{BB962C8B-B14F-4D97-AF65-F5344CB8AC3E}">
        <p14:creationId xmlns:p14="http://schemas.microsoft.com/office/powerpoint/2010/main" val="844313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06BE3D-EC2B-C782-C194-AD8B1FB96BEB}"/>
              </a:ext>
            </a:extLst>
          </p:cNvPr>
          <p:cNvSpPr>
            <a:spLocks noGrp="1"/>
          </p:cNvSpPr>
          <p:nvPr>
            <p:ph type="title"/>
          </p:nvPr>
        </p:nvSpPr>
        <p:spPr/>
        <p:txBody>
          <a:bodyPr vert="horz" lIns="91440" tIns="45720" rIns="91440" bIns="45720" rtlCol="0" anchor="ctr">
            <a:normAutofit/>
          </a:bodyPr>
          <a:lstStyle/>
          <a:p>
            <a:r>
              <a:rPr lang="zh-CN" altLang="en-US" sz="2800" dirty="0"/>
              <a:t>人工智能技术对企业投资效率作用路径</a:t>
            </a:r>
          </a:p>
        </p:txBody>
      </p:sp>
      <p:sp>
        <p:nvSpPr>
          <p:cNvPr id="3" name="内容占位符 2">
            <a:extLst>
              <a:ext uri="{FF2B5EF4-FFF2-40B4-BE49-F238E27FC236}">
                <a16:creationId xmlns:a16="http://schemas.microsoft.com/office/drawing/2014/main" id="{0BEC963D-E66F-5C16-8DE3-64D02507A37E}"/>
              </a:ext>
            </a:extLst>
          </p:cNvPr>
          <p:cNvSpPr>
            <a:spLocks noGrp="1"/>
          </p:cNvSpPr>
          <p:nvPr>
            <p:ph sz="quarter" idx="10"/>
          </p:nvPr>
        </p:nvSpPr>
        <p:spPr>
          <a:xfrm>
            <a:off x="838200" y="2097088"/>
            <a:ext cx="3491204" cy="1467206"/>
          </a:xfrm>
        </p:spPr>
        <p:txBody>
          <a:bodyPr>
            <a:normAutofit/>
          </a:bodyPr>
          <a:lstStyle/>
          <a:p>
            <a:pPr marL="0" indent="0">
              <a:buNone/>
            </a:pPr>
            <a:r>
              <a:rPr lang="zh-CN" altLang="en-US" sz="2400" dirty="0"/>
              <a:t>环境不确定性</a:t>
            </a:r>
            <a:endParaRPr lang="en-US" altLang="zh-CN" sz="2400" dirty="0"/>
          </a:p>
          <a:p>
            <a:pPr lvl="1"/>
            <a:r>
              <a:rPr lang="zh-CN" altLang="en-US" sz="2000" dirty="0"/>
              <a:t>信息的私有化和碎片化特征会弱化企业决策</a:t>
            </a:r>
            <a:endParaRPr lang="zh-CN" altLang="en-US" sz="1600" dirty="0"/>
          </a:p>
        </p:txBody>
      </p:sp>
      <p:sp>
        <p:nvSpPr>
          <p:cNvPr id="4" name="内容占位符 3">
            <a:extLst>
              <a:ext uri="{FF2B5EF4-FFF2-40B4-BE49-F238E27FC236}">
                <a16:creationId xmlns:a16="http://schemas.microsoft.com/office/drawing/2014/main" id="{C47D7356-FF0E-E767-7469-6BEB96FE0204}"/>
              </a:ext>
            </a:extLst>
          </p:cNvPr>
          <p:cNvSpPr>
            <a:spLocks noGrp="1"/>
          </p:cNvSpPr>
          <p:nvPr>
            <p:ph sz="quarter" idx="11"/>
          </p:nvPr>
        </p:nvSpPr>
        <p:spPr>
          <a:xfrm>
            <a:off x="4675838" y="2097088"/>
            <a:ext cx="3491204" cy="1325563"/>
          </a:xfrm>
        </p:spPr>
        <p:txBody>
          <a:bodyPr>
            <a:normAutofit/>
          </a:bodyPr>
          <a:lstStyle/>
          <a:p>
            <a:pPr marL="0" indent="0">
              <a:buNone/>
            </a:pPr>
            <a:r>
              <a:rPr lang="zh-CN" altLang="en-US" sz="2400" dirty="0"/>
              <a:t>政治不确定性</a:t>
            </a:r>
            <a:endParaRPr lang="en-US" altLang="zh-CN" sz="2400" dirty="0"/>
          </a:p>
          <a:p>
            <a:pPr lvl="1"/>
            <a:r>
              <a:rPr lang="zh-CN" altLang="en-US" sz="2000" dirty="0"/>
              <a:t>官员更替影响产业发展前景</a:t>
            </a:r>
          </a:p>
        </p:txBody>
      </p:sp>
      <p:sp>
        <p:nvSpPr>
          <p:cNvPr id="5" name="内容占位符 4">
            <a:extLst>
              <a:ext uri="{FF2B5EF4-FFF2-40B4-BE49-F238E27FC236}">
                <a16:creationId xmlns:a16="http://schemas.microsoft.com/office/drawing/2014/main" id="{862622B8-A231-58E7-786B-4D85BF48B09F}"/>
              </a:ext>
            </a:extLst>
          </p:cNvPr>
          <p:cNvSpPr>
            <a:spLocks noGrp="1"/>
          </p:cNvSpPr>
          <p:nvPr>
            <p:ph sz="quarter" idx="12"/>
          </p:nvPr>
        </p:nvSpPr>
        <p:spPr>
          <a:xfrm>
            <a:off x="8167042" y="2097089"/>
            <a:ext cx="3491204" cy="1467205"/>
          </a:xfrm>
        </p:spPr>
        <p:txBody>
          <a:bodyPr>
            <a:normAutofit/>
          </a:bodyPr>
          <a:lstStyle/>
          <a:p>
            <a:pPr marL="0" indent="0">
              <a:buNone/>
            </a:pPr>
            <a:r>
              <a:rPr lang="zh-CN" altLang="en-US" sz="2400" dirty="0"/>
              <a:t>政策不确定性</a:t>
            </a:r>
            <a:endParaRPr lang="en-US" altLang="zh-CN" sz="2400" dirty="0"/>
          </a:p>
          <a:p>
            <a:pPr lvl="1"/>
            <a:r>
              <a:rPr lang="zh-CN" altLang="en-US" sz="2000" dirty="0"/>
              <a:t>频繁的政策调整使企业无法形成市场预期</a:t>
            </a:r>
          </a:p>
        </p:txBody>
      </p:sp>
      <p:sp>
        <p:nvSpPr>
          <p:cNvPr id="6" name="内容占位符 2">
            <a:extLst>
              <a:ext uri="{FF2B5EF4-FFF2-40B4-BE49-F238E27FC236}">
                <a16:creationId xmlns:a16="http://schemas.microsoft.com/office/drawing/2014/main" id="{AE5DF53C-D81E-3F53-0397-95E12C9737DA}"/>
              </a:ext>
            </a:extLst>
          </p:cNvPr>
          <p:cNvSpPr txBox="1">
            <a:spLocks/>
          </p:cNvSpPr>
          <p:nvPr/>
        </p:nvSpPr>
        <p:spPr>
          <a:xfrm>
            <a:off x="1416698" y="4959302"/>
            <a:ext cx="2334208" cy="6857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Font typeface="Arial" panose="020B0604020202020204" pitchFamily="34" charset="0"/>
              <a:buNone/>
            </a:pPr>
            <a:r>
              <a:rPr lang="zh-CN" altLang="en-US" sz="2000" dirty="0"/>
              <a:t>整合公开数据和私有数据进行分析</a:t>
            </a:r>
          </a:p>
        </p:txBody>
      </p:sp>
      <p:sp>
        <p:nvSpPr>
          <p:cNvPr id="7" name="内容占位符 2">
            <a:extLst>
              <a:ext uri="{FF2B5EF4-FFF2-40B4-BE49-F238E27FC236}">
                <a16:creationId xmlns:a16="http://schemas.microsoft.com/office/drawing/2014/main" id="{082B543D-05B0-B66A-6D7B-927F38E90C62}"/>
              </a:ext>
            </a:extLst>
          </p:cNvPr>
          <p:cNvSpPr txBox="1">
            <a:spLocks/>
          </p:cNvSpPr>
          <p:nvPr/>
        </p:nvSpPr>
        <p:spPr>
          <a:xfrm>
            <a:off x="5084229" y="6144889"/>
            <a:ext cx="2023542" cy="4874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2400" dirty="0"/>
              <a:t>人工智能技术</a:t>
            </a:r>
            <a:endParaRPr lang="zh-CN" altLang="en-US" sz="1600" dirty="0"/>
          </a:p>
        </p:txBody>
      </p:sp>
      <p:cxnSp>
        <p:nvCxnSpPr>
          <p:cNvPr id="9" name="连接符: 肘形 8">
            <a:extLst>
              <a:ext uri="{FF2B5EF4-FFF2-40B4-BE49-F238E27FC236}">
                <a16:creationId xmlns:a16="http://schemas.microsoft.com/office/drawing/2014/main" id="{1E010CD5-4542-7AC7-AB3D-C55EF8FA3FD1}"/>
              </a:ext>
            </a:extLst>
          </p:cNvPr>
          <p:cNvCxnSpPr>
            <a:cxnSpLocks/>
            <a:stCxn id="7" idx="0"/>
            <a:endCxn id="3" idx="2"/>
          </p:cNvCxnSpPr>
          <p:nvPr/>
        </p:nvCxnSpPr>
        <p:spPr>
          <a:xfrm rot="16200000" flipV="1">
            <a:off x="3049604" y="3098493"/>
            <a:ext cx="2580595" cy="3512198"/>
          </a:xfrm>
          <a:prstGeom prst="bentConnector3">
            <a:avLst>
              <a:gd name="adj1" fmla="val 50000"/>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7" name="连接符: 肘形 16">
            <a:extLst>
              <a:ext uri="{FF2B5EF4-FFF2-40B4-BE49-F238E27FC236}">
                <a16:creationId xmlns:a16="http://schemas.microsoft.com/office/drawing/2014/main" id="{618ABDE8-88CF-207F-A8C4-231A97B240E0}"/>
              </a:ext>
            </a:extLst>
          </p:cNvPr>
          <p:cNvCxnSpPr>
            <a:cxnSpLocks/>
            <a:stCxn id="7" idx="0"/>
            <a:endCxn id="5" idx="2"/>
          </p:cNvCxnSpPr>
          <p:nvPr/>
        </p:nvCxnSpPr>
        <p:spPr>
          <a:xfrm rot="5400000" flipH="1" flipV="1">
            <a:off x="6714025" y="2946270"/>
            <a:ext cx="2580595" cy="3816644"/>
          </a:xfrm>
          <a:prstGeom prst="bentConnector3">
            <a:avLst>
              <a:gd name="adj1" fmla="val 50000"/>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6" name="内容占位符 2">
            <a:extLst>
              <a:ext uri="{FF2B5EF4-FFF2-40B4-BE49-F238E27FC236}">
                <a16:creationId xmlns:a16="http://schemas.microsoft.com/office/drawing/2014/main" id="{4347EAF6-9DCD-8280-D8DE-7CFDC54121AA}"/>
              </a:ext>
            </a:extLst>
          </p:cNvPr>
          <p:cNvSpPr txBox="1">
            <a:spLocks/>
          </p:cNvSpPr>
          <p:nvPr/>
        </p:nvSpPr>
        <p:spPr>
          <a:xfrm>
            <a:off x="5215426" y="4056905"/>
            <a:ext cx="1761151" cy="6857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Font typeface="Arial" panose="020B0604020202020204" pitchFamily="34" charset="0"/>
              <a:buNone/>
            </a:pPr>
            <a:r>
              <a:rPr lang="zh-CN" altLang="en-US" sz="2000" dirty="0"/>
              <a:t>识别上任官员产业规划倾向</a:t>
            </a:r>
          </a:p>
        </p:txBody>
      </p:sp>
      <p:cxnSp>
        <p:nvCxnSpPr>
          <p:cNvPr id="28" name="直接箭头连接符 27">
            <a:extLst>
              <a:ext uri="{FF2B5EF4-FFF2-40B4-BE49-F238E27FC236}">
                <a16:creationId xmlns:a16="http://schemas.microsoft.com/office/drawing/2014/main" id="{2F058E87-5D74-518D-157F-3BF6AE91436B}"/>
              </a:ext>
            </a:extLst>
          </p:cNvPr>
          <p:cNvCxnSpPr>
            <a:stCxn id="7" idx="0"/>
          </p:cNvCxnSpPr>
          <p:nvPr/>
        </p:nvCxnSpPr>
        <p:spPr>
          <a:xfrm flipV="1">
            <a:off x="6096000" y="3340359"/>
            <a:ext cx="0" cy="280453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9" name="内容占位符 2">
            <a:extLst>
              <a:ext uri="{FF2B5EF4-FFF2-40B4-BE49-F238E27FC236}">
                <a16:creationId xmlns:a16="http://schemas.microsoft.com/office/drawing/2014/main" id="{A427249C-0C34-098C-B440-DF2CB181910D}"/>
              </a:ext>
            </a:extLst>
          </p:cNvPr>
          <p:cNvSpPr txBox="1">
            <a:spLocks/>
          </p:cNvSpPr>
          <p:nvPr/>
        </p:nvSpPr>
        <p:spPr>
          <a:xfrm>
            <a:off x="8676359" y="4959302"/>
            <a:ext cx="2472573" cy="6857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sz="2000" dirty="0"/>
              <a:t>针对政策变化制定科学的投资组合方案</a:t>
            </a:r>
          </a:p>
        </p:txBody>
      </p:sp>
    </p:spTree>
    <p:extLst>
      <p:ext uri="{BB962C8B-B14F-4D97-AF65-F5344CB8AC3E}">
        <p14:creationId xmlns:p14="http://schemas.microsoft.com/office/powerpoint/2010/main" val="832391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2632C5-6BE0-E2B5-6BE9-D228FD21E0D6}"/>
              </a:ext>
            </a:extLst>
          </p:cNvPr>
          <p:cNvSpPr>
            <a:spLocks noGrp="1"/>
          </p:cNvSpPr>
          <p:nvPr>
            <p:ph type="title"/>
          </p:nvPr>
        </p:nvSpPr>
        <p:spPr/>
        <p:txBody>
          <a:bodyPr vert="horz" lIns="91440" tIns="45720" rIns="91440" bIns="45720" rtlCol="0" anchor="ctr">
            <a:normAutofit/>
          </a:bodyPr>
          <a:lstStyle/>
          <a:p>
            <a:r>
              <a:rPr lang="zh-CN" altLang="zh-CN" sz="2800" dirty="0"/>
              <a:t>人工智能影响企业投资效率的理论框架</a:t>
            </a:r>
            <a:endParaRPr lang="zh-CN" altLang="en-US" sz="2800" dirty="0"/>
          </a:p>
        </p:txBody>
      </p:sp>
      <p:pic>
        <p:nvPicPr>
          <p:cNvPr id="5" name="内容占位符 4">
            <a:extLst>
              <a:ext uri="{FF2B5EF4-FFF2-40B4-BE49-F238E27FC236}">
                <a16:creationId xmlns:a16="http://schemas.microsoft.com/office/drawing/2014/main" id="{EC60D3F4-651C-4826-A796-E33FA6E061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7671" y="2255157"/>
            <a:ext cx="6436658" cy="3384696"/>
          </a:xfrm>
        </p:spPr>
      </p:pic>
    </p:spTree>
    <p:extLst>
      <p:ext uri="{BB962C8B-B14F-4D97-AF65-F5344CB8AC3E}">
        <p14:creationId xmlns:p14="http://schemas.microsoft.com/office/powerpoint/2010/main" val="2672018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16F0C-01E2-54AB-A2A1-67C1EDFE24A6}"/>
              </a:ext>
            </a:extLst>
          </p:cNvPr>
          <p:cNvSpPr>
            <a:spLocks noGrp="1"/>
          </p:cNvSpPr>
          <p:nvPr>
            <p:ph type="title"/>
          </p:nvPr>
        </p:nvSpPr>
        <p:spPr/>
        <p:txBody>
          <a:bodyPr vert="horz" lIns="91440" tIns="45720" rIns="91440" bIns="45720" rtlCol="0" anchor="ctr">
            <a:normAutofit/>
          </a:bodyPr>
          <a:lstStyle/>
          <a:p>
            <a:r>
              <a:rPr lang="zh-CN" altLang="en-US" sz="2800" dirty="0"/>
              <a:t>实证设计</a:t>
            </a:r>
          </a:p>
        </p:txBody>
      </p:sp>
      <p:sp>
        <p:nvSpPr>
          <p:cNvPr id="3" name="内容占位符 2">
            <a:extLst>
              <a:ext uri="{FF2B5EF4-FFF2-40B4-BE49-F238E27FC236}">
                <a16:creationId xmlns:a16="http://schemas.microsoft.com/office/drawing/2014/main" id="{C4A6CB18-20F1-3F1F-89C1-6146C1E38016}"/>
              </a:ext>
            </a:extLst>
          </p:cNvPr>
          <p:cNvSpPr>
            <a:spLocks noGrp="1"/>
          </p:cNvSpPr>
          <p:nvPr>
            <p:ph sz="quarter" idx="10"/>
          </p:nvPr>
        </p:nvSpPr>
        <p:spPr/>
        <p:txBody>
          <a:bodyPr>
            <a:normAutofit/>
          </a:bodyPr>
          <a:lstStyle/>
          <a:p>
            <a:pPr marL="0" indent="0" algn="just">
              <a:lnSpc>
                <a:spcPct val="100000"/>
              </a:lnSpc>
              <a:buNone/>
            </a:pPr>
            <a:r>
              <a:rPr lang="zh-CN" altLang="en-US" sz="2400" dirty="0"/>
              <a:t>样本说明</a:t>
            </a:r>
            <a:endParaRPr lang="en-US" altLang="zh-CN" sz="2400" dirty="0"/>
          </a:p>
          <a:p>
            <a:pPr lvl="1" algn="just">
              <a:lnSpc>
                <a:spcPct val="100000"/>
              </a:lnSpc>
            </a:pPr>
            <a:r>
              <a:rPr lang="zh-CN" altLang="en-US" sz="2000" dirty="0"/>
              <a:t>本文选取</a:t>
            </a:r>
            <a:r>
              <a:rPr lang="en-US" altLang="zh-CN" sz="2000" dirty="0"/>
              <a:t>2009—2022</a:t>
            </a:r>
            <a:r>
              <a:rPr lang="zh-CN" altLang="en-US" sz="2000" dirty="0"/>
              <a:t>年中国沪深</a:t>
            </a:r>
            <a:r>
              <a:rPr lang="en-US" altLang="zh-CN" sz="2000" dirty="0"/>
              <a:t>A</a:t>
            </a:r>
            <a:r>
              <a:rPr lang="zh-CN" altLang="en-US" sz="2000" dirty="0"/>
              <a:t>股上市公司作为研究对象。上市公司年报数据来自巨潮资讯网；专利数据来源于经济金融数据库（</a:t>
            </a:r>
            <a:r>
              <a:rPr lang="en-US" altLang="zh-CN" sz="2000" dirty="0"/>
              <a:t>CCER</a:t>
            </a:r>
            <a:r>
              <a:rPr lang="zh-CN" altLang="en-US" sz="2000" dirty="0"/>
              <a:t>）；企业基本信息和财务数据取自国泰安数据库（</a:t>
            </a:r>
            <a:r>
              <a:rPr lang="en-US" altLang="zh-CN" sz="2000" dirty="0"/>
              <a:t>CSMAR</a:t>
            </a:r>
            <a:r>
              <a:rPr lang="zh-CN" altLang="en-US" sz="2000" dirty="0"/>
              <a:t>）。为保证数据质量，对样本进行如下处理：①剔除金融行业企业样本；②剔除当年处于</a:t>
            </a:r>
            <a:r>
              <a:rPr lang="en-US" altLang="zh-CN" sz="2000" dirty="0"/>
              <a:t>ST</a:t>
            </a:r>
            <a:r>
              <a:rPr lang="zh-CN" altLang="en-US" sz="2000" dirty="0"/>
              <a:t>和*</a:t>
            </a:r>
            <a:r>
              <a:rPr lang="en-US" altLang="zh-CN" sz="2000" dirty="0"/>
              <a:t>ST</a:t>
            </a:r>
            <a:r>
              <a:rPr lang="zh-CN" altLang="en-US" sz="2000" dirty="0"/>
              <a:t>状态的企业样本；③剔除主要变量数据严重缺失的企业样本；④为控制极端值影响，对所有连续变量进行上下</a:t>
            </a:r>
            <a:r>
              <a:rPr lang="en-US" altLang="zh-CN" sz="2000" dirty="0"/>
              <a:t>1%</a:t>
            </a:r>
            <a:r>
              <a:rPr lang="zh-CN" altLang="en-US" sz="2000" dirty="0"/>
              <a:t>的缩尾处理。</a:t>
            </a:r>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672FEA6B-8D8A-FADD-52E5-87B8236D2687}"/>
                  </a:ext>
                </a:extLst>
              </p:cNvPr>
              <p:cNvSpPr>
                <a:spLocks noGrp="1"/>
              </p:cNvSpPr>
              <p:nvPr>
                <p:ph sz="quarter" idx="11"/>
              </p:nvPr>
            </p:nvSpPr>
            <p:spPr/>
            <p:txBody>
              <a:bodyPr>
                <a:noAutofit/>
              </a:bodyPr>
              <a:lstStyle/>
              <a:p>
                <a:pPr marL="0" indent="0">
                  <a:buNone/>
                </a:pPr>
                <a:r>
                  <a:rPr lang="zh-CN" altLang="en-US" sz="2400" dirty="0"/>
                  <a:t>模型设定</a:t>
                </a:r>
                <a:endParaRPr lang="en-US" altLang="zh-CN" sz="2400" dirty="0"/>
              </a:p>
              <a:p>
                <a:pPr indent="266700" algn="just">
                  <a:buNone/>
                </a:pPr>
                <a14:m>
                  <m:oMathPara xmlns:m="http://schemas.openxmlformats.org/officeDocument/2006/math">
                    <m:oMathParaPr>
                      <m:jc m:val="centerGroup"/>
                    </m:oMathParaPr>
                    <m:oMath xmlns:m="http://schemas.openxmlformats.org/officeDocument/2006/math">
                      <m:eqArr>
                        <m:eqArrPr>
                          <m:ctrlPr>
                            <a:rPr lang="zh-CN" altLang="zh-CN" sz="2400" i="1" kern="100" smtClean="0">
                              <a:effectLst/>
                              <a:latin typeface="Cambria Math" panose="02040503050406030204" pitchFamily="18" charset="0"/>
                              <a:ea typeface="Cambria Math" panose="02040503050406030204" pitchFamily="18" charset="0"/>
                            </a:rPr>
                          </m:ctrlPr>
                        </m:eqArrPr>
                        <m:e>
                          <m:r>
                            <a:rPr lang="en-GB" altLang="zh-CN" sz="2400" i="1" kern="100">
                              <a:effectLst/>
                              <a:latin typeface="Cambria Math" panose="02040503050406030204" pitchFamily="18" charset="0"/>
                              <a:ea typeface="宋体" panose="02010600030101010101" pitchFamily="2" charset="-122"/>
                            </a:rPr>
                            <m:t>𝐼𝑛𝑣</m:t>
                          </m:r>
                          <m:r>
                            <a:rPr lang="en-GB" altLang="zh-CN" sz="2400" i="1" kern="100">
                              <a:effectLst/>
                              <a:latin typeface="Cambria Math" panose="02040503050406030204" pitchFamily="18" charset="0"/>
                              <a:ea typeface="宋体" panose="02010600030101010101" pitchFamily="2" charset="-122"/>
                            </a:rPr>
                            <m:t>_</m:t>
                          </m:r>
                          <m:sSub>
                            <m:sSubPr>
                              <m:ctrlPr>
                                <a:rPr lang="zh-CN" altLang="zh-CN" sz="2400" i="1" kern="100">
                                  <a:effectLst/>
                                  <a:latin typeface="Cambria Math" panose="02040503050406030204" pitchFamily="18" charset="0"/>
                                  <a:ea typeface="Cambria Math" panose="02040503050406030204" pitchFamily="18" charset="0"/>
                                </a:rPr>
                              </m:ctrlPr>
                            </m:sSubPr>
                            <m:e>
                              <m:r>
                                <a:rPr lang="en-GB" altLang="zh-CN" sz="2400" i="1" kern="100">
                                  <a:effectLst/>
                                  <a:latin typeface="Cambria Math" panose="02040503050406030204" pitchFamily="18" charset="0"/>
                                  <a:ea typeface="宋体" panose="02010600030101010101" pitchFamily="2" charset="-122"/>
                                </a:rPr>
                                <m:t>𝑒</m:t>
                              </m:r>
                            </m:e>
                            <m:sub>
                              <m:r>
                                <a:rPr lang="en-GB" altLang="zh-CN" sz="2400" i="1" kern="100">
                                  <a:effectLst/>
                                  <a:latin typeface="Cambria Math" panose="02040503050406030204" pitchFamily="18" charset="0"/>
                                  <a:ea typeface="宋体" panose="02010600030101010101" pitchFamily="2" charset="-122"/>
                                </a:rPr>
                                <m:t>𝑖𝑡</m:t>
                              </m:r>
                            </m:sub>
                          </m:sSub>
                          <m:r>
                            <a:rPr lang="en-GB"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GB" altLang="zh-CN" sz="2400" i="1" kern="100">
                                  <a:effectLst/>
                                  <a:latin typeface="Cambria Math" panose="02040503050406030204" pitchFamily="18" charset="0"/>
                                  <a:ea typeface="宋体" panose="02010600030101010101" pitchFamily="2" charset="-122"/>
                                </a:rPr>
                                <m:t>𝛽</m:t>
                              </m:r>
                            </m:e>
                            <m:sub>
                              <m:r>
                                <a:rPr lang="en-GB" altLang="zh-CN" sz="2400" i="1" kern="100">
                                  <a:effectLst/>
                                  <a:latin typeface="Cambria Math" panose="02040503050406030204" pitchFamily="18" charset="0"/>
                                  <a:ea typeface="宋体" panose="02010600030101010101" pitchFamily="2" charset="-122"/>
                                </a:rPr>
                                <m:t>0</m:t>
                              </m:r>
                            </m:sub>
                          </m:sSub>
                          <m:r>
                            <a:rPr lang="en-GB"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GB" altLang="zh-CN" sz="2400" i="1" kern="100">
                                  <a:effectLst/>
                                  <a:latin typeface="Cambria Math" panose="02040503050406030204" pitchFamily="18" charset="0"/>
                                  <a:ea typeface="宋体" panose="02010600030101010101" pitchFamily="2" charset="-122"/>
                                </a:rPr>
                                <m:t>𝛽</m:t>
                              </m:r>
                            </m:e>
                            <m:sub>
                              <m:r>
                                <a:rPr lang="en-GB" altLang="zh-CN" sz="2400" i="1" kern="100">
                                  <a:effectLst/>
                                  <a:latin typeface="Cambria Math" panose="02040503050406030204" pitchFamily="18" charset="0"/>
                                  <a:ea typeface="宋体" panose="02010600030101010101" pitchFamily="2" charset="-122"/>
                                </a:rPr>
                                <m:t>1</m:t>
                              </m:r>
                            </m:sub>
                          </m:sSub>
                          <m:r>
                            <a:rPr lang="en-GB" altLang="zh-CN" sz="2400" i="1" kern="100">
                              <a:effectLst/>
                              <a:latin typeface="Cambria Math" panose="02040503050406030204" pitchFamily="18" charset="0"/>
                              <a:ea typeface="宋体" panose="02010600030101010101" pitchFamily="2" charset="-122"/>
                            </a:rPr>
                            <m:t>𝐴</m:t>
                          </m:r>
                          <m:sSub>
                            <m:sSubPr>
                              <m:ctrlPr>
                                <a:rPr lang="zh-CN" altLang="zh-CN" sz="2400" i="1" kern="100">
                                  <a:effectLst/>
                                  <a:latin typeface="Cambria Math" panose="02040503050406030204" pitchFamily="18" charset="0"/>
                                  <a:ea typeface="Cambria Math" panose="02040503050406030204" pitchFamily="18" charset="0"/>
                                </a:rPr>
                              </m:ctrlPr>
                            </m:sSubPr>
                            <m:e>
                              <m:r>
                                <a:rPr lang="en-GB" altLang="zh-CN" sz="2400" i="1" kern="100">
                                  <a:effectLst/>
                                  <a:latin typeface="Cambria Math" panose="02040503050406030204" pitchFamily="18" charset="0"/>
                                  <a:ea typeface="宋体" panose="02010600030101010101" pitchFamily="2" charset="-122"/>
                                </a:rPr>
                                <m:t>𝐼</m:t>
                              </m:r>
                            </m:e>
                            <m:sub>
                              <m:r>
                                <a:rPr lang="en-GB" altLang="zh-CN" sz="2400" i="1" kern="100">
                                  <a:effectLst/>
                                  <a:latin typeface="Cambria Math" panose="02040503050406030204" pitchFamily="18" charset="0"/>
                                  <a:ea typeface="宋体" panose="02010600030101010101" pitchFamily="2" charset="-122"/>
                                </a:rPr>
                                <m:t>𝑢𝑡𝑖𝑙𝑖𝑧</m:t>
                              </m:r>
                              <m:sSub>
                                <m:sSubPr>
                                  <m:ctrlPr>
                                    <a:rPr lang="zh-CN" altLang="zh-CN" sz="2400" i="1" kern="100">
                                      <a:effectLst/>
                                      <a:latin typeface="Cambria Math" panose="02040503050406030204" pitchFamily="18" charset="0"/>
                                      <a:ea typeface="Cambria Math" panose="02040503050406030204" pitchFamily="18" charset="0"/>
                                    </a:rPr>
                                  </m:ctrlPr>
                                </m:sSubPr>
                                <m:e>
                                  <m:r>
                                    <a:rPr lang="en-GB" altLang="zh-CN" sz="2400" i="1" kern="100">
                                      <a:effectLst/>
                                      <a:latin typeface="Cambria Math" panose="02040503050406030204" pitchFamily="18" charset="0"/>
                                      <a:ea typeface="宋体" panose="02010600030101010101" pitchFamily="2" charset="-122"/>
                                    </a:rPr>
                                    <m:t>𝑒</m:t>
                                  </m:r>
                                </m:e>
                                <m:sub>
                                  <m:r>
                                    <a:rPr lang="en-GB" altLang="zh-CN" sz="2400" i="1" kern="100">
                                      <a:effectLst/>
                                      <a:latin typeface="Cambria Math" panose="02040503050406030204" pitchFamily="18" charset="0"/>
                                      <a:ea typeface="宋体" panose="02010600030101010101" pitchFamily="2" charset="-122"/>
                                    </a:rPr>
                                    <m:t>𝑖𝑡</m:t>
                                  </m:r>
                                </m:sub>
                              </m:sSub>
                            </m:sub>
                          </m:sSub>
                          <m:r>
                            <a:rPr lang="en-GB" altLang="zh-CN" sz="2400" i="1" kern="100">
                              <a:effectLst/>
                              <a:latin typeface="Cambria Math" panose="02040503050406030204" pitchFamily="18" charset="0"/>
                              <a:ea typeface="宋体" panose="02010600030101010101" pitchFamily="2" charset="-122"/>
                            </a:rPr>
                            <m:t>+</m:t>
                          </m:r>
                          <m:r>
                            <a:rPr lang="en-GB" altLang="zh-CN" sz="2400" i="1" kern="100">
                              <a:effectLst/>
                              <a:latin typeface="Cambria Math" panose="02040503050406030204" pitchFamily="18" charset="0"/>
                              <a:ea typeface="宋体" panose="02010600030101010101" pitchFamily="2" charset="-122"/>
                            </a:rPr>
                            <m:t>𝛿</m:t>
                          </m:r>
                          <m:r>
                            <a:rPr lang="en-GB" altLang="zh-CN" sz="2400" b="1" i="1" kern="100">
                              <a:effectLst/>
                              <a:latin typeface="Cambria Math" panose="02040503050406030204" pitchFamily="18" charset="0"/>
                              <a:ea typeface="宋体" panose="02010600030101010101" pitchFamily="2" charset="-122"/>
                            </a:rPr>
                            <m:t>𝑿</m:t>
                          </m:r>
                          <m:r>
                            <a:rPr lang="en-GB"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GB" altLang="zh-CN" sz="2400" i="1" kern="100">
                                  <a:effectLst/>
                                  <a:latin typeface="Cambria Math" panose="02040503050406030204" pitchFamily="18" charset="0"/>
                                  <a:ea typeface="宋体" panose="02010600030101010101" pitchFamily="2" charset="-122"/>
                                </a:rPr>
                                <m:t>𝜆</m:t>
                              </m:r>
                            </m:e>
                            <m:sub>
                              <m:r>
                                <a:rPr lang="en-GB" altLang="zh-CN" sz="2400" i="1" kern="100">
                                  <a:effectLst/>
                                  <a:latin typeface="Cambria Math" panose="02040503050406030204" pitchFamily="18" charset="0"/>
                                  <a:ea typeface="宋体" panose="02010600030101010101" pitchFamily="2" charset="-122"/>
                                </a:rPr>
                                <m:t>𝑖</m:t>
                              </m:r>
                            </m:sub>
                          </m:sSub>
                          <m:r>
                            <a:rPr lang="en-GB"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GB" altLang="zh-CN" sz="2400" i="1" kern="100">
                                  <a:effectLst/>
                                  <a:latin typeface="Cambria Math" panose="02040503050406030204" pitchFamily="18" charset="0"/>
                                  <a:ea typeface="宋体" panose="02010600030101010101" pitchFamily="2" charset="-122"/>
                                </a:rPr>
                                <m:t>𝜇</m:t>
                              </m:r>
                            </m:e>
                            <m:sub>
                              <m:r>
                                <a:rPr lang="en-GB" altLang="zh-CN" sz="2400" i="1" kern="100">
                                  <a:effectLst/>
                                  <a:latin typeface="Cambria Math" panose="02040503050406030204" pitchFamily="18" charset="0"/>
                                  <a:ea typeface="宋体" panose="02010600030101010101" pitchFamily="2" charset="-122"/>
                                </a:rPr>
                                <m:t>𝑡</m:t>
                              </m:r>
                            </m:sub>
                          </m:sSub>
                          <m:r>
                            <a:rPr lang="en-GB"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GB" altLang="zh-CN" sz="2400" i="1" kern="100">
                                  <a:effectLst/>
                                  <a:latin typeface="Cambria Math" panose="02040503050406030204" pitchFamily="18" charset="0"/>
                                  <a:ea typeface="宋体" panose="02010600030101010101" pitchFamily="2" charset="-122"/>
                                </a:rPr>
                                <m:t>𝜀</m:t>
                              </m:r>
                            </m:e>
                            <m:sub>
                              <m:r>
                                <a:rPr lang="en-GB" altLang="zh-CN" sz="2400" i="1" kern="100">
                                  <a:effectLst/>
                                  <a:latin typeface="Cambria Math" panose="02040503050406030204" pitchFamily="18" charset="0"/>
                                  <a:ea typeface="宋体" panose="02010600030101010101" pitchFamily="2" charset="-122"/>
                                </a:rPr>
                                <m:t>𝑖𝑡</m:t>
                              </m:r>
                            </m:sub>
                          </m:sSub>
                          <m:r>
                            <a:rPr lang="en-GB" altLang="zh-CN" sz="2400" i="1" kern="100">
                              <a:effectLst/>
                              <a:latin typeface="Cambria Math" panose="02040503050406030204" pitchFamily="18" charset="0"/>
                              <a:ea typeface="宋体" panose="02010600030101010101" pitchFamily="2" charset="-122"/>
                            </a:rPr>
                            <m:t>#</m:t>
                          </m:r>
                          <m:d>
                            <m:dPr>
                              <m:ctrlPr>
                                <a:rPr lang="zh-CN" altLang="zh-CN" sz="2400" i="1" kern="100">
                                  <a:effectLst/>
                                  <a:latin typeface="Cambria Math" panose="02040503050406030204" pitchFamily="18" charset="0"/>
                                  <a:ea typeface="Cambria Math" panose="02040503050406030204" pitchFamily="18" charset="0"/>
                                </a:rPr>
                              </m:ctrlPr>
                            </m:dPr>
                            <m:e>
                              <m:r>
                                <a:rPr lang="en-GB" altLang="zh-CN" sz="2400" i="1" kern="100">
                                  <a:effectLst/>
                                  <a:latin typeface="Cambria Math" panose="02040503050406030204" pitchFamily="18" charset="0"/>
                                  <a:ea typeface="宋体" panose="02010600030101010101" pitchFamily="2" charset="-122"/>
                                </a:rPr>
                                <m:t>1</m:t>
                              </m:r>
                            </m:e>
                          </m:d>
                        </m:e>
                      </m:eqArr>
                    </m:oMath>
                  </m:oMathPara>
                </a14:m>
                <a:endParaRPr lang="zh-CN" altLang="zh-CN" sz="1800" kern="100" dirty="0">
                  <a:effectLst/>
                  <a:latin typeface="Times New Roman" panose="02020603050405020304" pitchFamily="18" charset="0"/>
                  <a:ea typeface="宋体" panose="02010600030101010101" pitchFamily="2" charset="-122"/>
                </a:endParaRPr>
              </a:p>
              <a:p>
                <a:pPr lvl="1">
                  <a:lnSpc>
                    <a:spcPct val="100000"/>
                  </a:lnSpc>
                  <a:spcBef>
                    <a:spcPts val="1200"/>
                  </a:spcBef>
                </a:pPr>
                <a:r>
                  <a:rPr lang="zh-CN" altLang="zh-CN" sz="2000" dirty="0"/>
                  <a:t>其中，下标</a:t>
                </a:r>
                <a14:m>
                  <m:oMath xmlns:m="http://schemas.openxmlformats.org/officeDocument/2006/math">
                    <m:r>
                      <a:rPr lang="en-GB" altLang="zh-CN" sz="2000" i="1">
                        <a:latin typeface="Cambria Math" panose="02040503050406030204" pitchFamily="18" charset="0"/>
                      </a:rPr>
                      <m:t>𝑖</m:t>
                    </m:r>
                  </m:oMath>
                </a14:m>
                <a:r>
                  <a:rPr lang="zh-CN" altLang="zh-CN" sz="2000" dirty="0"/>
                  <a:t>和</a:t>
                </a:r>
                <a14:m>
                  <m:oMath xmlns:m="http://schemas.openxmlformats.org/officeDocument/2006/math">
                    <m:r>
                      <a:rPr lang="en-GB" altLang="zh-CN" sz="2000" i="1">
                        <a:latin typeface="Cambria Math" panose="02040503050406030204" pitchFamily="18" charset="0"/>
                      </a:rPr>
                      <m:t>𝑡</m:t>
                    </m:r>
                  </m:oMath>
                </a14:m>
                <a:r>
                  <a:rPr lang="zh-CN" altLang="zh-CN" sz="2000" dirty="0"/>
                  <a:t>分别代表企业和年份；被解释变量</a:t>
                </a:r>
                <a14:m>
                  <m:oMath xmlns:m="http://schemas.openxmlformats.org/officeDocument/2006/math">
                    <m:r>
                      <a:rPr lang="en-GB" altLang="zh-CN" sz="2000" i="1">
                        <a:latin typeface="Cambria Math" panose="02040503050406030204" pitchFamily="18" charset="0"/>
                      </a:rPr>
                      <m:t>𝐼𝑛𝑣</m:t>
                    </m:r>
                    <m:r>
                      <a:rPr lang="en-GB" altLang="zh-CN" sz="2000" i="1">
                        <a:latin typeface="Cambria Math" panose="02040503050406030204" pitchFamily="18" charset="0"/>
                      </a:rPr>
                      <m:t>_</m:t>
                    </m:r>
                    <m:r>
                      <a:rPr lang="en-GB" altLang="zh-CN" sz="2000" i="1">
                        <a:latin typeface="Cambria Math" panose="02040503050406030204" pitchFamily="18" charset="0"/>
                      </a:rPr>
                      <m:t>𝑒</m:t>
                    </m:r>
                  </m:oMath>
                </a14:m>
                <a:r>
                  <a:rPr lang="zh-CN" altLang="zh-CN" sz="2000" dirty="0"/>
                  <a:t>表示企业投资效率，解释变量</a:t>
                </a:r>
                <a14:m>
                  <m:oMath xmlns:m="http://schemas.openxmlformats.org/officeDocument/2006/math">
                    <m:r>
                      <a:rPr lang="en-GB" altLang="zh-CN" sz="2000" i="1">
                        <a:latin typeface="Cambria Math" panose="02040503050406030204" pitchFamily="18" charset="0"/>
                      </a:rPr>
                      <m:t>𝐴</m:t>
                    </m:r>
                    <m:sSub>
                      <m:sSubPr>
                        <m:ctrlPr>
                          <a:rPr lang="zh-CN" altLang="zh-CN" sz="2000" i="1">
                            <a:latin typeface="Cambria Math" panose="02040503050406030204" pitchFamily="18" charset="0"/>
                          </a:rPr>
                        </m:ctrlPr>
                      </m:sSubPr>
                      <m:e>
                        <m:r>
                          <a:rPr lang="en-GB" altLang="zh-CN" sz="2000" i="1">
                            <a:latin typeface="Cambria Math" panose="02040503050406030204" pitchFamily="18" charset="0"/>
                          </a:rPr>
                          <m:t>𝐼</m:t>
                        </m:r>
                      </m:e>
                      <m:sub>
                        <m:r>
                          <a:rPr lang="en-GB" altLang="zh-CN" sz="2000" i="1">
                            <a:latin typeface="Cambria Math" panose="02040503050406030204" pitchFamily="18" charset="0"/>
                          </a:rPr>
                          <m:t>𝑢𝑡𝑖𝑙𝑖𝑧𝑒</m:t>
                        </m:r>
                      </m:sub>
                    </m:sSub>
                  </m:oMath>
                </a14:m>
                <a:r>
                  <a:rPr lang="zh-CN" altLang="zh-CN" sz="2000" dirty="0"/>
                  <a:t>表示人工智能技术应用水平；向量</a:t>
                </a:r>
                <a14:m>
                  <m:oMath xmlns:m="http://schemas.openxmlformats.org/officeDocument/2006/math">
                    <m:r>
                      <a:rPr lang="en-GB" altLang="zh-CN" sz="2000" b="1" i="1">
                        <a:latin typeface="Cambria Math" panose="02040503050406030204" pitchFamily="18" charset="0"/>
                      </a:rPr>
                      <m:t>𝑿</m:t>
                    </m:r>
                  </m:oMath>
                </a14:m>
                <a:r>
                  <a:rPr lang="zh-CN" altLang="zh-CN" sz="2000" dirty="0"/>
                  <a:t>为控制变量；</a:t>
                </a:r>
                <a14:m>
                  <m:oMath xmlns:m="http://schemas.openxmlformats.org/officeDocument/2006/math">
                    <m:sSub>
                      <m:sSubPr>
                        <m:ctrlPr>
                          <a:rPr lang="zh-CN" altLang="zh-CN" sz="2000" i="1">
                            <a:latin typeface="Cambria Math" panose="02040503050406030204" pitchFamily="18" charset="0"/>
                          </a:rPr>
                        </m:ctrlPr>
                      </m:sSubPr>
                      <m:e>
                        <m:r>
                          <a:rPr lang="en-GB" altLang="zh-CN" sz="2000" i="1">
                            <a:latin typeface="Cambria Math" panose="02040503050406030204" pitchFamily="18" charset="0"/>
                          </a:rPr>
                          <m:t>𝜆</m:t>
                        </m:r>
                      </m:e>
                      <m:sub>
                        <m:r>
                          <a:rPr lang="en-GB" altLang="zh-CN" sz="2000" i="1">
                            <a:latin typeface="Cambria Math" panose="02040503050406030204" pitchFamily="18" charset="0"/>
                          </a:rPr>
                          <m:t>𝑖</m:t>
                        </m:r>
                      </m:sub>
                    </m:sSub>
                  </m:oMath>
                </a14:m>
                <a:r>
                  <a:rPr lang="zh-CN" altLang="zh-CN" sz="2000" dirty="0"/>
                  <a:t>、</a:t>
                </a:r>
                <a14:m>
                  <m:oMath xmlns:m="http://schemas.openxmlformats.org/officeDocument/2006/math">
                    <m:sSub>
                      <m:sSubPr>
                        <m:ctrlPr>
                          <a:rPr lang="zh-CN" altLang="zh-CN" sz="2000" i="1">
                            <a:latin typeface="Cambria Math" panose="02040503050406030204" pitchFamily="18" charset="0"/>
                          </a:rPr>
                        </m:ctrlPr>
                      </m:sSubPr>
                      <m:e>
                        <m:r>
                          <a:rPr lang="en-GB" altLang="zh-CN" sz="2000" i="1">
                            <a:latin typeface="Cambria Math" panose="02040503050406030204" pitchFamily="18" charset="0"/>
                          </a:rPr>
                          <m:t>𝜇</m:t>
                        </m:r>
                      </m:e>
                      <m:sub>
                        <m:r>
                          <a:rPr lang="en-GB" altLang="zh-CN" sz="2000" i="1">
                            <a:latin typeface="Cambria Math" panose="02040503050406030204" pitchFamily="18" charset="0"/>
                          </a:rPr>
                          <m:t>𝑡</m:t>
                        </m:r>
                      </m:sub>
                    </m:sSub>
                  </m:oMath>
                </a14:m>
                <a:r>
                  <a:rPr lang="zh-CN" altLang="zh-CN" sz="2000" dirty="0"/>
                  <a:t>分别表示企业固定效应和年份固定效应；</a:t>
                </a:r>
                <a14:m>
                  <m:oMath xmlns:m="http://schemas.openxmlformats.org/officeDocument/2006/math">
                    <m:sSub>
                      <m:sSubPr>
                        <m:ctrlPr>
                          <a:rPr lang="zh-CN" altLang="zh-CN" sz="2000" i="1">
                            <a:latin typeface="Cambria Math" panose="02040503050406030204" pitchFamily="18" charset="0"/>
                          </a:rPr>
                        </m:ctrlPr>
                      </m:sSubPr>
                      <m:e>
                        <m:r>
                          <a:rPr lang="en-GB" altLang="zh-CN" sz="2000" i="1">
                            <a:latin typeface="Cambria Math" panose="02040503050406030204" pitchFamily="18" charset="0"/>
                          </a:rPr>
                          <m:t>𝜀</m:t>
                        </m:r>
                      </m:e>
                      <m:sub>
                        <m:r>
                          <a:rPr lang="en-GB" altLang="zh-CN" sz="2000" i="1">
                            <a:latin typeface="Cambria Math" panose="02040503050406030204" pitchFamily="18" charset="0"/>
                          </a:rPr>
                          <m:t>𝑖𝑡</m:t>
                        </m:r>
                      </m:sub>
                    </m:sSub>
                  </m:oMath>
                </a14:m>
                <a:r>
                  <a:rPr lang="zh-CN" altLang="zh-CN" sz="2000" dirty="0"/>
                  <a:t>为随机扰动项，标准误聚类到公司层面。</a:t>
                </a:r>
                <a:endParaRPr lang="zh-CN" altLang="en-US" sz="1800" dirty="0"/>
              </a:p>
              <a:p>
                <a:endParaRPr lang="zh-CN" altLang="en-US" sz="2400" dirty="0"/>
              </a:p>
            </p:txBody>
          </p:sp>
        </mc:Choice>
        <mc:Fallback xmlns="">
          <p:sp>
            <p:nvSpPr>
              <p:cNvPr id="4" name="内容占位符 3">
                <a:extLst>
                  <a:ext uri="{FF2B5EF4-FFF2-40B4-BE49-F238E27FC236}">
                    <a16:creationId xmlns:a16="http://schemas.microsoft.com/office/drawing/2014/main" id="{672FEA6B-8D8A-FADD-52E5-87B8236D2687}"/>
                  </a:ext>
                </a:extLst>
              </p:cNvPr>
              <p:cNvSpPr>
                <a:spLocks noGrp="1" noRot="1" noChangeAspect="1" noMove="1" noResize="1" noEditPoints="1" noAdjustHandles="1" noChangeArrowheads="1" noChangeShapeType="1" noTextEdit="1"/>
              </p:cNvSpPr>
              <p:nvPr>
                <p:ph sz="quarter" idx="11"/>
              </p:nvPr>
            </p:nvSpPr>
            <p:spPr>
              <a:blipFill>
                <a:blip r:embed="rId2"/>
                <a:stretch>
                  <a:fillRect l="-928" t="-35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78124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C53A68-9252-E3AE-155D-AFAE2BC5E8DE}"/>
              </a:ext>
            </a:extLst>
          </p:cNvPr>
          <p:cNvSpPr>
            <a:spLocks noGrp="1"/>
          </p:cNvSpPr>
          <p:nvPr>
            <p:ph type="title"/>
          </p:nvPr>
        </p:nvSpPr>
        <p:spPr/>
        <p:txBody>
          <a:bodyPr vert="horz" lIns="91440" tIns="45720" rIns="91440" bIns="45720" rtlCol="0" anchor="ctr">
            <a:normAutofit/>
          </a:bodyPr>
          <a:lstStyle/>
          <a:p>
            <a:r>
              <a:rPr lang="zh-CN" altLang="en-US" sz="2800" dirty="0"/>
              <a:t>实证设计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FB7DDA9-2D5C-53A9-A843-3614FE3C1DFA}"/>
                  </a:ext>
                </a:extLst>
              </p:cNvPr>
              <p:cNvSpPr>
                <a:spLocks noGrp="1"/>
              </p:cNvSpPr>
              <p:nvPr>
                <p:ph sz="half" idx="1"/>
              </p:nvPr>
            </p:nvSpPr>
            <p:spPr/>
            <p:txBody>
              <a:bodyPr>
                <a:noAutofit/>
              </a:bodyPr>
              <a:lstStyle/>
              <a:p>
                <a:pPr marL="0" indent="0">
                  <a:lnSpc>
                    <a:spcPct val="100000"/>
                  </a:lnSpc>
                  <a:buNone/>
                </a:pPr>
                <a:r>
                  <a:rPr lang="zh-CN" altLang="en-US" sz="2400" dirty="0"/>
                  <a:t>变量定义</a:t>
                </a:r>
                <a:endParaRPr lang="en-US" altLang="zh-CN" sz="2400" dirty="0"/>
              </a:p>
              <a:p>
                <a:pPr lvl="1" algn="just">
                  <a:lnSpc>
                    <a:spcPct val="100000"/>
                  </a:lnSpc>
                </a:pPr>
                <a:r>
                  <a:rPr lang="zh-CN" altLang="zh-CN" sz="2000" dirty="0"/>
                  <a:t>被解释变量：企业投资效率（</a:t>
                </a:r>
                <a14:m>
                  <m:oMath xmlns:m="http://schemas.openxmlformats.org/officeDocument/2006/math">
                    <m:r>
                      <a:rPr lang="en-GB" altLang="zh-CN" sz="2000" i="1">
                        <a:latin typeface="Cambria Math" panose="02040503050406030204" pitchFamily="18" charset="0"/>
                      </a:rPr>
                      <m:t>𝐼𝑛𝑣</m:t>
                    </m:r>
                    <m:r>
                      <a:rPr lang="en-GB" altLang="zh-CN" sz="2000" i="1">
                        <a:latin typeface="Cambria Math" panose="02040503050406030204" pitchFamily="18" charset="0"/>
                      </a:rPr>
                      <m:t>_</m:t>
                    </m:r>
                    <m:r>
                      <a:rPr lang="en-GB" altLang="zh-CN" sz="2000" i="1">
                        <a:latin typeface="Cambria Math" panose="02040503050406030204" pitchFamily="18" charset="0"/>
                      </a:rPr>
                      <m:t>𝑒</m:t>
                    </m:r>
                  </m:oMath>
                </a14:m>
                <a:r>
                  <a:rPr lang="zh-CN" altLang="zh-CN" sz="2000" dirty="0"/>
                  <a:t>）。本文参考</a:t>
                </a:r>
                <a:r>
                  <a:rPr lang="en-GB" altLang="zh-CN" sz="2000" dirty="0"/>
                  <a:t>Biddle et al</a:t>
                </a:r>
                <a:r>
                  <a:rPr lang="zh-CN" altLang="zh-CN" sz="2000" dirty="0"/>
                  <a:t>．（</a:t>
                </a:r>
                <a:r>
                  <a:rPr lang="en-GB" altLang="zh-CN" sz="2000" dirty="0"/>
                  <a:t>2009</a:t>
                </a:r>
                <a:r>
                  <a:rPr lang="zh-CN" altLang="zh-CN" sz="2000" dirty="0"/>
                  <a:t>）的方法，用实际投资规模减去预期最佳投资规模估计残差，若残差为正，则定义为过度投资（</a:t>
                </a:r>
                <a14:m>
                  <m:oMath xmlns:m="http://schemas.openxmlformats.org/officeDocument/2006/math">
                    <m:r>
                      <a:rPr lang="en-GB" altLang="zh-CN" sz="2000" i="1">
                        <a:latin typeface="Cambria Math" panose="02040503050406030204" pitchFamily="18" charset="0"/>
                      </a:rPr>
                      <m:t>𝑂𝑣𝑒𝑟𝐼𝑛𝑣</m:t>
                    </m:r>
                    <m:r>
                      <a:rPr lang="en-GB" altLang="zh-CN" sz="2000" i="1">
                        <a:latin typeface="Cambria Math" panose="02040503050406030204" pitchFamily="18" charset="0"/>
                      </a:rPr>
                      <m:t>_</m:t>
                    </m:r>
                    <m:r>
                      <a:rPr lang="en-GB" altLang="zh-CN" sz="2000" i="1">
                        <a:latin typeface="Cambria Math" panose="02040503050406030204" pitchFamily="18" charset="0"/>
                      </a:rPr>
                      <m:t>𝑒</m:t>
                    </m:r>
                  </m:oMath>
                </a14:m>
                <a:r>
                  <a:rPr lang="zh-CN" altLang="zh-CN" sz="2000" dirty="0"/>
                  <a:t>），否则定义为投资不足</a:t>
                </a:r>
                <a:r>
                  <a:rPr lang="en-GB" altLang="zh-CN" sz="2000" dirty="0"/>
                  <a:t>(</a:t>
                </a:r>
                <a14:m>
                  <m:oMath xmlns:m="http://schemas.openxmlformats.org/officeDocument/2006/math">
                    <m:r>
                      <a:rPr lang="en-GB" altLang="zh-CN" sz="2000" i="1">
                        <a:latin typeface="Cambria Math" panose="02040503050406030204" pitchFamily="18" charset="0"/>
                      </a:rPr>
                      <m:t>𝑢𝑛𝑑𝑒𝑟𝐼𝑛𝑣</m:t>
                    </m:r>
                    <m:r>
                      <a:rPr lang="en-GB" altLang="zh-CN" sz="2000" i="1">
                        <a:latin typeface="Cambria Math" panose="02040503050406030204" pitchFamily="18" charset="0"/>
                      </a:rPr>
                      <m:t>_</m:t>
                    </m:r>
                    <m:r>
                      <a:rPr lang="en-GB" altLang="zh-CN" sz="2000" i="1">
                        <a:latin typeface="Cambria Math" panose="02040503050406030204" pitchFamily="18" charset="0"/>
                      </a:rPr>
                      <m:t>𝑒</m:t>
                    </m:r>
                  </m:oMath>
                </a14:m>
                <a:r>
                  <a:rPr lang="en-GB" altLang="zh-CN" sz="2000" dirty="0"/>
                  <a:t>)</a:t>
                </a:r>
                <a:r>
                  <a:rPr lang="zh-CN" altLang="zh-CN" sz="2000" dirty="0"/>
                  <a:t>。</a:t>
                </a:r>
                <a:endParaRPr lang="en-US" altLang="zh-CN" sz="2000" dirty="0"/>
              </a:p>
              <a:p>
                <a:pPr lvl="1" algn="just">
                  <a:lnSpc>
                    <a:spcPct val="100000"/>
                  </a:lnSpc>
                </a:pPr>
                <a:r>
                  <a:rPr lang="zh-CN" altLang="zh-CN" sz="2000" dirty="0"/>
                  <a:t>核心解释变量：人工智能技术应用（</a:t>
                </a:r>
                <a14:m>
                  <m:oMath xmlns:m="http://schemas.openxmlformats.org/officeDocument/2006/math">
                    <m:r>
                      <a:rPr lang="en-GB" altLang="zh-CN" sz="2000" i="1">
                        <a:latin typeface="Cambria Math" panose="02040503050406030204" pitchFamily="18" charset="0"/>
                      </a:rPr>
                      <m:t>𝐴</m:t>
                    </m:r>
                    <m:sSub>
                      <m:sSubPr>
                        <m:ctrlPr>
                          <a:rPr lang="zh-CN" altLang="zh-CN" sz="2000" i="1">
                            <a:latin typeface="Cambria Math" panose="02040503050406030204" pitchFamily="18" charset="0"/>
                          </a:rPr>
                        </m:ctrlPr>
                      </m:sSubPr>
                      <m:e>
                        <m:r>
                          <a:rPr lang="en-GB" altLang="zh-CN" sz="2000" i="1">
                            <a:latin typeface="Cambria Math" panose="02040503050406030204" pitchFamily="18" charset="0"/>
                          </a:rPr>
                          <m:t>𝐼</m:t>
                        </m:r>
                      </m:e>
                      <m:sub>
                        <m:r>
                          <a:rPr lang="en-GB" altLang="zh-CN" sz="2000" i="1">
                            <a:latin typeface="Cambria Math" panose="02040503050406030204" pitchFamily="18" charset="0"/>
                          </a:rPr>
                          <m:t>𝑢𝑡𝑖𝑙𝑖𝑧𝑒</m:t>
                        </m:r>
                      </m:sub>
                    </m:sSub>
                  </m:oMath>
                </a14:m>
                <a:r>
                  <a:rPr lang="zh-CN" altLang="zh-CN" sz="2000" dirty="0"/>
                  <a:t>）。本文基于机器学习方法构建人工智能技术应用水平的测度指标</a:t>
                </a:r>
                <a:r>
                  <a:rPr lang="zh-CN" altLang="en-US" sz="2000" dirty="0"/>
                  <a:t>。</a:t>
                </a:r>
              </a:p>
            </p:txBody>
          </p:sp>
        </mc:Choice>
        <mc:Fallback xmlns="">
          <p:sp>
            <p:nvSpPr>
              <p:cNvPr id="3" name="内容占位符 2">
                <a:extLst>
                  <a:ext uri="{FF2B5EF4-FFF2-40B4-BE49-F238E27FC236}">
                    <a16:creationId xmlns:a16="http://schemas.microsoft.com/office/drawing/2014/main" id="{2FB7DDA9-2D5C-53A9-A843-3614FE3C1DFA}"/>
                  </a:ext>
                </a:extLst>
              </p:cNvPr>
              <p:cNvSpPr>
                <a:spLocks noGrp="1" noRot="1" noChangeAspect="1" noMove="1" noResize="1" noEditPoints="1" noAdjustHandles="1" noChangeArrowheads="1" noChangeShapeType="1" noTextEdit="1"/>
              </p:cNvSpPr>
              <p:nvPr>
                <p:ph sz="half" idx="1"/>
              </p:nvPr>
            </p:nvSpPr>
            <p:spPr>
              <a:blipFill>
                <a:blip r:embed="rId2"/>
                <a:stretch>
                  <a:fillRect l="-1882" t="-980" r="-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5" name="内容占位符 4">
                <a:extLst>
                  <a:ext uri="{FF2B5EF4-FFF2-40B4-BE49-F238E27FC236}">
                    <a16:creationId xmlns:a16="http://schemas.microsoft.com/office/drawing/2014/main" id="{FB6B0BA7-820F-26B4-4BEF-8E193D0D88F1}"/>
                  </a:ext>
                </a:extLst>
              </p:cNvPr>
              <p:cNvGraphicFramePr>
                <a:graphicFrameLocks noGrp="1"/>
              </p:cNvGraphicFramePr>
              <p:nvPr>
                <p:ph sz="half" idx="2"/>
                <p:extLst>
                  <p:ext uri="{D42A27DB-BD31-4B8C-83A1-F6EECF244321}">
                    <p14:modId xmlns:p14="http://schemas.microsoft.com/office/powerpoint/2010/main" val="2923794613"/>
                  </p:ext>
                </p:extLst>
              </p:nvPr>
            </p:nvGraphicFramePr>
            <p:xfrm>
              <a:off x="6019800" y="1825625"/>
              <a:ext cx="6035350" cy="4351332"/>
            </p:xfrm>
            <a:graphic>
              <a:graphicData uri="http://schemas.openxmlformats.org/drawingml/2006/table">
                <a:tbl>
                  <a:tblPr firstRow="1" firstCol="1" bandRow="1">
                    <a:tableStyleId>{5C22544A-7EE6-4342-B048-85BDC9FD1C3A}</a:tableStyleId>
                  </a:tblPr>
                  <a:tblGrid>
                    <a:gridCol w="807528">
                      <a:extLst>
                        <a:ext uri="{9D8B030D-6E8A-4147-A177-3AD203B41FA5}">
                          <a16:colId xmlns:a16="http://schemas.microsoft.com/office/drawing/2014/main" val="3124174217"/>
                        </a:ext>
                      </a:extLst>
                    </a:gridCol>
                    <a:gridCol w="1383302">
                      <a:extLst>
                        <a:ext uri="{9D8B030D-6E8A-4147-A177-3AD203B41FA5}">
                          <a16:colId xmlns:a16="http://schemas.microsoft.com/office/drawing/2014/main" val="1121357799"/>
                        </a:ext>
                      </a:extLst>
                    </a:gridCol>
                    <a:gridCol w="768904">
                      <a:extLst>
                        <a:ext uri="{9D8B030D-6E8A-4147-A177-3AD203B41FA5}">
                          <a16:colId xmlns:a16="http://schemas.microsoft.com/office/drawing/2014/main" val="2542766864"/>
                        </a:ext>
                      </a:extLst>
                    </a:gridCol>
                    <a:gridCol w="768904">
                      <a:extLst>
                        <a:ext uri="{9D8B030D-6E8A-4147-A177-3AD203B41FA5}">
                          <a16:colId xmlns:a16="http://schemas.microsoft.com/office/drawing/2014/main" val="2022137375"/>
                        </a:ext>
                      </a:extLst>
                    </a:gridCol>
                    <a:gridCol w="768904">
                      <a:extLst>
                        <a:ext uri="{9D8B030D-6E8A-4147-A177-3AD203B41FA5}">
                          <a16:colId xmlns:a16="http://schemas.microsoft.com/office/drawing/2014/main" val="3220999164"/>
                        </a:ext>
                      </a:extLst>
                    </a:gridCol>
                    <a:gridCol w="768904">
                      <a:extLst>
                        <a:ext uri="{9D8B030D-6E8A-4147-A177-3AD203B41FA5}">
                          <a16:colId xmlns:a16="http://schemas.microsoft.com/office/drawing/2014/main" val="3415101800"/>
                        </a:ext>
                      </a:extLst>
                    </a:gridCol>
                    <a:gridCol w="768904">
                      <a:extLst>
                        <a:ext uri="{9D8B030D-6E8A-4147-A177-3AD203B41FA5}">
                          <a16:colId xmlns:a16="http://schemas.microsoft.com/office/drawing/2014/main" val="952854062"/>
                        </a:ext>
                      </a:extLst>
                    </a:gridCol>
                  </a:tblGrid>
                  <a:tr h="265617">
                    <a:tc>
                      <a:txBody>
                        <a:bodyPr/>
                        <a:lstStyle/>
                        <a:p>
                          <a:pPr indent="127000" algn="ctr">
                            <a:buNone/>
                          </a:pPr>
                          <a:r>
                            <a:rPr lang="zh-CN" sz="1100" kern="0">
                              <a:solidFill>
                                <a:schemeClr val="tx1"/>
                              </a:solidFill>
                              <a:effectLst/>
                            </a:rPr>
                            <a:t>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含义</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观测值</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平均值</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标准差</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最小值</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最大值</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2035646"/>
                      </a:ext>
                    </a:extLst>
                  </a:tr>
                  <a:tr h="265617">
                    <a:tc gridSpan="7">
                      <a:txBody>
                        <a:bodyPr/>
                        <a:lstStyle/>
                        <a:p>
                          <a:pPr indent="127000" algn="ctr">
                            <a:buNone/>
                          </a:pPr>
                          <a:r>
                            <a:rPr lang="zh-CN" sz="1100" kern="0">
                              <a:solidFill>
                                <a:schemeClr val="tx1"/>
                              </a:solidFill>
                              <a:effectLst/>
                            </a:rPr>
                            <a:t>被解释变量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lnT w="635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02931771"/>
                      </a:ext>
                    </a:extLst>
                  </a:tr>
                  <a:tr h="26561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𝐼𝑛𝑣</m:t>
                                </m:r>
                                <m:r>
                                  <a:rPr lang="en-GB" sz="1100" kern="100" smtClean="0">
                                    <a:solidFill>
                                      <a:schemeClr val="tx1"/>
                                    </a:solidFill>
                                    <a:effectLst/>
                                    <a:latin typeface="Cambria Math" panose="02040503050406030204" pitchFamily="18" charset="0"/>
                                  </a:rPr>
                                  <m:t>_</m:t>
                                </m:r>
                                <m:r>
                                  <a:rPr lang="en-GB" sz="1100" kern="100" smtClean="0">
                                    <a:solidFill>
                                      <a:schemeClr val="tx1"/>
                                    </a:solidFill>
                                    <a:effectLst/>
                                    <a:latin typeface="Cambria Math" panose="02040503050406030204" pitchFamily="18" charset="0"/>
                                  </a:rPr>
                                  <m:t>𝑒</m:t>
                                </m:r>
                              </m:oMath>
                            </m:oMathPara>
                          </a14:m>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企业投资效率</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0.0492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0.0542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dirty="0">
                              <a:solidFill>
                                <a:schemeClr val="tx1"/>
                              </a:solidFill>
                              <a:effectLst/>
                            </a:rPr>
                            <a:t>0.4157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9908922"/>
                      </a:ext>
                    </a:extLst>
                  </a:tr>
                  <a:tr h="265617">
                    <a:tc gridSpan="7">
                      <a:txBody>
                        <a:bodyPr/>
                        <a:lstStyle/>
                        <a:p>
                          <a:pPr indent="127000" algn="ctr">
                            <a:buNone/>
                          </a:pPr>
                          <a:r>
                            <a:rPr lang="zh-CN" sz="1100" kern="0">
                              <a:solidFill>
                                <a:schemeClr val="tx1"/>
                              </a:solidFill>
                              <a:effectLst/>
                            </a:rPr>
                            <a:t>解释变量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lnT w="635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561252559"/>
                      </a:ext>
                    </a:extLst>
                  </a:tr>
                  <a:tr h="26561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𝐴</m:t>
                                </m:r>
                                <m:sSub>
                                  <m:sSubPr>
                                    <m:ctrlPr>
                                      <a:rPr lang="zh-CN" sz="1100" i="1" kern="0">
                                        <a:solidFill>
                                          <a:schemeClr val="tx1"/>
                                        </a:solidFill>
                                        <a:effectLst/>
                                        <a:latin typeface="Cambria Math" panose="02040503050406030204" pitchFamily="18" charset="0"/>
                                      </a:rPr>
                                    </m:ctrlPr>
                                  </m:sSubPr>
                                  <m:e>
                                    <m:r>
                                      <a:rPr lang="en-GB" sz="1100" kern="0">
                                        <a:solidFill>
                                          <a:schemeClr val="tx1"/>
                                        </a:solidFill>
                                        <a:effectLst/>
                                        <a:latin typeface="Cambria Math" panose="02040503050406030204" pitchFamily="18" charset="0"/>
                                      </a:rPr>
                                      <m:t>𝐼</m:t>
                                    </m:r>
                                  </m:e>
                                  <m:sub>
                                    <m:r>
                                      <a:rPr lang="en-GB" sz="1100" kern="0">
                                        <a:solidFill>
                                          <a:schemeClr val="tx1"/>
                                        </a:solidFill>
                                        <a:effectLst/>
                                        <a:latin typeface="Cambria Math" panose="02040503050406030204" pitchFamily="18" charset="0"/>
                                      </a:rPr>
                                      <m:t>𝑢𝑡𝑖𝑙𝑖𝑧𝑒</m:t>
                                    </m:r>
                                  </m:sub>
                                </m:sSub>
                              </m:oMath>
                            </m:oMathPara>
                          </a14:m>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人工智能技术应用</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tx1"/>
                              </a:solidFill>
                              <a:effectLst/>
                            </a:rPr>
                            <a:t>0.3217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tx1"/>
                              </a:solidFill>
                              <a:effectLst/>
                            </a:rPr>
                            <a:t>0.7129</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tx1"/>
                              </a:solidFill>
                              <a:effectLst/>
                            </a:rPr>
                            <a:t>5.3799</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9730351"/>
                      </a:ext>
                    </a:extLst>
                  </a:tr>
                  <a:tr h="265617">
                    <a:tc gridSpan="7">
                      <a:txBody>
                        <a:bodyPr/>
                        <a:lstStyle/>
                        <a:p>
                          <a:pPr indent="127000" algn="ctr">
                            <a:buNone/>
                          </a:pPr>
                          <a:r>
                            <a:rPr lang="zh-CN" sz="1100" kern="0">
                              <a:solidFill>
                                <a:schemeClr val="tx1"/>
                              </a:solidFill>
                              <a:effectLst/>
                            </a:rPr>
                            <a:t>控制变量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lnT w="635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351732718"/>
                      </a:ext>
                    </a:extLst>
                  </a:tr>
                  <a:tr h="275763">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𝐴𝑔𝑒</m:t>
                                </m:r>
                              </m:oMath>
                            </m:oMathPara>
                          </a14:m>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企业年龄</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2.6968</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0.5712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0.6931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3.6109</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5988026"/>
                      </a:ext>
                    </a:extLst>
                  </a:tr>
                  <a:tr h="275763">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𝐿𝑒𝑣𝑒𝑟𝑎𝑔𝑒</m:t>
                                </m:r>
                              </m:oMath>
                            </m:oMathPara>
                          </a14:m>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a:solidFill>
                                <a:schemeClr val="tx1"/>
                              </a:solidFill>
                              <a:effectLst/>
                            </a:rPr>
                            <a:t>资产负债率</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0.8735</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2.3531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-17.9526</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270.9941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1278628"/>
                      </a:ext>
                    </a:extLst>
                  </a:tr>
                  <a:tr h="275763">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𝑆𝑖𝑧𝑒</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企业规模</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16.4037</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7.2543</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4.5850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26.4523</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7520862"/>
                      </a:ext>
                    </a:extLst>
                  </a:tr>
                  <a:tr h="275763">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𝐿𝑖𝑞𝑢𝑖𝑑</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a:solidFill>
                                <a:schemeClr val="tx1"/>
                              </a:solidFill>
                              <a:effectLst/>
                            </a:rPr>
                            <a:t>流动比率</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1.7390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2.2157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0.1112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29.9157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4500051"/>
                      </a:ext>
                    </a:extLst>
                  </a:tr>
                  <a:tr h="275763">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𝐵𝑜𝑎𝑟𝑑</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a:solidFill>
                                <a:schemeClr val="tx1"/>
                              </a:solidFill>
                              <a:effectLst/>
                            </a:rPr>
                            <a:t>董事人数</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2.1954</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0.2335</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1.6094</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2.8904</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006711"/>
                      </a:ext>
                    </a:extLst>
                  </a:tr>
                  <a:tr h="275763">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𝑃𝑎𝑡𝑒𝑛𝑡</m:t>
                                </m:r>
                              </m:oMath>
                            </m:oMathPara>
                          </a14:m>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a:solidFill>
                                <a:schemeClr val="tx1"/>
                              </a:solidFill>
                              <a:effectLst/>
                            </a:rPr>
                            <a:t>研发专利</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1.0581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1.8355</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6.3716</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7919858"/>
                      </a:ext>
                    </a:extLst>
                  </a:tr>
                  <a:tr h="275763">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𝑆𝑜𝑒</m:t>
                                </m:r>
                              </m:oMath>
                            </m:oMathPara>
                          </a14:m>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a:solidFill>
                                <a:schemeClr val="tx1"/>
                              </a:solidFill>
                              <a:effectLst/>
                            </a:rPr>
                            <a:t>产权性质</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0.3771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0.4847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970088"/>
                      </a:ext>
                    </a:extLst>
                  </a:tr>
                  <a:tr h="275763">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𝐶𝑓𝑙𝑜𝑤</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a:solidFill>
                                <a:schemeClr val="tx1"/>
                              </a:solidFill>
                              <a:effectLst/>
                            </a:rPr>
                            <a:t>现金流比率</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0.0501</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0.0676</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-0.1622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0.2458</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7193112"/>
                      </a:ext>
                    </a:extLst>
                  </a:tr>
                  <a:tr h="275763">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𝑇𝑜𝑏𝑖𝑛</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a:solidFill>
                                <a:schemeClr val="tx1"/>
                              </a:solidFill>
                              <a:effectLst/>
                            </a:rPr>
                            <a:t>托宾</a:t>
                          </a:r>
                          <a:r>
                            <a:rPr lang="en-GB" sz="1100" kern="100">
                              <a:solidFill>
                                <a:schemeClr val="tx1"/>
                              </a:solidFill>
                              <a:effectLst/>
                            </a:rPr>
                            <a:t>Q</a:t>
                          </a:r>
                          <a:r>
                            <a:rPr lang="zh-CN" sz="1100" kern="100">
                              <a:solidFill>
                                <a:schemeClr val="tx1"/>
                              </a:solidFill>
                              <a:effectLst/>
                            </a:rPr>
                            <a:t>值</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2.0248</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1.2723</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0.8491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8.7916</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4659985"/>
                      </a:ext>
                    </a:extLst>
                  </a:tr>
                  <a:tr h="275763">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rPr>
                                  <m:t>𝐺𝑟𝑜𝑤𝑡h</m:t>
                                </m:r>
                              </m:oMath>
                            </m:oMathPara>
                          </a14:m>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zh-CN" sz="1100" kern="100">
                              <a:solidFill>
                                <a:schemeClr val="tx1"/>
                              </a:solidFill>
                              <a:effectLst/>
                            </a:rPr>
                            <a:t>营业收入增长率</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0.1919</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0.4067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-0.6576</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tx1"/>
                              </a:solidFill>
                              <a:effectLst/>
                            </a:rPr>
                            <a:t>4.0242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5842188"/>
                      </a:ext>
                    </a:extLst>
                  </a:tr>
                </a:tbl>
              </a:graphicData>
            </a:graphic>
          </p:graphicFrame>
        </mc:Choice>
        <mc:Fallback xmlns="">
          <p:graphicFrame>
            <p:nvGraphicFramePr>
              <p:cNvPr id="5" name="内容占位符 4">
                <a:extLst>
                  <a:ext uri="{FF2B5EF4-FFF2-40B4-BE49-F238E27FC236}">
                    <a16:creationId xmlns:a16="http://schemas.microsoft.com/office/drawing/2014/main" id="{FB6B0BA7-820F-26B4-4BEF-8E193D0D88F1}"/>
                  </a:ext>
                </a:extLst>
              </p:cNvPr>
              <p:cNvGraphicFramePr>
                <a:graphicFrameLocks noGrp="1"/>
              </p:cNvGraphicFramePr>
              <p:nvPr>
                <p:ph sz="half" idx="2"/>
                <p:extLst>
                  <p:ext uri="{D42A27DB-BD31-4B8C-83A1-F6EECF244321}">
                    <p14:modId xmlns:p14="http://schemas.microsoft.com/office/powerpoint/2010/main" val="2923794613"/>
                  </p:ext>
                </p:extLst>
              </p:nvPr>
            </p:nvGraphicFramePr>
            <p:xfrm>
              <a:off x="6019800" y="1825625"/>
              <a:ext cx="6035350" cy="4351332"/>
            </p:xfrm>
            <a:graphic>
              <a:graphicData uri="http://schemas.openxmlformats.org/drawingml/2006/table">
                <a:tbl>
                  <a:tblPr firstRow="1" firstCol="1" bandRow="1">
                    <a:tableStyleId>{5C22544A-7EE6-4342-B048-85BDC9FD1C3A}</a:tableStyleId>
                  </a:tblPr>
                  <a:tblGrid>
                    <a:gridCol w="807528">
                      <a:extLst>
                        <a:ext uri="{9D8B030D-6E8A-4147-A177-3AD203B41FA5}">
                          <a16:colId xmlns:a16="http://schemas.microsoft.com/office/drawing/2014/main" val="3124174217"/>
                        </a:ext>
                      </a:extLst>
                    </a:gridCol>
                    <a:gridCol w="1383302">
                      <a:extLst>
                        <a:ext uri="{9D8B030D-6E8A-4147-A177-3AD203B41FA5}">
                          <a16:colId xmlns:a16="http://schemas.microsoft.com/office/drawing/2014/main" val="1121357799"/>
                        </a:ext>
                      </a:extLst>
                    </a:gridCol>
                    <a:gridCol w="768904">
                      <a:extLst>
                        <a:ext uri="{9D8B030D-6E8A-4147-A177-3AD203B41FA5}">
                          <a16:colId xmlns:a16="http://schemas.microsoft.com/office/drawing/2014/main" val="2542766864"/>
                        </a:ext>
                      </a:extLst>
                    </a:gridCol>
                    <a:gridCol w="768904">
                      <a:extLst>
                        <a:ext uri="{9D8B030D-6E8A-4147-A177-3AD203B41FA5}">
                          <a16:colId xmlns:a16="http://schemas.microsoft.com/office/drawing/2014/main" val="2022137375"/>
                        </a:ext>
                      </a:extLst>
                    </a:gridCol>
                    <a:gridCol w="768904">
                      <a:extLst>
                        <a:ext uri="{9D8B030D-6E8A-4147-A177-3AD203B41FA5}">
                          <a16:colId xmlns:a16="http://schemas.microsoft.com/office/drawing/2014/main" val="3220999164"/>
                        </a:ext>
                      </a:extLst>
                    </a:gridCol>
                    <a:gridCol w="768904">
                      <a:extLst>
                        <a:ext uri="{9D8B030D-6E8A-4147-A177-3AD203B41FA5}">
                          <a16:colId xmlns:a16="http://schemas.microsoft.com/office/drawing/2014/main" val="3415101800"/>
                        </a:ext>
                      </a:extLst>
                    </a:gridCol>
                    <a:gridCol w="768904">
                      <a:extLst>
                        <a:ext uri="{9D8B030D-6E8A-4147-A177-3AD203B41FA5}">
                          <a16:colId xmlns:a16="http://schemas.microsoft.com/office/drawing/2014/main" val="952854062"/>
                        </a:ext>
                      </a:extLst>
                    </a:gridCol>
                  </a:tblGrid>
                  <a:tr h="265617">
                    <a:tc>
                      <a:txBody>
                        <a:bodyPr/>
                        <a:lstStyle/>
                        <a:p>
                          <a:pPr indent="127000" algn="ctr">
                            <a:buNone/>
                          </a:pPr>
                          <a:r>
                            <a:rPr lang="zh-CN" sz="1100" kern="0">
                              <a:solidFill>
                                <a:schemeClr val="tx1"/>
                              </a:solidFill>
                              <a:effectLst/>
                            </a:rPr>
                            <a:t>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含义</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观测值</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平均值</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标准差</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最小值</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0">
                              <a:solidFill>
                                <a:schemeClr val="tx1"/>
                              </a:solidFill>
                              <a:effectLst/>
                            </a:rPr>
                            <a:t>最大值</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2035646"/>
                      </a:ext>
                    </a:extLst>
                  </a:tr>
                  <a:tr h="265617">
                    <a:tc gridSpan="7">
                      <a:txBody>
                        <a:bodyPr/>
                        <a:lstStyle/>
                        <a:p>
                          <a:pPr indent="127000" algn="ctr">
                            <a:buNone/>
                          </a:pPr>
                          <a:r>
                            <a:rPr lang="zh-CN" sz="1100" kern="0">
                              <a:solidFill>
                                <a:schemeClr val="tx1"/>
                              </a:solidFill>
                              <a:effectLst/>
                            </a:rPr>
                            <a:t>被解释变量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lnT w="635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02931771"/>
                      </a:ext>
                    </a:extLst>
                  </a:tr>
                  <a:tr h="265617">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200000" r="-646617" b="-1338636"/>
                          </a:stretch>
                        </a:blipFill>
                      </a:tcPr>
                    </a:tc>
                    <a:tc>
                      <a:txBody>
                        <a:bodyPr/>
                        <a:lstStyle/>
                        <a:p>
                          <a:pPr indent="127000" algn="ctr">
                            <a:buNone/>
                          </a:pPr>
                          <a:r>
                            <a:rPr lang="zh-CN" sz="1100" kern="0">
                              <a:solidFill>
                                <a:schemeClr val="tx1"/>
                              </a:solidFill>
                              <a:effectLst/>
                            </a:rPr>
                            <a:t>企业投资效率</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0.0492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0.0542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dirty="0">
                              <a:solidFill>
                                <a:schemeClr val="tx1"/>
                              </a:solidFill>
                              <a:effectLst/>
                            </a:rPr>
                            <a:t>0.4157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9908922"/>
                      </a:ext>
                    </a:extLst>
                  </a:tr>
                  <a:tr h="265617">
                    <a:tc gridSpan="7">
                      <a:txBody>
                        <a:bodyPr/>
                        <a:lstStyle/>
                        <a:p>
                          <a:pPr indent="127000" algn="ctr">
                            <a:buNone/>
                          </a:pPr>
                          <a:r>
                            <a:rPr lang="zh-CN" sz="1100" kern="0">
                              <a:solidFill>
                                <a:schemeClr val="tx1"/>
                              </a:solidFill>
                              <a:effectLst/>
                            </a:rPr>
                            <a:t>解释变量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lnT w="635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561252559"/>
                      </a:ext>
                    </a:extLst>
                  </a:tr>
                  <a:tr h="265617">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409302" r="-646617" b="-1167442"/>
                          </a:stretch>
                        </a:blipFill>
                      </a:tcPr>
                    </a:tc>
                    <a:tc>
                      <a:txBody>
                        <a:bodyPr/>
                        <a:lstStyle/>
                        <a:p>
                          <a:pPr indent="127000" algn="ctr">
                            <a:buNone/>
                          </a:pPr>
                          <a:r>
                            <a:rPr lang="zh-CN" sz="1100" kern="0">
                              <a:solidFill>
                                <a:schemeClr val="tx1"/>
                              </a:solidFill>
                              <a:effectLst/>
                            </a:rPr>
                            <a:t>人工智能技术应用</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tx1"/>
                              </a:solidFill>
                              <a:effectLst/>
                            </a:rPr>
                            <a:t>0.3217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tx1"/>
                              </a:solidFill>
                              <a:effectLst/>
                            </a:rPr>
                            <a:t>0.7129</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tx1"/>
                              </a:solidFill>
                              <a:effectLst/>
                            </a:rPr>
                            <a:t>5.3799</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9730351"/>
                      </a:ext>
                    </a:extLst>
                  </a:tr>
                  <a:tr h="265617">
                    <a:tc gridSpan="7">
                      <a:txBody>
                        <a:bodyPr/>
                        <a:lstStyle/>
                        <a:p>
                          <a:pPr indent="127000" algn="ctr">
                            <a:buNone/>
                          </a:pPr>
                          <a:r>
                            <a:rPr lang="zh-CN" sz="1100" kern="0">
                              <a:solidFill>
                                <a:schemeClr val="tx1"/>
                              </a:solidFill>
                              <a:effectLst/>
                            </a:rPr>
                            <a:t>控制变量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lnT w="635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351732718"/>
                      </a:ext>
                    </a:extLst>
                  </a:tr>
                  <a:tr h="275763">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584444" r="-646617" b="-917778"/>
                          </a:stretch>
                        </a:blipFill>
                      </a:tcPr>
                    </a:tc>
                    <a:tc>
                      <a:txBody>
                        <a:bodyPr/>
                        <a:lstStyle/>
                        <a:p>
                          <a:pPr indent="127000" algn="ctr">
                            <a:buNone/>
                          </a:pPr>
                          <a:r>
                            <a:rPr lang="zh-CN" sz="1100" kern="0">
                              <a:solidFill>
                                <a:schemeClr val="tx1"/>
                              </a:solidFill>
                              <a:effectLst/>
                            </a:rPr>
                            <a:t>企业年龄</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2.6968</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0.5712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0.6931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3.6109</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5988026"/>
                      </a:ext>
                    </a:extLst>
                  </a:tr>
                  <a:tr h="275763">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684444" r="-646617" b="-817778"/>
                          </a:stretch>
                        </a:blipFill>
                      </a:tcPr>
                    </a:tc>
                    <a:tc>
                      <a:txBody>
                        <a:bodyPr/>
                        <a:lstStyle/>
                        <a:p>
                          <a:pPr indent="127000" algn="ctr">
                            <a:buNone/>
                          </a:pPr>
                          <a:r>
                            <a:rPr lang="zh-CN" sz="1100" kern="100">
                              <a:solidFill>
                                <a:schemeClr val="tx1"/>
                              </a:solidFill>
                              <a:effectLst/>
                            </a:rPr>
                            <a:t>资产负债率</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0.8735</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2.3531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-17.9526</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270.9941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1278628"/>
                      </a:ext>
                    </a:extLst>
                  </a:tr>
                  <a:tr h="275763">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767391" r="-646617" b="-700000"/>
                          </a:stretch>
                        </a:blipFill>
                      </a:tcPr>
                    </a:tc>
                    <a:tc>
                      <a:txBody>
                        <a:bodyPr/>
                        <a:lstStyle/>
                        <a:p>
                          <a:pPr indent="127000" algn="ctr">
                            <a:buNone/>
                          </a:pPr>
                          <a:r>
                            <a:rPr lang="zh-CN" sz="1100" kern="0">
                              <a:solidFill>
                                <a:schemeClr val="tx1"/>
                              </a:solidFill>
                              <a:effectLst/>
                            </a:rPr>
                            <a:t>企业规模</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16.4037</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7.2543</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4.5850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26.4523</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7520862"/>
                      </a:ext>
                    </a:extLst>
                  </a:tr>
                  <a:tr h="275763">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886667" r="-646617" b="-615556"/>
                          </a:stretch>
                        </a:blipFill>
                      </a:tcPr>
                    </a:tc>
                    <a:tc>
                      <a:txBody>
                        <a:bodyPr/>
                        <a:lstStyle/>
                        <a:p>
                          <a:pPr indent="127000" algn="ctr">
                            <a:buNone/>
                          </a:pPr>
                          <a:r>
                            <a:rPr lang="zh-CN" sz="1100" kern="100">
                              <a:solidFill>
                                <a:schemeClr val="tx1"/>
                              </a:solidFill>
                              <a:effectLst/>
                            </a:rPr>
                            <a:t>流动比率</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1.7390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2.2157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0.1112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29.9157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4500051"/>
                      </a:ext>
                    </a:extLst>
                  </a:tr>
                  <a:tr h="275763">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986667" r="-646617" b="-515556"/>
                          </a:stretch>
                        </a:blipFill>
                      </a:tcPr>
                    </a:tc>
                    <a:tc>
                      <a:txBody>
                        <a:bodyPr/>
                        <a:lstStyle/>
                        <a:p>
                          <a:pPr indent="127000" algn="ctr">
                            <a:buNone/>
                          </a:pPr>
                          <a:r>
                            <a:rPr lang="zh-CN" sz="1100" kern="100">
                              <a:solidFill>
                                <a:schemeClr val="tx1"/>
                              </a:solidFill>
                              <a:effectLst/>
                            </a:rPr>
                            <a:t>董事人数</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2.1954</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0.2335</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1.6094</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2.8904</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006711"/>
                      </a:ext>
                    </a:extLst>
                  </a:tr>
                  <a:tr h="275763">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1063043" r="-646617" b="-404348"/>
                          </a:stretch>
                        </a:blipFill>
                      </a:tcPr>
                    </a:tc>
                    <a:tc>
                      <a:txBody>
                        <a:bodyPr/>
                        <a:lstStyle/>
                        <a:p>
                          <a:pPr indent="127000" algn="ctr">
                            <a:buNone/>
                          </a:pPr>
                          <a:r>
                            <a:rPr lang="zh-CN" sz="1100" kern="100">
                              <a:solidFill>
                                <a:schemeClr val="tx1"/>
                              </a:solidFill>
                              <a:effectLst/>
                            </a:rPr>
                            <a:t>研发专利</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1.0581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1.8355</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6.3716</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7919858"/>
                      </a:ext>
                    </a:extLst>
                  </a:tr>
                  <a:tr h="275763">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1188889" r="-646617" b="-313333"/>
                          </a:stretch>
                        </a:blipFill>
                      </a:tcPr>
                    </a:tc>
                    <a:tc>
                      <a:txBody>
                        <a:bodyPr/>
                        <a:lstStyle/>
                        <a:p>
                          <a:pPr indent="127000" algn="ctr">
                            <a:buNone/>
                          </a:pPr>
                          <a:r>
                            <a:rPr lang="zh-CN" sz="1100" kern="100">
                              <a:solidFill>
                                <a:schemeClr val="tx1"/>
                              </a:solidFill>
                              <a:effectLst/>
                            </a:rPr>
                            <a:t>产权性质</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0.3771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0.4847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970088"/>
                      </a:ext>
                    </a:extLst>
                  </a:tr>
                  <a:tr h="275763">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1288889" r="-646617" b="-213333"/>
                          </a:stretch>
                        </a:blipFill>
                      </a:tcPr>
                    </a:tc>
                    <a:tc>
                      <a:txBody>
                        <a:bodyPr/>
                        <a:lstStyle/>
                        <a:p>
                          <a:pPr indent="127000" algn="ctr">
                            <a:buNone/>
                          </a:pPr>
                          <a:r>
                            <a:rPr lang="zh-CN" sz="1100" kern="100">
                              <a:solidFill>
                                <a:schemeClr val="tx1"/>
                              </a:solidFill>
                              <a:effectLst/>
                            </a:rPr>
                            <a:t>现金流比率</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0.0501</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0.0676</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-0.1622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0.2458</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7193112"/>
                      </a:ext>
                    </a:extLst>
                  </a:tr>
                  <a:tr h="275763">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752" t="-1358696" r="-646617" b="-108696"/>
                          </a:stretch>
                        </a:blipFill>
                      </a:tcPr>
                    </a:tc>
                    <a:tc>
                      <a:txBody>
                        <a:bodyPr/>
                        <a:lstStyle/>
                        <a:p>
                          <a:pPr indent="127000" algn="ctr">
                            <a:buNone/>
                          </a:pPr>
                          <a:r>
                            <a:rPr lang="zh-CN" sz="1100" kern="100">
                              <a:solidFill>
                                <a:schemeClr val="tx1"/>
                              </a:solidFill>
                              <a:effectLst/>
                            </a:rPr>
                            <a:t>托宾</a:t>
                          </a:r>
                          <a:r>
                            <a:rPr lang="en-GB" sz="1100" kern="100">
                              <a:solidFill>
                                <a:schemeClr val="tx1"/>
                              </a:solidFill>
                              <a:effectLst/>
                            </a:rPr>
                            <a:t>Q</a:t>
                          </a:r>
                          <a:r>
                            <a:rPr lang="zh-CN" sz="1100" kern="100">
                              <a:solidFill>
                                <a:schemeClr val="tx1"/>
                              </a:solidFill>
                              <a:effectLst/>
                            </a:rPr>
                            <a:t>值</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2.0248</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1.2723</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0.8491</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8.7916</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4659985"/>
                      </a:ext>
                    </a:extLst>
                  </a:tr>
                  <a:tr h="275763">
                    <a:tc>
                      <a:txBody>
                        <a:bodyPr/>
                        <a:lstStyle/>
                        <a:p>
                          <a:endParaRPr lang="zh-CN"/>
                        </a:p>
                      </a:txBody>
                      <a:tcPr marL="23467" marR="23467"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52" t="-1491111" r="-646617" b="-11111"/>
                          </a:stretch>
                        </a:blipFill>
                      </a:tcPr>
                    </a:tc>
                    <a:tc>
                      <a:txBody>
                        <a:bodyPr/>
                        <a:lstStyle/>
                        <a:p>
                          <a:pPr indent="127000" algn="ctr">
                            <a:buNone/>
                          </a:pPr>
                          <a:r>
                            <a:rPr lang="zh-CN" sz="1100" kern="100">
                              <a:solidFill>
                                <a:schemeClr val="tx1"/>
                              </a:solidFill>
                              <a:effectLst/>
                            </a:rPr>
                            <a:t>营业收入增长率</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solidFill>
                                <a:schemeClr val="tx1"/>
                              </a:solidFill>
                              <a:effectLst/>
                            </a:rPr>
                            <a:t>40107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0.1919</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0.4067</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a:solidFill>
                                <a:schemeClr val="tx1"/>
                              </a:solidFill>
                              <a:effectLst/>
                            </a:rPr>
                            <a:t>-0.6576</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tx1"/>
                              </a:solidFill>
                              <a:effectLst/>
                            </a:rPr>
                            <a:t>4.0242</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5842188"/>
                      </a:ext>
                    </a:extLst>
                  </a:tr>
                </a:tbl>
              </a:graphicData>
            </a:graphic>
          </p:graphicFrame>
        </mc:Fallback>
      </mc:AlternateContent>
      <p:sp>
        <p:nvSpPr>
          <p:cNvPr id="6" name="文本框 5">
            <a:extLst>
              <a:ext uri="{FF2B5EF4-FFF2-40B4-BE49-F238E27FC236}">
                <a16:creationId xmlns:a16="http://schemas.microsoft.com/office/drawing/2014/main" id="{706D40EF-8145-22D2-800D-A2CD743C3852}"/>
              </a:ext>
            </a:extLst>
          </p:cNvPr>
          <p:cNvSpPr txBox="1"/>
          <p:nvPr/>
        </p:nvSpPr>
        <p:spPr>
          <a:xfrm>
            <a:off x="8457681" y="1548626"/>
            <a:ext cx="1242648" cy="276999"/>
          </a:xfrm>
          <a:prstGeom prst="rect">
            <a:avLst/>
          </a:prstGeom>
          <a:noFill/>
        </p:spPr>
        <p:txBody>
          <a:bodyPr wrap="none" rtlCol="0">
            <a:spAutoFit/>
          </a:bodyPr>
          <a:lstStyle/>
          <a:p>
            <a:r>
              <a:rPr lang="zh-CN" altLang="en-US" sz="1200" b="1" dirty="0"/>
              <a:t>表</a:t>
            </a:r>
            <a:r>
              <a:rPr lang="en-US" altLang="zh-CN" sz="1200" b="1" dirty="0"/>
              <a:t>1 </a:t>
            </a:r>
            <a:r>
              <a:rPr lang="zh-CN" altLang="en-US" sz="1200" b="1" dirty="0"/>
              <a:t>描述性统计</a:t>
            </a:r>
          </a:p>
        </p:txBody>
      </p:sp>
      <p:sp>
        <p:nvSpPr>
          <p:cNvPr id="4" name="矩形 3">
            <a:extLst>
              <a:ext uri="{FF2B5EF4-FFF2-40B4-BE49-F238E27FC236}">
                <a16:creationId xmlns:a16="http://schemas.microsoft.com/office/drawing/2014/main" id="{D4655908-FD73-7CA0-1280-7C1733764D67}"/>
              </a:ext>
            </a:extLst>
          </p:cNvPr>
          <p:cNvSpPr/>
          <p:nvPr/>
        </p:nvSpPr>
        <p:spPr>
          <a:xfrm>
            <a:off x="9041363" y="2313992"/>
            <a:ext cx="1399592" cy="3452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3131F907-F610-44C3-F65D-526607F51BF7}"/>
              </a:ext>
            </a:extLst>
          </p:cNvPr>
          <p:cNvSpPr/>
          <p:nvPr/>
        </p:nvSpPr>
        <p:spPr>
          <a:xfrm>
            <a:off x="9041363" y="2836510"/>
            <a:ext cx="1399592" cy="3452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F43FD21-5A1C-F64B-DBEB-241977CA5E58}"/>
              </a:ext>
            </a:extLst>
          </p:cNvPr>
          <p:cNvSpPr/>
          <p:nvPr/>
        </p:nvSpPr>
        <p:spPr>
          <a:xfrm>
            <a:off x="11353799" y="2836510"/>
            <a:ext cx="808651" cy="3452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A7CA27E-3221-E9B3-248F-E1591E63AB01}"/>
              </a:ext>
            </a:extLst>
          </p:cNvPr>
          <p:cNvSpPr/>
          <p:nvPr/>
        </p:nvSpPr>
        <p:spPr>
          <a:xfrm>
            <a:off x="11353799" y="2313992"/>
            <a:ext cx="808651" cy="3452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4115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8AB4DF-9947-4544-7923-CDEE48611639}"/>
              </a:ext>
            </a:extLst>
          </p:cNvPr>
          <p:cNvSpPr>
            <a:spLocks noGrp="1"/>
          </p:cNvSpPr>
          <p:nvPr>
            <p:ph type="title"/>
          </p:nvPr>
        </p:nvSpPr>
        <p:spPr/>
        <p:txBody>
          <a:bodyPr vert="horz" lIns="91440" tIns="45720" rIns="91440" bIns="45720" rtlCol="0" anchor="ctr">
            <a:normAutofit/>
          </a:bodyPr>
          <a:lstStyle/>
          <a:p>
            <a:r>
              <a:rPr lang="zh-CN" altLang="en-US" sz="2800" dirty="0"/>
              <a:t>实证结果分析</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0E11635-9FFF-4C7E-3A74-613BC937C011}"/>
                  </a:ext>
                </a:extLst>
              </p:cNvPr>
              <p:cNvSpPr>
                <a:spLocks noGrp="1"/>
              </p:cNvSpPr>
              <p:nvPr>
                <p:ph sz="half" idx="1"/>
              </p:nvPr>
            </p:nvSpPr>
            <p:spPr/>
            <p:txBody>
              <a:bodyPr>
                <a:noAutofit/>
              </a:bodyPr>
              <a:lstStyle/>
              <a:p>
                <a:pPr marL="0" indent="0">
                  <a:lnSpc>
                    <a:spcPct val="100000"/>
                  </a:lnSpc>
                  <a:buNone/>
                </a:pPr>
                <a:r>
                  <a:rPr lang="zh-CN" altLang="en-US" sz="2400" dirty="0"/>
                  <a:t>基准回归结果</a:t>
                </a:r>
                <a:endParaRPr lang="en-US" altLang="zh-CN" sz="2400" dirty="0"/>
              </a:p>
              <a:p>
                <a:pPr marL="457200" lvl="1" indent="0">
                  <a:lnSpc>
                    <a:spcPct val="100000"/>
                  </a:lnSpc>
                  <a:buNone/>
                </a:pPr>
                <a:r>
                  <a:rPr lang="zh-CN" altLang="zh-CN" sz="2000" dirty="0"/>
                  <a:t>人工智能技术应用（</a:t>
                </a:r>
                <a14:m>
                  <m:oMath xmlns:m="http://schemas.openxmlformats.org/officeDocument/2006/math">
                    <m:r>
                      <a:rPr lang="en-GB" altLang="zh-CN" sz="2000" i="1">
                        <a:latin typeface="Cambria Math" panose="02040503050406030204" pitchFamily="18" charset="0"/>
                      </a:rPr>
                      <m:t>𝐴</m:t>
                    </m:r>
                    <m:sSub>
                      <m:sSubPr>
                        <m:ctrlPr>
                          <a:rPr lang="zh-CN" altLang="zh-CN" sz="2000" i="1">
                            <a:latin typeface="Cambria Math" panose="02040503050406030204" pitchFamily="18" charset="0"/>
                          </a:rPr>
                        </m:ctrlPr>
                      </m:sSubPr>
                      <m:e>
                        <m:r>
                          <a:rPr lang="en-GB" altLang="zh-CN" sz="2000" i="1">
                            <a:latin typeface="Cambria Math" panose="02040503050406030204" pitchFamily="18" charset="0"/>
                          </a:rPr>
                          <m:t>𝐼</m:t>
                        </m:r>
                      </m:e>
                      <m:sub>
                        <m:r>
                          <a:rPr lang="en-GB" altLang="zh-CN" sz="2000" i="1">
                            <a:latin typeface="Cambria Math" panose="02040503050406030204" pitchFamily="18" charset="0"/>
                          </a:rPr>
                          <m:t>𝑢𝑡𝑖𝑙𝑖𝑧𝑒</m:t>
                        </m:r>
                      </m:sub>
                    </m:sSub>
                  </m:oMath>
                </a14:m>
                <a:r>
                  <a:rPr lang="zh-CN" altLang="zh-CN" sz="2000" dirty="0"/>
                  <a:t>）的回归系数至少在</a:t>
                </a:r>
                <a:r>
                  <a:rPr lang="en-GB" altLang="zh-CN" sz="2000" dirty="0"/>
                  <a:t>1%</a:t>
                </a:r>
                <a:r>
                  <a:rPr lang="zh-CN" altLang="zh-CN" sz="2000" dirty="0"/>
                  <a:t>水平上显著为负，说明人工智能技术应用有助于提升企业投资效率；</a:t>
                </a:r>
                <a:r>
                  <a:rPr lang="zh-CN" altLang="en-US" sz="2000" dirty="0"/>
                  <a:t>根据第（</a:t>
                </a:r>
                <a:r>
                  <a:rPr lang="en-US" altLang="zh-CN" sz="2000" dirty="0"/>
                  <a:t>2</a:t>
                </a:r>
                <a:r>
                  <a:rPr lang="zh-CN" altLang="en-US" sz="2000" dirty="0"/>
                  <a:t>）、（</a:t>
                </a:r>
                <a:r>
                  <a:rPr lang="en-US" altLang="zh-CN" sz="2000" dirty="0"/>
                  <a:t>3</a:t>
                </a:r>
                <a:r>
                  <a:rPr lang="zh-CN" altLang="en-US" sz="2000" dirty="0"/>
                  <a:t>）列的估计系数可知，当人工智能技术应用增加一单位时，过度投资与投资不足分别在</a:t>
                </a:r>
                <a:r>
                  <a:rPr lang="en-US" altLang="zh-CN" sz="2000" dirty="0"/>
                  <a:t>1%</a:t>
                </a:r>
                <a:r>
                  <a:rPr lang="zh-CN" altLang="en-US" sz="2000" dirty="0"/>
                  <a:t>的显著性水平上降低了</a:t>
                </a:r>
                <a:r>
                  <a:rPr lang="en-US" altLang="zh-CN" sz="2000" dirty="0"/>
                  <a:t>0.0037</a:t>
                </a:r>
                <a:r>
                  <a:rPr lang="zh-CN" altLang="en-US" sz="2000" dirty="0"/>
                  <a:t>与</a:t>
                </a:r>
                <a:r>
                  <a:rPr lang="en-US" altLang="zh-CN" sz="2000" dirty="0"/>
                  <a:t>0.0031</a:t>
                </a:r>
                <a:r>
                  <a:rPr lang="zh-CN" altLang="en-US" sz="2000" dirty="0"/>
                  <a:t>。</a:t>
                </a:r>
              </a:p>
            </p:txBody>
          </p:sp>
        </mc:Choice>
        <mc:Fallback>
          <p:sp>
            <p:nvSpPr>
              <p:cNvPr id="3" name="内容占位符 2">
                <a:extLst>
                  <a:ext uri="{FF2B5EF4-FFF2-40B4-BE49-F238E27FC236}">
                    <a16:creationId xmlns:a16="http://schemas.microsoft.com/office/drawing/2014/main" id="{C0E11635-9FFF-4C7E-3A74-613BC937C011}"/>
                  </a:ext>
                </a:extLst>
              </p:cNvPr>
              <p:cNvSpPr>
                <a:spLocks noGrp="1" noRot="1" noChangeAspect="1" noMove="1" noResize="1" noEditPoints="1" noAdjustHandles="1" noChangeArrowheads="1" noChangeShapeType="1" noTextEdit="1"/>
              </p:cNvSpPr>
              <p:nvPr>
                <p:ph sz="half" idx="1"/>
              </p:nvPr>
            </p:nvSpPr>
            <p:spPr>
              <a:blipFill>
                <a:blip r:embed="rId3"/>
                <a:stretch>
                  <a:fillRect l="-1882" t="-980" r="-24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5" name="内容占位符 4">
                <a:extLst>
                  <a:ext uri="{FF2B5EF4-FFF2-40B4-BE49-F238E27FC236}">
                    <a16:creationId xmlns:a16="http://schemas.microsoft.com/office/drawing/2014/main" id="{5519A185-B1CE-5E1E-9792-D2BBA1A68C25}"/>
                  </a:ext>
                </a:extLst>
              </p:cNvPr>
              <p:cNvGraphicFramePr>
                <a:graphicFrameLocks noGrp="1"/>
              </p:cNvGraphicFramePr>
              <p:nvPr>
                <p:ph sz="half" idx="2"/>
                <p:extLst>
                  <p:ext uri="{D42A27DB-BD31-4B8C-83A1-F6EECF244321}">
                    <p14:modId xmlns:p14="http://schemas.microsoft.com/office/powerpoint/2010/main" val="2049592431"/>
                  </p:ext>
                </p:extLst>
              </p:nvPr>
            </p:nvGraphicFramePr>
            <p:xfrm>
              <a:off x="6306670" y="1027906"/>
              <a:ext cx="5181600" cy="5486400"/>
            </p:xfrm>
            <a:graphic>
              <a:graphicData uri="http://schemas.openxmlformats.org/drawingml/2006/table">
                <a:tbl>
                  <a:tblPr firstRow="1" firstCol="1" bandRow="1">
                    <a:tableStyleId>{5C22544A-7EE6-4342-B048-85BDC9FD1C3A}</a:tableStyleId>
                  </a:tblPr>
                  <a:tblGrid>
                    <a:gridCol w="1304727">
                      <a:extLst>
                        <a:ext uri="{9D8B030D-6E8A-4147-A177-3AD203B41FA5}">
                          <a16:colId xmlns:a16="http://schemas.microsoft.com/office/drawing/2014/main" val="312411898"/>
                        </a:ext>
                      </a:extLst>
                    </a:gridCol>
                    <a:gridCol w="1304727">
                      <a:extLst>
                        <a:ext uri="{9D8B030D-6E8A-4147-A177-3AD203B41FA5}">
                          <a16:colId xmlns:a16="http://schemas.microsoft.com/office/drawing/2014/main" val="2973978504"/>
                        </a:ext>
                      </a:extLst>
                    </a:gridCol>
                    <a:gridCol w="1304727">
                      <a:extLst>
                        <a:ext uri="{9D8B030D-6E8A-4147-A177-3AD203B41FA5}">
                          <a16:colId xmlns:a16="http://schemas.microsoft.com/office/drawing/2014/main" val="493633448"/>
                        </a:ext>
                      </a:extLst>
                    </a:gridCol>
                    <a:gridCol w="1267419">
                      <a:extLst>
                        <a:ext uri="{9D8B030D-6E8A-4147-A177-3AD203B41FA5}">
                          <a16:colId xmlns:a16="http://schemas.microsoft.com/office/drawing/2014/main" val="2088699212"/>
                        </a:ext>
                      </a:extLst>
                    </a:gridCol>
                  </a:tblGrid>
                  <a:tr h="163466">
                    <a:tc rowSpan="2">
                      <a:txBody>
                        <a:bodyPr/>
                        <a:lstStyle/>
                        <a:p>
                          <a:pPr indent="127000" algn="ctr">
                            <a:buNone/>
                          </a:pPr>
                          <a:r>
                            <a:rPr lang="zh-CN" sz="1200" kern="0" baseline="0" dirty="0">
                              <a:solidFill>
                                <a:schemeClr val="tx1"/>
                              </a:solidFill>
                              <a:effectLst/>
                              <a:latin typeface="+mn-ea"/>
                              <a:ea typeface="+mn-ea"/>
                            </a:rPr>
                            <a:t>变量</a:t>
                          </a:r>
                          <a:endParaRPr lang="zh-CN" sz="1200" kern="100" baseline="0" dirty="0">
                            <a:solidFill>
                              <a:schemeClr val="tx1"/>
                            </a:solidFill>
                            <a:effectLst/>
                            <a:latin typeface="+mn-ea"/>
                            <a:ea typeface="+mn-ea"/>
                          </a:endParaRPr>
                        </a:p>
                      </a:txBody>
                      <a:tcPr marL="33793" marR="33793"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200" kern="0" baseline="0" dirty="0">
                              <a:solidFill>
                                <a:schemeClr val="tx1"/>
                              </a:solidFill>
                              <a:effectLst/>
                              <a:latin typeface="Times New Roman" panose="02020603050405020304" pitchFamily="18" charset="0"/>
                              <a:ea typeface="宋体" panose="02010600030101010101" pitchFamily="2" charset="-122"/>
                            </a:rPr>
                            <a:t>(1)</a:t>
                          </a:r>
                          <a:endParaRPr lang="zh-CN" sz="1200" kern="100" baseline="0" dirty="0">
                            <a:solidFill>
                              <a:schemeClr val="tx1"/>
                            </a:solidFill>
                            <a:effectLst/>
                            <a:latin typeface="Times New Roman" panose="02020603050405020304" pitchFamily="18" charset="0"/>
                            <a:ea typeface="宋体" panose="02010600030101010101" pitchFamily="2" charset="-122"/>
                          </a:endParaRPr>
                        </a:p>
                      </a:txBody>
                      <a:tcPr marL="33793" marR="33793"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0" baseline="0" dirty="0">
                              <a:solidFill>
                                <a:schemeClr val="tx1"/>
                              </a:solidFill>
                              <a:effectLst/>
                              <a:latin typeface="Times New Roman" panose="02020603050405020304" pitchFamily="18" charset="0"/>
                              <a:ea typeface="宋体" panose="02010600030101010101" pitchFamily="2" charset="-122"/>
                            </a:rPr>
                            <a:t>(2)</a:t>
                          </a:r>
                          <a:endParaRPr lang="zh-CN" sz="1200" kern="100" baseline="0" dirty="0">
                            <a:solidFill>
                              <a:schemeClr val="tx1"/>
                            </a:solidFill>
                            <a:effectLst/>
                            <a:latin typeface="Times New Roman" panose="02020603050405020304" pitchFamily="18" charset="0"/>
                            <a:ea typeface="宋体" panose="02010600030101010101" pitchFamily="2" charset="-122"/>
                          </a:endParaRPr>
                        </a:p>
                      </a:txBody>
                      <a:tcPr marL="33793" marR="33793"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(3)</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60439365"/>
                      </a:ext>
                    </a:extLst>
                  </a:tr>
                  <a:tr h="163466">
                    <a:tc vMerge="1">
                      <a:txBody>
                        <a:bodyPr/>
                        <a:lstStyle/>
                        <a:p>
                          <a:endParaRPr lang="zh-CN" altLang="en-US"/>
                        </a:p>
                      </a:txBody>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𝐼𝑛𝑣</m:t>
                                </m:r>
                                <m:r>
                                  <a:rPr lang="en-GB" sz="1200" kern="0" baseline="0" smtClean="0">
                                    <a:solidFill>
                                      <a:schemeClr val="tx1"/>
                                    </a:solidFill>
                                    <a:effectLst/>
                                    <a:latin typeface="Cambria Math" panose="02040503050406030204" pitchFamily="18" charset="0"/>
                                  </a:rPr>
                                  <m:t>_</m:t>
                                </m:r>
                                <m:r>
                                  <a:rPr lang="en-GB" sz="1200" kern="0" baseline="0" smtClean="0">
                                    <a:solidFill>
                                      <a:schemeClr val="tx1"/>
                                    </a:solidFill>
                                    <a:effectLst/>
                                    <a:latin typeface="Cambria Math" panose="02040503050406030204" pitchFamily="18" charset="0"/>
                                  </a:rPr>
                                  <m:t>𝑒</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𝑂𝑣𝑒𝑟𝐼𝑛𝑣</m:t>
                                </m:r>
                                <m:r>
                                  <a:rPr lang="en-GB" sz="1200" kern="0" baseline="0" smtClean="0">
                                    <a:solidFill>
                                      <a:schemeClr val="tx1"/>
                                    </a:solidFill>
                                    <a:effectLst/>
                                    <a:latin typeface="Cambria Math" panose="02040503050406030204" pitchFamily="18" charset="0"/>
                                  </a:rPr>
                                  <m:t>_</m:t>
                                </m:r>
                                <m:r>
                                  <a:rPr lang="en-GB" sz="1200" kern="0" baseline="0" smtClean="0">
                                    <a:solidFill>
                                      <a:schemeClr val="tx1"/>
                                    </a:solidFill>
                                    <a:effectLst/>
                                    <a:latin typeface="Cambria Math" panose="02040503050406030204" pitchFamily="18" charset="0"/>
                                  </a:rPr>
                                  <m:t>𝑒</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𝑈𝑛𝑑𝑒𝑟𝐼𝑛𝑣</m:t>
                                </m:r>
                                <m:r>
                                  <a:rPr lang="en-GB" sz="1200" kern="0" baseline="0" smtClean="0">
                                    <a:solidFill>
                                      <a:schemeClr val="tx1"/>
                                    </a:solidFill>
                                    <a:effectLst/>
                                    <a:latin typeface="Cambria Math" panose="02040503050406030204" pitchFamily="18" charset="0"/>
                                  </a:rPr>
                                  <m:t>_</m:t>
                                </m:r>
                                <m:r>
                                  <a:rPr lang="en-GB" sz="1200" kern="0" baseline="0" smtClean="0">
                                    <a:solidFill>
                                      <a:schemeClr val="tx1"/>
                                    </a:solidFill>
                                    <a:effectLst/>
                                    <a:latin typeface="Cambria Math" panose="02040503050406030204" pitchFamily="18" charset="0"/>
                                  </a:rPr>
                                  <m:t>𝑒</m:t>
                                </m:r>
                              </m:oMath>
                            </m:oMathPara>
                          </a14:m>
                          <a:endParaRPr lang="zh-CN" sz="1200" kern="100" baseline="0" dirty="0">
                            <a:solidFill>
                              <a:schemeClr val="tx1"/>
                            </a:solidFill>
                            <a:effectLst/>
                            <a:latin typeface="Times New Roman" panose="02020603050405020304" pitchFamily="18" charset="0"/>
                            <a:ea typeface="宋体" panose="02010600030101010101" pitchFamily="2" charset="-122"/>
                          </a:endParaRPr>
                        </a:p>
                      </a:txBody>
                      <a:tcPr marL="33793" marR="33793" marT="0" marB="0" anchor="ctr">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0021810"/>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𝐴</m:t>
                                </m:r>
                                <m:sSub>
                                  <m:sSubPr>
                                    <m:ctrlPr>
                                      <a:rPr lang="zh-CN" sz="1200" i="1" kern="0" baseline="0">
                                        <a:solidFill>
                                          <a:schemeClr val="tx1"/>
                                        </a:solidFill>
                                        <a:effectLst/>
                                        <a:latin typeface="Cambria Math" panose="02040503050406030204" pitchFamily="18" charset="0"/>
                                      </a:rPr>
                                    </m:ctrlPr>
                                  </m:sSubPr>
                                  <m:e>
                                    <m:r>
                                      <a:rPr lang="en-GB" sz="1200" kern="0" baseline="0">
                                        <a:solidFill>
                                          <a:schemeClr val="tx1"/>
                                        </a:solidFill>
                                        <a:effectLst/>
                                        <a:latin typeface="Cambria Math" panose="02040503050406030204" pitchFamily="18" charset="0"/>
                                      </a:rPr>
                                      <m:t>𝐼</m:t>
                                    </m:r>
                                  </m:e>
                                  <m:sub>
                                    <m:r>
                                      <a:rPr lang="en-GB" sz="1200" kern="0" baseline="0">
                                        <a:solidFill>
                                          <a:schemeClr val="tx1"/>
                                        </a:solidFill>
                                        <a:effectLst/>
                                        <a:latin typeface="Cambria Math" panose="02040503050406030204" pitchFamily="18" charset="0"/>
                                      </a:rPr>
                                      <m:t>𝑢𝑡𝑖𝑙𝑖𝑧𝑒</m:t>
                                    </m:r>
                                  </m:sub>
                                </m:sSub>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-0.0033***</a:t>
                          </a:r>
                          <a:endParaRPr lang="zh-CN" sz="1200" kern="100">
                            <a:effectLst/>
                            <a:latin typeface="Times New Roman" panose="02020603050405020304" pitchFamily="18" charset="0"/>
                            <a:ea typeface="宋体" panose="02010600030101010101" pitchFamily="2" charset="-122"/>
                          </a:endParaRPr>
                        </a:p>
                      </a:txBody>
                      <a:tcPr marL="68580" marR="68580" marT="0" marB="0">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-0.0037**</a:t>
                          </a:r>
                          <a:endParaRPr lang="zh-CN" sz="1200" kern="100">
                            <a:effectLst/>
                            <a:latin typeface="Times New Roman" panose="02020603050405020304" pitchFamily="18" charset="0"/>
                            <a:ea typeface="宋体" panose="02010600030101010101" pitchFamily="2" charset="-122"/>
                          </a:endParaRPr>
                        </a:p>
                      </a:txBody>
                      <a:tcPr marL="68580" marR="68580" marT="0" marB="0">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-0.0031***</a:t>
                          </a:r>
                          <a:endParaRPr lang="zh-CN" sz="1200" kern="100">
                            <a:effectLst/>
                            <a:latin typeface="Times New Roman" panose="02020603050405020304" pitchFamily="18" charset="0"/>
                            <a:ea typeface="宋体" panose="02010600030101010101" pitchFamily="2" charset="-122"/>
                          </a:endParaRPr>
                        </a:p>
                      </a:txBody>
                      <a:tcPr marL="68580" marR="68580" marT="0" marB="0">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39453768"/>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(0.0007)</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(0.0005)</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2210842857"/>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𝐴𝑔𝑒</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-0.0118***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-0.0274***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0.0092***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3166822328"/>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4012606430"/>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𝐿𝑒𝑣𝑒𝑟𝑎𝑔𝑒</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0.0273***</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0.0691***</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312409219"/>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(0.0094)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(0.0025)</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3796196473"/>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𝑆𝑖𝑧𝑒</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0.0198***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780178600"/>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3524142000"/>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𝐿𝑖𝑞𝑢𝑖𝑑</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0.0319***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0.0598***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0.0005</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2993004247"/>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(0.0044)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(0.0101)</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(0.0025)</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365747203"/>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𝐵𝑜𝑎𝑟𝑑</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-0.0087</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4230241970"/>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(0.0075)</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001073926"/>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𝑃𝑎𝑡𝑒𝑛𝑡</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0.0031***</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0.0007</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757908317"/>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549072353"/>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𝑆𝑜𝑒</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-0.0728***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-0.1348***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-0.0090**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419234396"/>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(0.0064)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(0.0123)</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2397847074"/>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𝐶𝑓𝑙𝑜𝑤</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0.0089**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0.0290**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649290654"/>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(0.0044)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(0.0134)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429557994"/>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𝑇𝑜𝑏𝑖𝑛</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4107260288"/>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(0.0001)</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(0.0001)</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790205767"/>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𝐺𝑟𝑜𝑤𝑡h</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2904567066"/>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105826830"/>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𝐶𝑜𝑛𝑠𝑡𝑎𝑛𝑡</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-0.3246***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0.1002***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693510825"/>
                      </a:ext>
                    </a:extLst>
                  </a:tr>
                  <a:tr h="163466">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(0.0222)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(0.0562)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(0.0142)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3101133837"/>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𝐹𝑖𝑟𝑚</m:t>
                                </m:r>
                                <m:r>
                                  <a:rPr lang="en-GB" sz="1200" kern="0" baseline="0" smtClean="0">
                                    <a:solidFill>
                                      <a:schemeClr val="tx1"/>
                                    </a:solidFill>
                                    <a:effectLst/>
                                    <a:latin typeface="Cambria Math" panose="02040503050406030204" pitchFamily="18" charset="0"/>
                                  </a:rPr>
                                  <m:t> </m:t>
                                </m:r>
                                <m:r>
                                  <a:rPr lang="en-GB" sz="1200" kern="0" baseline="0" smtClean="0">
                                    <a:solidFill>
                                      <a:schemeClr val="tx1"/>
                                    </a:solidFill>
                                    <a:effectLst/>
                                    <a:latin typeface="Cambria Math" panose="02040503050406030204" pitchFamily="18" charset="0"/>
                                  </a:rPr>
                                  <m:t>𝐹𝐸</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extLst>
                      <a:ext uri="{0D108BD9-81ED-4DB2-BD59-A6C34878D82A}">
                        <a16:rowId xmlns:a16="http://schemas.microsoft.com/office/drawing/2014/main" val="1157855332"/>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𝑌𝑒𝑎𝑟</m:t>
                                </m:r>
                                <m:r>
                                  <a:rPr lang="en-GB" sz="1200" kern="0" baseline="0" smtClean="0">
                                    <a:solidFill>
                                      <a:schemeClr val="tx1"/>
                                    </a:solidFill>
                                    <a:effectLst/>
                                    <a:latin typeface="Cambria Math" panose="02040503050406030204" pitchFamily="18" charset="0"/>
                                  </a:rPr>
                                  <m:t> </m:t>
                                </m:r>
                                <m:r>
                                  <a:rPr lang="en-GB" sz="1200" kern="0" baseline="0" smtClean="0">
                                    <a:solidFill>
                                      <a:schemeClr val="tx1"/>
                                    </a:solidFill>
                                    <a:effectLst/>
                                    <a:latin typeface="Cambria Math" panose="02040503050406030204" pitchFamily="18" charset="0"/>
                                  </a:rPr>
                                  <m:t>𝐹𝐸</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extLst>
                      <a:ext uri="{0D108BD9-81ED-4DB2-BD59-A6C34878D82A}">
                        <a16:rowId xmlns:a16="http://schemas.microsoft.com/office/drawing/2014/main" val="1739845059"/>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kern="0" baseline="0" smtClean="0">
                                    <a:solidFill>
                                      <a:schemeClr val="tx1"/>
                                    </a:solidFill>
                                    <a:effectLst/>
                                    <a:latin typeface="Cambria Math" panose="02040503050406030204" pitchFamily="18" charset="0"/>
                                  </a:rPr>
                                  <m:t>𝑂𝑏𝑠𝑒𝑟𝑣𝑎𝑡𝑖𝑜𝑛𝑠</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40,107</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14,144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24,769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863028132"/>
                      </a:ext>
                    </a:extLst>
                  </a:tr>
                  <a:tr h="163466">
                    <a:tc>
                      <a:txBody>
                        <a:bodyPr/>
                        <a:lstStyle/>
                        <a:p>
                          <a:pPr indent="127000" algn="ctr">
                            <a:buNone/>
                          </a:pPr>
                          <a14:m>
                            <m:oMathPara xmlns:m="http://schemas.openxmlformats.org/officeDocument/2006/math">
                              <m:oMathParaPr>
                                <m:jc m:val="centerGroup"/>
                              </m:oMathParaPr>
                              <m:oMath xmlns:m="http://schemas.openxmlformats.org/officeDocument/2006/math">
                                <m:sSup>
                                  <m:sSupPr>
                                    <m:ctrlPr>
                                      <a:rPr lang="zh-CN" sz="1200" i="1" kern="0" baseline="0" smtClean="0">
                                        <a:solidFill>
                                          <a:schemeClr val="tx1"/>
                                        </a:solidFill>
                                        <a:effectLst/>
                                        <a:latin typeface="Cambria Math" panose="02040503050406030204" pitchFamily="18" charset="0"/>
                                      </a:rPr>
                                    </m:ctrlPr>
                                  </m:sSupPr>
                                  <m:e>
                                    <m:r>
                                      <a:rPr lang="en-GB" sz="1200" kern="0" baseline="0">
                                        <a:solidFill>
                                          <a:schemeClr val="tx1"/>
                                        </a:solidFill>
                                        <a:effectLst/>
                                        <a:latin typeface="Cambria Math" panose="02040503050406030204" pitchFamily="18" charset="0"/>
                                      </a:rPr>
                                      <m:t>𝑅</m:t>
                                    </m:r>
                                  </m:e>
                                  <m:sup>
                                    <m:r>
                                      <a:rPr lang="en-GB" sz="1200" kern="0" baseline="0">
                                        <a:solidFill>
                                          <a:schemeClr val="tx1"/>
                                        </a:solidFill>
                                        <a:effectLst/>
                                        <a:latin typeface="Cambria Math" panose="02040503050406030204" pitchFamily="18" charset="0"/>
                                      </a:rPr>
                                      <m:t>2</m:t>
                                    </m:r>
                                  </m:sup>
                                </m:sSup>
                                <m:r>
                                  <a:rPr lang="en-GB" sz="1200" kern="0" baseline="0">
                                    <a:solidFill>
                                      <a:schemeClr val="tx1"/>
                                    </a:solidFill>
                                    <a:effectLst/>
                                    <a:latin typeface="Cambria Math" panose="02040503050406030204" pitchFamily="18" charset="0"/>
                                  </a:rPr>
                                  <m:t>_</m:t>
                                </m:r>
                                <m:r>
                                  <a:rPr lang="en-GB" sz="1200" kern="0" baseline="0">
                                    <a:solidFill>
                                      <a:schemeClr val="tx1"/>
                                    </a:solidFill>
                                    <a:effectLst/>
                                    <a:latin typeface="Cambria Math" panose="02040503050406030204" pitchFamily="18" charset="0"/>
                                  </a:rPr>
                                  <m:t>𝑎𝑑𝑗𝑢𝑠𝑡𝑒𝑑</m:t>
                                </m:r>
                              </m:oMath>
                            </m:oMathPara>
                          </a14:m>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0.1964</a:t>
                          </a:r>
                          <a:endParaRPr lang="zh-CN" sz="1200" kern="100">
                            <a:effectLst/>
                            <a:latin typeface="Times New Roman" panose="02020603050405020304" pitchFamily="18" charset="0"/>
                            <a:ea typeface="宋体" panose="02010600030101010101" pitchFamily="2" charset="-122"/>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0.2403</a:t>
                          </a:r>
                          <a:endParaRPr lang="zh-CN" sz="1200" kern="100">
                            <a:effectLst/>
                            <a:latin typeface="Times New Roman" panose="02020603050405020304" pitchFamily="18" charset="0"/>
                            <a:ea typeface="宋体" panose="02010600030101010101" pitchFamily="2" charset="-122"/>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0.2395</a:t>
                          </a:r>
                          <a:endParaRPr lang="zh-CN" sz="1200" kern="100" dirty="0">
                            <a:effectLst/>
                            <a:latin typeface="Times New Roman" panose="02020603050405020304" pitchFamily="18" charset="0"/>
                            <a:ea typeface="宋体" panose="02010600030101010101" pitchFamily="2" charset="-122"/>
                          </a:endParaRP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7750388"/>
                      </a:ext>
                    </a:extLst>
                  </a:tr>
                </a:tbl>
              </a:graphicData>
            </a:graphic>
          </p:graphicFrame>
        </mc:Choice>
        <mc:Fallback xmlns="">
          <p:graphicFrame>
            <p:nvGraphicFramePr>
              <p:cNvPr id="5" name="内容占位符 4">
                <a:extLst>
                  <a:ext uri="{FF2B5EF4-FFF2-40B4-BE49-F238E27FC236}">
                    <a16:creationId xmlns:a16="http://schemas.microsoft.com/office/drawing/2014/main" id="{5519A185-B1CE-5E1E-9792-D2BBA1A68C25}"/>
                  </a:ext>
                </a:extLst>
              </p:cNvPr>
              <p:cNvGraphicFramePr>
                <a:graphicFrameLocks noGrp="1"/>
              </p:cNvGraphicFramePr>
              <p:nvPr>
                <p:ph sz="half" idx="2"/>
                <p:extLst>
                  <p:ext uri="{D42A27DB-BD31-4B8C-83A1-F6EECF244321}">
                    <p14:modId xmlns:p14="http://schemas.microsoft.com/office/powerpoint/2010/main" val="2049592431"/>
                  </p:ext>
                </p:extLst>
              </p:nvPr>
            </p:nvGraphicFramePr>
            <p:xfrm>
              <a:off x="6306670" y="1027906"/>
              <a:ext cx="5181600" cy="5486400"/>
            </p:xfrm>
            <a:graphic>
              <a:graphicData uri="http://schemas.openxmlformats.org/drawingml/2006/table">
                <a:tbl>
                  <a:tblPr firstRow="1" firstCol="1" bandRow="1">
                    <a:tableStyleId>{5C22544A-7EE6-4342-B048-85BDC9FD1C3A}</a:tableStyleId>
                  </a:tblPr>
                  <a:tblGrid>
                    <a:gridCol w="1304727">
                      <a:extLst>
                        <a:ext uri="{9D8B030D-6E8A-4147-A177-3AD203B41FA5}">
                          <a16:colId xmlns:a16="http://schemas.microsoft.com/office/drawing/2014/main" val="312411898"/>
                        </a:ext>
                      </a:extLst>
                    </a:gridCol>
                    <a:gridCol w="1304727">
                      <a:extLst>
                        <a:ext uri="{9D8B030D-6E8A-4147-A177-3AD203B41FA5}">
                          <a16:colId xmlns:a16="http://schemas.microsoft.com/office/drawing/2014/main" val="2973978504"/>
                        </a:ext>
                      </a:extLst>
                    </a:gridCol>
                    <a:gridCol w="1304727">
                      <a:extLst>
                        <a:ext uri="{9D8B030D-6E8A-4147-A177-3AD203B41FA5}">
                          <a16:colId xmlns:a16="http://schemas.microsoft.com/office/drawing/2014/main" val="493633448"/>
                        </a:ext>
                      </a:extLst>
                    </a:gridCol>
                    <a:gridCol w="1267419">
                      <a:extLst>
                        <a:ext uri="{9D8B030D-6E8A-4147-A177-3AD203B41FA5}">
                          <a16:colId xmlns:a16="http://schemas.microsoft.com/office/drawing/2014/main" val="2088699212"/>
                        </a:ext>
                      </a:extLst>
                    </a:gridCol>
                  </a:tblGrid>
                  <a:tr h="182880">
                    <a:tc rowSpan="2">
                      <a:txBody>
                        <a:bodyPr/>
                        <a:lstStyle/>
                        <a:p>
                          <a:pPr indent="127000" algn="ctr">
                            <a:buNone/>
                          </a:pPr>
                          <a:r>
                            <a:rPr lang="zh-CN" sz="1200" kern="0" baseline="0" dirty="0">
                              <a:solidFill>
                                <a:schemeClr val="tx1"/>
                              </a:solidFill>
                              <a:effectLst/>
                              <a:latin typeface="+mn-ea"/>
                              <a:ea typeface="+mn-ea"/>
                            </a:rPr>
                            <a:t>变量</a:t>
                          </a:r>
                          <a:endParaRPr lang="zh-CN" sz="1200" kern="100" baseline="0" dirty="0">
                            <a:solidFill>
                              <a:schemeClr val="tx1"/>
                            </a:solidFill>
                            <a:effectLst/>
                            <a:latin typeface="+mn-ea"/>
                            <a:ea typeface="+mn-ea"/>
                          </a:endParaRPr>
                        </a:p>
                      </a:txBody>
                      <a:tcPr marL="33793" marR="33793"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200" kern="0" baseline="0" dirty="0">
                              <a:solidFill>
                                <a:schemeClr val="tx1"/>
                              </a:solidFill>
                              <a:effectLst/>
                              <a:latin typeface="Times New Roman" panose="02020603050405020304" pitchFamily="18" charset="0"/>
                              <a:ea typeface="宋体" panose="02010600030101010101" pitchFamily="2" charset="-122"/>
                            </a:rPr>
                            <a:t>(1)</a:t>
                          </a:r>
                          <a:endParaRPr lang="zh-CN" sz="1200" kern="100" baseline="0" dirty="0">
                            <a:solidFill>
                              <a:schemeClr val="tx1"/>
                            </a:solidFill>
                            <a:effectLst/>
                            <a:latin typeface="Times New Roman" panose="02020603050405020304" pitchFamily="18" charset="0"/>
                            <a:ea typeface="宋体" panose="02010600030101010101" pitchFamily="2" charset="-122"/>
                          </a:endParaRPr>
                        </a:p>
                      </a:txBody>
                      <a:tcPr marL="33793" marR="33793"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0" baseline="0" dirty="0">
                              <a:solidFill>
                                <a:schemeClr val="tx1"/>
                              </a:solidFill>
                              <a:effectLst/>
                              <a:latin typeface="Times New Roman" panose="02020603050405020304" pitchFamily="18" charset="0"/>
                              <a:ea typeface="宋体" panose="02010600030101010101" pitchFamily="2" charset="-122"/>
                            </a:rPr>
                            <a:t>(2)</a:t>
                          </a:r>
                          <a:endParaRPr lang="zh-CN" sz="1200" kern="100" baseline="0" dirty="0">
                            <a:solidFill>
                              <a:schemeClr val="tx1"/>
                            </a:solidFill>
                            <a:effectLst/>
                            <a:latin typeface="Times New Roman" panose="02020603050405020304" pitchFamily="18" charset="0"/>
                            <a:ea typeface="宋体" panose="02010600030101010101" pitchFamily="2" charset="-122"/>
                          </a:endParaRPr>
                        </a:p>
                      </a:txBody>
                      <a:tcPr marL="33793" marR="33793"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(3)</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60439365"/>
                      </a:ext>
                    </a:extLst>
                  </a:tr>
                  <a:tr h="182880">
                    <a:tc vMerge="1">
                      <a:txBody>
                        <a:bodyPr/>
                        <a:lstStyle/>
                        <a:p>
                          <a:endParaRPr lang="zh-CN" altLang="en-US"/>
                        </a:p>
                      </a:txBody>
                      <a:tcPr/>
                    </a:tc>
                    <a:tc>
                      <a:txBody>
                        <a:bodyPr/>
                        <a:lstStyle/>
                        <a:p>
                          <a:endParaRPr lang="zh-CN"/>
                        </a:p>
                      </a:txBody>
                      <a:tcPr marL="33793" marR="33793" marT="0" marB="0" anchor="ctr">
                        <a:lnB w="6350" cap="flat" cmpd="sng" algn="ctr">
                          <a:solidFill>
                            <a:schemeClr val="tx1"/>
                          </a:solidFill>
                          <a:prstDash val="solid"/>
                          <a:round/>
                          <a:headEnd type="none" w="med" len="med"/>
                          <a:tailEnd type="none" w="med" len="med"/>
                        </a:lnB>
                        <a:blipFill>
                          <a:blip r:embed="rId4"/>
                          <a:stretch>
                            <a:fillRect l="-100000" t="-123333" r="-198140" b="-2853333"/>
                          </a:stretch>
                        </a:blipFill>
                      </a:tcPr>
                    </a:tc>
                    <a:tc>
                      <a:txBody>
                        <a:bodyPr/>
                        <a:lstStyle/>
                        <a:p>
                          <a:endParaRPr lang="zh-CN"/>
                        </a:p>
                      </a:txBody>
                      <a:tcPr marL="33793" marR="33793" marT="0" marB="0" anchor="ctr">
                        <a:lnB w="6350" cap="flat" cmpd="sng" algn="ctr">
                          <a:solidFill>
                            <a:schemeClr val="tx1"/>
                          </a:solidFill>
                          <a:prstDash val="solid"/>
                          <a:round/>
                          <a:headEnd type="none" w="med" len="med"/>
                          <a:tailEnd type="none" w="med" len="med"/>
                        </a:lnB>
                        <a:blipFill>
                          <a:blip r:embed="rId4"/>
                          <a:stretch>
                            <a:fillRect l="-200935" t="-123333" r="-99065" b="-2853333"/>
                          </a:stretch>
                        </a:blipFill>
                      </a:tcPr>
                    </a:tc>
                    <a:tc>
                      <a:txBody>
                        <a:bodyPr/>
                        <a:lstStyle/>
                        <a:p>
                          <a:endParaRPr lang="zh-CN"/>
                        </a:p>
                      </a:txBody>
                      <a:tcPr marL="33793" marR="33793" marT="0" marB="0" anchor="ctr">
                        <a:lnB w="6350" cap="flat" cmpd="sng" algn="ctr">
                          <a:solidFill>
                            <a:schemeClr val="tx1"/>
                          </a:solidFill>
                          <a:prstDash val="solid"/>
                          <a:round/>
                          <a:headEnd type="none" w="med" len="med"/>
                          <a:tailEnd type="none" w="med" len="med"/>
                        </a:lnB>
                        <a:blipFill>
                          <a:blip r:embed="rId4"/>
                          <a:stretch>
                            <a:fillRect l="-309615" t="-123333" r="-1923" b="-2853333"/>
                          </a:stretch>
                        </a:blipFill>
                      </a:tcPr>
                    </a:tc>
                    <a:extLst>
                      <a:ext uri="{0D108BD9-81ED-4DB2-BD59-A6C34878D82A}">
                        <a16:rowId xmlns:a16="http://schemas.microsoft.com/office/drawing/2014/main" val="3950021810"/>
                      </a:ext>
                    </a:extLst>
                  </a:tr>
                  <a:tr h="182880">
                    <a:tc>
                      <a:txBody>
                        <a:bodyPr/>
                        <a:lstStyle/>
                        <a:p>
                          <a:endParaRPr lang="zh-CN"/>
                        </a:p>
                      </a:txBody>
                      <a:tcPr marL="33793" marR="33793" marT="0" marB="0" anchor="ctr">
                        <a:lnT w="6350" cap="flat" cmpd="sng" algn="ctr">
                          <a:solidFill>
                            <a:schemeClr val="tx1"/>
                          </a:solidFill>
                          <a:prstDash val="solid"/>
                          <a:round/>
                          <a:headEnd type="none" w="med" len="med"/>
                          <a:tailEnd type="none" w="med" len="med"/>
                        </a:lnT>
                        <a:blipFill>
                          <a:blip r:embed="rId4"/>
                          <a:stretch>
                            <a:fillRect l="-467" t="-223333" r="-299533" b="-2753333"/>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-0.0033***</a:t>
                          </a:r>
                          <a:endParaRPr lang="zh-CN" sz="1200" kern="100">
                            <a:effectLst/>
                            <a:latin typeface="Times New Roman" panose="02020603050405020304" pitchFamily="18" charset="0"/>
                            <a:ea typeface="宋体" panose="02010600030101010101" pitchFamily="2" charset="-122"/>
                          </a:endParaRPr>
                        </a:p>
                      </a:txBody>
                      <a:tcPr marL="68580" marR="68580" marT="0" marB="0">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-0.0037**</a:t>
                          </a:r>
                          <a:endParaRPr lang="zh-CN" sz="1200" kern="100">
                            <a:effectLst/>
                            <a:latin typeface="Times New Roman" panose="02020603050405020304" pitchFamily="18" charset="0"/>
                            <a:ea typeface="宋体" panose="02010600030101010101" pitchFamily="2" charset="-122"/>
                          </a:endParaRPr>
                        </a:p>
                      </a:txBody>
                      <a:tcPr marL="68580" marR="68580" marT="0" marB="0">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-0.0031***</a:t>
                          </a:r>
                          <a:endParaRPr lang="zh-CN" sz="1200" kern="100">
                            <a:effectLst/>
                            <a:latin typeface="Times New Roman" panose="02020603050405020304" pitchFamily="18" charset="0"/>
                            <a:ea typeface="宋体" panose="02010600030101010101" pitchFamily="2" charset="-122"/>
                          </a:endParaRPr>
                        </a:p>
                      </a:txBody>
                      <a:tcPr marL="68580" marR="68580" marT="0" marB="0">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39453768"/>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(0.0007)</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(0.0005)</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2210842857"/>
                      </a:ext>
                    </a:extLst>
                  </a:tr>
                  <a:tr h="182880">
                    <a:tc>
                      <a:txBody>
                        <a:bodyPr/>
                        <a:lstStyle/>
                        <a:p>
                          <a:endParaRPr lang="zh-CN"/>
                        </a:p>
                      </a:txBody>
                      <a:tcPr marL="33793" marR="33793" marT="0" marB="0" anchor="ctr">
                        <a:blipFill>
                          <a:blip r:embed="rId4"/>
                          <a:stretch>
                            <a:fillRect l="-467" t="-423333" r="-299533" b="-2553333"/>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-0.0118***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-0.0274***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0.0092***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3166822328"/>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4012606430"/>
                      </a:ext>
                    </a:extLst>
                  </a:tr>
                  <a:tr h="182880">
                    <a:tc>
                      <a:txBody>
                        <a:bodyPr/>
                        <a:lstStyle/>
                        <a:p>
                          <a:endParaRPr lang="zh-CN"/>
                        </a:p>
                      </a:txBody>
                      <a:tcPr marL="33793" marR="33793" marT="0" marB="0" anchor="ctr">
                        <a:blipFill>
                          <a:blip r:embed="rId4"/>
                          <a:stretch>
                            <a:fillRect l="-467" t="-623333" r="-299533" b="-2353333"/>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0.0273***</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0.0691***</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312409219"/>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(0.0094)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(0.0025)</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3796196473"/>
                      </a:ext>
                    </a:extLst>
                  </a:tr>
                  <a:tr h="182880">
                    <a:tc>
                      <a:txBody>
                        <a:bodyPr/>
                        <a:lstStyle/>
                        <a:p>
                          <a:endParaRPr lang="zh-CN"/>
                        </a:p>
                      </a:txBody>
                      <a:tcPr marL="33793" marR="33793" marT="0" marB="0" anchor="ctr">
                        <a:blipFill>
                          <a:blip r:embed="rId4"/>
                          <a:stretch>
                            <a:fillRect l="-467" t="-823333" r="-299533" b="-2153333"/>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0.0198***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780178600"/>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3524142000"/>
                      </a:ext>
                    </a:extLst>
                  </a:tr>
                  <a:tr h="182880">
                    <a:tc>
                      <a:txBody>
                        <a:bodyPr/>
                        <a:lstStyle/>
                        <a:p>
                          <a:endParaRPr lang="zh-CN"/>
                        </a:p>
                      </a:txBody>
                      <a:tcPr marL="33793" marR="33793" marT="0" marB="0" anchor="ctr">
                        <a:blipFill>
                          <a:blip r:embed="rId4"/>
                          <a:stretch>
                            <a:fillRect l="-467" t="-1023333" r="-299533" b="-1953333"/>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0.0319***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0.0598***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0.0005</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2993004247"/>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(0.0044)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(0.0101)</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(0.0025)</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365747203"/>
                      </a:ext>
                    </a:extLst>
                  </a:tr>
                  <a:tr h="182880">
                    <a:tc>
                      <a:txBody>
                        <a:bodyPr/>
                        <a:lstStyle/>
                        <a:p>
                          <a:endParaRPr lang="zh-CN"/>
                        </a:p>
                      </a:txBody>
                      <a:tcPr marL="33793" marR="33793" marT="0" marB="0" anchor="ctr">
                        <a:blipFill>
                          <a:blip r:embed="rId4"/>
                          <a:stretch>
                            <a:fillRect l="-467" t="-1223333" r="-299533" b="-1753333"/>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-0.0087</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4230241970"/>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(0.0075)</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001073926"/>
                      </a:ext>
                    </a:extLst>
                  </a:tr>
                  <a:tr h="182880">
                    <a:tc>
                      <a:txBody>
                        <a:bodyPr/>
                        <a:lstStyle/>
                        <a:p>
                          <a:endParaRPr lang="zh-CN"/>
                        </a:p>
                      </a:txBody>
                      <a:tcPr marL="33793" marR="33793" marT="0" marB="0" anchor="ctr">
                        <a:blipFill>
                          <a:blip r:embed="rId4"/>
                          <a:stretch>
                            <a:fillRect l="-467" t="-1377419" r="-299533" b="-1500000"/>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0.0031***</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0.0007</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757908317"/>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549072353"/>
                      </a:ext>
                    </a:extLst>
                  </a:tr>
                  <a:tr h="182880">
                    <a:tc>
                      <a:txBody>
                        <a:bodyPr/>
                        <a:lstStyle/>
                        <a:p>
                          <a:endParaRPr lang="zh-CN"/>
                        </a:p>
                      </a:txBody>
                      <a:tcPr marL="33793" marR="33793" marT="0" marB="0" anchor="ctr">
                        <a:blipFill>
                          <a:blip r:embed="rId4"/>
                          <a:stretch>
                            <a:fillRect l="-467" t="-1626667" r="-299533" b="-1350000"/>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-0.0728***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-0.1348***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-0.0090**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419234396"/>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(0.0064)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(0.0123)</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2397847074"/>
                      </a:ext>
                    </a:extLst>
                  </a:tr>
                  <a:tr h="182880">
                    <a:tc>
                      <a:txBody>
                        <a:bodyPr/>
                        <a:lstStyle/>
                        <a:p>
                          <a:endParaRPr lang="zh-CN"/>
                        </a:p>
                      </a:txBody>
                      <a:tcPr marL="33793" marR="33793" marT="0" marB="0" anchor="ctr">
                        <a:blipFill>
                          <a:blip r:embed="rId4"/>
                          <a:stretch>
                            <a:fillRect l="-467" t="-1826667" r="-299533" b="-1150000"/>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0.0089**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0.0290**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649290654"/>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(0.0044)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(0.0134)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429557994"/>
                      </a:ext>
                    </a:extLst>
                  </a:tr>
                  <a:tr h="182880">
                    <a:tc>
                      <a:txBody>
                        <a:bodyPr/>
                        <a:lstStyle/>
                        <a:p>
                          <a:endParaRPr lang="zh-CN"/>
                        </a:p>
                      </a:txBody>
                      <a:tcPr marL="33793" marR="33793" marT="0" marB="0" anchor="ctr">
                        <a:blipFill>
                          <a:blip r:embed="rId4"/>
                          <a:stretch>
                            <a:fillRect l="-467" t="-2026667" r="-299533" b="-950000"/>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4107260288"/>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(0.0001)</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(0.0001)</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790205767"/>
                      </a:ext>
                    </a:extLst>
                  </a:tr>
                  <a:tr h="182880">
                    <a:tc>
                      <a:txBody>
                        <a:bodyPr/>
                        <a:lstStyle/>
                        <a:p>
                          <a:endParaRPr lang="zh-CN"/>
                        </a:p>
                      </a:txBody>
                      <a:tcPr marL="33793" marR="33793" marT="0" marB="0" anchor="ctr">
                        <a:blipFill>
                          <a:blip r:embed="rId4"/>
                          <a:stretch>
                            <a:fillRect l="-467" t="-2226667" r="-299533" b="-750000"/>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2904567066"/>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(0.0000)</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105826830"/>
                      </a:ext>
                    </a:extLst>
                  </a:tr>
                  <a:tr h="182880">
                    <a:tc>
                      <a:txBody>
                        <a:bodyPr/>
                        <a:lstStyle/>
                        <a:p>
                          <a:endParaRPr lang="zh-CN"/>
                        </a:p>
                      </a:txBody>
                      <a:tcPr marL="33793" marR="33793" marT="0" marB="0" anchor="ctr">
                        <a:blipFill>
                          <a:blip r:embed="rId4"/>
                          <a:stretch>
                            <a:fillRect l="-467" t="-2426667" r="-299533" b="-550000"/>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0.0018</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-0.3246***</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0.1002***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1693510825"/>
                      </a:ext>
                    </a:extLst>
                  </a:tr>
                  <a:tr h="182880">
                    <a:tc>
                      <a:txBody>
                        <a:bodyPr/>
                        <a:lstStyle/>
                        <a:p>
                          <a:pPr indent="127000" algn="ctr">
                            <a:buNone/>
                          </a:pPr>
                          <a:r>
                            <a:rPr lang="en-GB" sz="1200" kern="0" baseline="0">
                              <a:solidFill>
                                <a:schemeClr val="tx1"/>
                              </a:solidFill>
                              <a:effectLst/>
                              <a:latin typeface="Times New Roman" panose="02020603050405020304" pitchFamily="18" charset="0"/>
                              <a:ea typeface="宋体" panose="02010600030101010101" pitchFamily="2" charset="-122"/>
                            </a:rPr>
                            <a:t> </a:t>
                          </a:r>
                          <a:endParaRPr lang="zh-CN" sz="1200" kern="100" baseline="0">
                            <a:solidFill>
                              <a:schemeClr val="tx1"/>
                            </a:solidFill>
                            <a:effectLst/>
                            <a:latin typeface="Times New Roman" panose="02020603050405020304" pitchFamily="18" charset="0"/>
                            <a:ea typeface="宋体" panose="02010600030101010101" pitchFamily="2" charset="-122"/>
                          </a:endParaRPr>
                        </a:p>
                      </a:txBody>
                      <a:tcPr marL="33793" marR="33793"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(0.0222)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(0.0562)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(0.0142)</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3101133837"/>
                      </a:ext>
                    </a:extLst>
                  </a:tr>
                  <a:tr h="182880">
                    <a:tc>
                      <a:txBody>
                        <a:bodyPr/>
                        <a:lstStyle/>
                        <a:p>
                          <a:endParaRPr lang="zh-CN"/>
                        </a:p>
                      </a:txBody>
                      <a:tcPr marL="33793" marR="33793" marT="0" marB="0" anchor="ctr">
                        <a:blipFill>
                          <a:blip r:embed="rId4"/>
                          <a:stretch>
                            <a:fillRect l="-467" t="-2626667" r="-299533" b="-350000"/>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extLst>
                      <a:ext uri="{0D108BD9-81ED-4DB2-BD59-A6C34878D82A}">
                        <a16:rowId xmlns:a16="http://schemas.microsoft.com/office/drawing/2014/main" val="1157855332"/>
                      </a:ext>
                    </a:extLst>
                  </a:tr>
                  <a:tr h="182880">
                    <a:tc>
                      <a:txBody>
                        <a:bodyPr/>
                        <a:lstStyle/>
                        <a:p>
                          <a:endParaRPr lang="zh-CN"/>
                        </a:p>
                      </a:txBody>
                      <a:tcPr marL="33793" marR="33793" marT="0" marB="0" anchor="ctr">
                        <a:blipFill>
                          <a:blip r:embed="rId4"/>
                          <a:stretch>
                            <a:fillRect l="-467" t="-2726667" r="-299533" b="-250000"/>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68580" marR="68580" marT="0" marB="0" anchor="ctr">
                        <a:noFill/>
                      </a:tcPr>
                    </a:tc>
                    <a:extLst>
                      <a:ext uri="{0D108BD9-81ED-4DB2-BD59-A6C34878D82A}">
                        <a16:rowId xmlns:a16="http://schemas.microsoft.com/office/drawing/2014/main" val="1739845059"/>
                      </a:ext>
                    </a:extLst>
                  </a:tr>
                  <a:tr h="182880">
                    <a:tc>
                      <a:txBody>
                        <a:bodyPr/>
                        <a:lstStyle/>
                        <a:p>
                          <a:endParaRPr lang="zh-CN"/>
                        </a:p>
                      </a:txBody>
                      <a:tcPr marL="33793" marR="33793" marT="0" marB="0" anchor="ctr">
                        <a:blipFill>
                          <a:blip r:embed="rId4"/>
                          <a:stretch>
                            <a:fillRect l="-467" t="-2826667" r="-299533" b="-150000"/>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40,107</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14,144</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24,769</a:t>
                          </a:r>
                          <a:endParaRPr lang="zh-CN" sz="1200" kern="100">
                            <a:effectLst/>
                            <a:latin typeface="Times New Roman" panose="02020603050405020304" pitchFamily="18" charset="0"/>
                            <a:ea typeface="宋体" panose="02010600030101010101" pitchFamily="2" charset="-122"/>
                          </a:endParaRPr>
                        </a:p>
                      </a:txBody>
                      <a:tcPr marL="68580" marR="68580" marT="0" marB="0">
                        <a:noFill/>
                      </a:tcPr>
                    </a:tc>
                    <a:extLst>
                      <a:ext uri="{0D108BD9-81ED-4DB2-BD59-A6C34878D82A}">
                        <a16:rowId xmlns:a16="http://schemas.microsoft.com/office/drawing/2014/main" val="863028132"/>
                      </a:ext>
                    </a:extLst>
                  </a:tr>
                  <a:tr h="182880">
                    <a:tc>
                      <a:txBody>
                        <a:bodyPr/>
                        <a:lstStyle/>
                        <a:p>
                          <a:endParaRPr lang="zh-CN"/>
                        </a:p>
                      </a:txBody>
                      <a:tcPr marL="33793" marR="33793" marT="0" marB="0" anchor="ctr">
                        <a:lnB w="12700" cap="flat" cmpd="sng" algn="ctr">
                          <a:solidFill>
                            <a:schemeClr val="tx1"/>
                          </a:solidFill>
                          <a:prstDash val="solid"/>
                          <a:round/>
                          <a:headEnd type="none" w="med" len="med"/>
                          <a:tailEnd type="none" w="med" len="med"/>
                        </a:lnB>
                        <a:blipFill>
                          <a:blip r:embed="rId4"/>
                          <a:stretch>
                            <a:fillRect l="-467" t="-2926667" r="-299533" b="-50000"/>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0.1964</a:t>
                          </a:r>
                          <a:endParaRPr lang="zh-CN" sz="1200" kern="100">
                            <a:effectLst/>
                            <a:latin typeface="Times New Roman" panose="02020603050405020304" pitchFamily="18" charset="0"/>
                            <a:ea typeface="宋体" panose="02010600030101010101" pitchFamily="2" charset="-122"/>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0.2403</a:t>
                          </a:r>
                          <a:endParaRPr lang="zh-CN" sz="1200" kern="100">
                            <a:effectLst/>
                            <a:latin typeface="Times New Roman" panose="02020603050405020304" pitchFamily="18" charset="0"/>
                            <a:ea typeface="宋体" panose="02010600030101010101" pitchFamily="2" charset="-122"/>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0.2395</a:t>
                          </a:r>
                          <a:endParaRPr lang="zh-CN" sz="1200" kern="100" dirty="0">
                            <a:effectLst/>
                            <a:latin typeface="Times New Roman" panose="02020603050405020304" pitchFamily="18" charset="0"/>
                            <a:ea typeface="宋体" panose="02010600030101010101" pitchFamily="2" charset="-122"/>
                          </a:endParaRP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7750388"/>
                      </a:ext>
                    </a:extLst>
                  </a:tr>
                </a:tbl>
              </a:graphicData>
            </a:graphic>
          </p:graphicFrame>
        </mc:Fallback>
      </mc:AlternateContent>
      <p:sp>
        <p:nvSpPr>
          <p:cNvPr id="7" name="文本框 6">
            <a:extLst>
              <a:ext uri="{FF2B5EF4-FFF2-40B4-BE49-F238E27FC236}">
                <a16:creationId xmlns:a16="http://schemas.microsoft.com/office/drawing/2014/main" id="{AF6CEF5E-89F3-E442-548E-720D98441647}"/>
              </a:ext>
            </a:extLst>
          </p:cNvPr>
          <p:cNvSpPr txBox="1"/>
          <p:nvPr/>
        </p:nvSpPr>
        <p:spPr>
          <a:xfrm>
            <a:off x="6423212" y="6514306"/>
            <a:ext cx="4930588" cy="215444"/>
          </a:xfrm>
          <a:prstGeom prst="rect">
            <a:avLst/>
          </a:prstGeom>
          <a:noFill/>
        </p:spPr>
        <p:txBody>
          <a:bodyPr wrap="square">
            <a:spAutoFit/>
          </a:bodyPr>
          <a:lstStyle/>
          <a:p>
            <a:pPr algn="just">
              <a:buNone/>
            </a:pPr>
            <a:r>
              <a:rPr lang="zh-CN" altLang="en-US" sz="800" kern="0" dirty="0">
                <a:effectLst/>
                <a:ea typeface="宋体" panose="02010600030101010101" pitchFamily="2" charset="-122"/>
              </a:rPr>
              <a:t>注： ***、**、*表示在</a:t>
            </a:r>
            <a:r>
              <a:rPr lang="en-US" altLang="zh-CN" sz="800" kern="0" dirty="0">
                <a:effectLst/>
                <a:ea typeface="宋体" panose="02010600030101010101" pitchFamily="2" charset="-122"/>
              </a:rPr>
              <a:t>1%</a:t>
            </a:r>
            <a:r>
              <a:rPr lang="zh-CN" altLang="en-US" sz="800" kern="0" dirty="0">
                <a:effectLst/>
                <a:ea typeface="宋体" panose="02010600030101010101" pitchFamily="2" charset="-122"/>
              </a:rPr>
              <a:t>、</a:t>
            </a:r>
            <a:r>
              <a:rPr lang="en-US" altLang="zh-CN" sz="800" kern="0" dirty="0">
                <a:effectLst/>
                <a:ea typeface="宋体" panose="02010600030101010101" pitchFamily="2" charset="-122"/>
              </a:rPr>
              <a:t>5%</a:t>
            </a:r>
            <a:r>
              <a:rPr lang="zh-CN" altLang="en-US" sz="800" kern="0" dirty="0">
                <a:effectLst/>
                <a:ea typeface="宋体" panose="02010600030101010101" pitchFamily="2" charset="-122"/>
              </a:rPr>
              <a:t>、</a:t>
            </a:r>
            <a:r>
              <a:rPr lang="en-US" altLang="zh-CN" sz="800" kern="0" dirty="0">
                <a:effectLst/>
                <a:ea typeface="宋体" panose="02010600030101010101" pitchFamily="2" charset="-122"/>
              </a:rPr>
              <a:t>10%</a:t>
            </a:r>
            <a:r>
              <a:rPr lang="zh-CN" altLang="en-US" sz="800" kern="0" dirty="0">
                <a:effectLst/>
                <a:ea typeface="宋体" panose="02010600030101010101" pitchFamily="2" charset="-122"/>
              </a:rPr>
              <a:t>的水平上显著；括号内为聚类到企业层面的稳健标准误。以下各表同。</a:t>
            </a:r>
            <a:endParaRPr lang="zh-CN" altLang="zh-CN" sz="2000" kern="100" dirty="0">
              <a:effectLst/>
              <a:ea typeface="宋体" panose="02010600030101010101" pitchFamily="2" charset="-122"/>
            </a:endParaRPr>
          </a:p>
        </p:txBody>
      </p:sp>
      <p:sp>
        <p:nvSpPr>
          <p:cNvPr id="8" name="文本框 7">
            <a:extLst>
              <a:ext uri="{FF2B5EF4-FFF2-40B4-BE49-F238E27FC236}">
                <a16:creationId xmlns:a16="http://schemas.microsoft.com/office/drawing/2014/main" id="{C00F890E-47CE-2791-0AC9-CF6877F37BE2}"/>
              </a:ext>
            </a:extLst>
          </p:cNvPr>
          <p:cNvSpPr txBox="1"/>
          <p:nvPr/>
        </p:nvSpPr>
        <p:spPr>
          <a:xfrm>
            <a:off x="8457681" y="750907"/>
            <a:ext cx="1396536" cy="276999"/>
          </a:xfrm>
          <a:prstGeom prst="rect">
            <a:avLst/>
          </a:prstGeom>
          <a:noFill/>
        </p:spPr>
        <p:txBody>
          <a:bodyPr wrap="none" rtlCol="0">
            <a:spAutoFit/>
          </a:bodyPr>
          <a:lstStyle/>
          <a:p>
            <a:r>
              <a:rPr lang="zh-CN" altLang="en-US" sz="1200" b="1" dirty="0"/>
              <a:t>表</a:t>
            </a:r>
            <a:r>
              <a:rPr lang="en-US" altLang="zh-CN" sz="1200" b="1" dirty="0"/>
              <a:t>2 </a:t>
            </a:r>
            <a:r>
              <a:rPr lang="zh-CN" altLang="en-US" sz="1200" b="1" dirty="0"/>
              <a:t>基准回归结果</a:t>
            </a:r>
          </a:p>
        </p:txBody>
      </p:sp>
    </p:spTree>
    <p:extLst>
      <p:ext uri="{BB962C8B-B14F-4D97-AF65-F5344CB8AC3E}">
        <p14:creationId xmlns:p14="http://schemas.microsoft.com/office/powerpoint/2010/main" val="2864803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7EE3D6-FB3B-EFA0-D330-18C87B615A15}"/>
              </a:ext>
            </a:extLst>
          </p:cNvPr>
          <p:cNvSpPr>
            <a:spLocks noGrp="1"/>
          </p:cNvSpPr>
          <p:nvPr>
            <p:ph type="title"/>
          </p:nvPr>
        </p:nvSpPr>
        <p:spPr/>
        <p:txBody>
          <a:bodyPr vert="horz" lIns="91440" tIns="45720" rIns="91440" bIns="45720" rtlCol="0" anchor="ctr">
            <a:normAutofit/>
          </a:bodyPr>
          <a:lstStyle/>
          <a:p>
            <a:r>
              <a:rPr lang="zh-CN" altLang="en-US" sz="2800" dirty="0"/>
              <a:t>实证结果分析</a:t>
            </a:r>
          </a:p>
        </p:txBody>
      </p:sp>
      <p:sp>
        <p:nvSpPr>
          <p:cNvPr id="3" name="内容占位符 2">
            <a:extLst>
              <a:ext uri="{FF2B5EF4-FFF2-40B4-BE49-F238E27FC236}">
                <a16:creationId xmlns:a16="http://schemas.microsoft.com/office/drawing/2014/main" id="{F740D825-D458-091F-BB13-C5D2063F4512}"/>
              </a:ext>
            </a:extLst>
          </p:cNvPr>
          <p:cNvSpPr>
            <a:spLocks noGrp="1"/>
          </p:cNvSpPr>
          <p:nvPr>
            <p:ph sz="half" idx="1"/>
          </p:nvPr>
        </p:nvSpPr>
        <p:spPr>
          <a:xfrm>
            <a:off x="455645" y="2056448"/>
            <a:ext cx="5181600" cy="4351338"/>
          </a:xfrm>
        </p:spPr>
        <p:txBody>
          <a:bodyPr>
            <a:normAutofit/>
          </a:bodyPr>
          <a:lstStyle/>
          <a:p>
            <a:pPr marL="0" indent="0">
              <a:buNone/>
            </a:pPr>
            <a:r>
              <a:rPr lang="zh-CN" altLang="en-US" sz="2400" dirty="0"/>
              <a:t>内生性处理</a:t>
            </a:r>
            <a:endParaRPr lang="en-US" altLang="zh-CN" sz="2400" dirty="0"/>
          </a:p>
          <a:p>
            <a:pPr lvl="1"/>
            <a:r>
              <a:rPr lang="zh-CN" altLang="en-US" sz="2000" dirty="0"/>
              <a:t>遗漏变量偏误（</a:t>
            </a:r>
            <a:r>
              <a:rPr lang="en-US" altLang="zh-CN" sz="2000" dirty="0" err="1"/>
              <a:t>Altonji</a:t>
            </a:r>
            <a:r>
              <a:rPr lang="en-US" altLang="zh-CN" sz="2000" dirty="0"/>
              <a:t> et al.,</a:t>
            </a:r>
            <a:r>
              <a:rPr lang="zh-CN" altLang="en-US" sz="2000" dirty="0"/>
              <a:t> </a:t>
            </a:r>
            <a:r>
              <a:rPr lang="en-US" altLang="zh-CN" sz="2000" dirty="0"/>
              <a:t>2005</a:t>
            </a:r>
            <a:r>
              <a:rPr lang="zh-CN" altLang="en-US" sz="2000" dirty="0"/>
              <a:t>）</a:t>
            </a:r>
            <a:endParaRPr lang="en-US" altLang="zh-CN" sz="2000" dirty="0"/>
          </a:p>
          <a:p>
            <a:pPr lvl="1"/>
            <a:r>
              <a:rPr lang="zh-CN" altLang="en-US" sz="2000" dirty="0"/>
              <a:t>样本选择偏误</a:t>
            </a:r>
            <a:endParaRPr lang="en-US" altLang="zh-CN" sz="2000" dirty="0"/>
          </a:p>
          <a:p>
            <a:pPr lvl="2"/>
            <a:r>
              <a:rPr lang="en-US" altLang="zh-CN" sz="1600" dirty="0"/>
              <a:t>Heckman</a:t>
            </a:r>
            <a:r>
              <a:rPr lang="zh-CN" altLang="en-US" sz="1600" dirty="0"/>
              <a:t>二阶段模型</a:t>
            </a:r>
            <a:endParaRPr lang="en-US" altLang="zh-CN" sz="1600" dirty="0"/>
          </a:p>
          <a:p>
            <a:pPr lvl="1"/>
            <a:r>
              <a:rPr lang="zh-CN" altLang="en-US" sz="2000" dirty="0"/>
              <a:t>反向因果问题</a:t>
            </a:r>
            <a:endParaRPr lang="en-US" altLang="zh-CN" sz="2000" dirty="0"/>
          </a:p>
          <a:p>
            <a:pPr lvl="2"/>
            <a:r>
              <a:rPr lang="zh-CN" altLang="zh-CN" sz="1600" dirty="0"/>
              <a:t>地区信息渗透率</a:t>
            </a:r>
            <a:r>
              <a:rPr lang="zh-CN" altLang="en-US" sz="1600" dirty="0"/>
              <a:t>（</a:t>
            </a:r>
            <a:r>
              <a:rPr lang="en-US" altLang="zh-CN" sz="1600" dirty="0"/>
              <a:t>IV</a:t>
            </a:r>
            <a:r>
              <a:rPr lang="zh-CN" altLang="en-US" sz="1600" dirty="0"/>
              <a:t>）</a:t>
            </a:r>
            <a:endParaRPr lang="en-US" altLang="zh-CN" sz="1600" dirty="0"/>
          </a:p>
          <a:p>
            <a:pPr lvl="2"/>
            <a:r>
              <a:rPr lang="zh-CN" altLang="en-US" sz="1600" dirty="0"/>
              <a:t>地区光缆密度均值 </a:t>
            </a:r>
            <a:r>
              <a:rPr lang="en-US" altLang="zh-CN" sz="1600" dirty="0"/>
              <a:t># </a:t>
            </a:r>
            <a:r>
              <a:rPr lang="zh-CN" altLang="en-US" sz="1600" dirty="0"/>
              <a:t>滞后一期企业人工智能技术应用水平（孙早和侯玉琳，</a:t>
            </a:r>
            <a:r>
              <a:rPr lang="en-US" altLang="zh-CN" sz="1600" dirty="0"/>
              <a:t>2021</a:t>
            </a:r>
            <a:r>
              <a:rPr lang="zh-CN" altLang="en-US" sz="1600" dirty="0"/>
              <a:t>）</a:t>
            </a:r>
            <a:endParaRPr lang="zh-CN" altLang="en-US" sz="1200" dirty="0"/>
          </a:p>
        </p:txBody>
      </p:sp>
      <mc:AlternateContent xmlns:mc="http://schemas.openxmlformats.org/markup-compatibility/2006">
        <mc:Choice xmlns:a14="http://schemas.microsoft.com/office/drawing/2010/main" Requires="a14">
          <p:graphicFrame>
            <p:nvGraphicFramePr>
              <p:cNvPr id="5" name="内容占位符 4">
                <a:extLst>
                  <a:ext uri="{FF2B5EF4-FFF2-40B4-BE49-F238E27FC236}">
                    <a16:creationId xmlns:a16="http://schemas.microsoft.com/office/drawing/2014/main" id="{9A3848CB-2623-D703-C0AE-ED56DD118993}"/>
                  </a:ext>
                </a:extLst>
              </p:cNvPr>
              <p:cNvGraphicFramePr>
                <a:graphicFrameLocks noGrp="1"/>
              </p:cNvGraphicFramePr>
              <p:nvPr>
                <p:ph sz="half" idx="2"/>
                <p:extLst>
                  <p:ext uri="{D42A27DB-BD31-4B8C-83A1-F6EECF244321}">
                    <p14:modId xmlns:p14="http://schemas.microsoft.com/office/powerpoint/2010/main" val="3560999810"/>
                  </p:ext>
                </p:extLst>
              </p:nvPr>
            </p:nvGraphicFramePr>
            <p:xfrm>
              <a:off x="6690944" y="2881058"/>
              <a:ext cx="5045413" cy="3907545"/>
            </p:xfrm>
            <a:graphic>
              <a:graphicData uri="http://schemas.openxmlformats.org/drawingml/2006/table">
                <a:tbl>
                  <a:tblPr firstRow="1" firstCol="1" bandRow="1">
                    <a:tableStyleId>{5C22544A-7EE6-4342-B048-85BDC9FD1C3A}</a:tableStyleId>
                  </a:tblPr>
                  <a:tblGrid>
                    <a:gridCol w="1636785">
                      <a:extLst>
                        <a:ext uri="{9D8B030D-6E8A-4147-A177-3AD203B41FA5}">
                          <a16:colId xmlns:a16="http://schemas.microsoft.com/office/drawing/2014/main" val="4094223620"/>
                        </a:ext>
                      </a:extLst>
                    </a:gridCol>
                    <a:gridCol w="852157">
                      <a:extLst>
                        <a:ext uri="{9D8B030D-6E8A-4147-A177-3AD203B41FA5}">
                          <a16:colId xmlns:a16="http://schemas.microsoft.com/office/drawing/2014/main" val="445686741"/>
                        </a:ext>
                      </a:extLst>
                    </a:gridCol>
                    <a:gridCol w="852157">
                      <a:extLst>
                        <a:ext uri="{9D8B030D-6E8A-4147-A177-3AD203B41FA5}">
                          <a16:colId xmlns:a16="http://schemas.microsoft.com/office/drawing/2014/main" val="1418089266"/>
                        </a:ext>
                      </a:extLst>
                    </a:gridCol>
                    <a:gridCol w="852157">
                      <a:extLst>
                        <a:ext uri="{9D8B030D-6E8A-4147-A177-3AD203B41FA5}">
                          <a16:colId xmlns:a16="http://schemas.microsoft.com/office/drawing/2014/main" val="854489707"/>
                        </a:ext>
                      </a:extLst>
                    </a:gridCol>
                    <a:gridCol w="852157">
                      <a:extLst>
                        <a:ext uri="{9D8B030D-6E8A-4147-A177-3AD203B41FA5}">
                          <a16:colId xmlns:a16="http://schemas.microsoft.com/office/drawing/2014/main" val="3839189701"/>
                        </a:ext>
                      </a:extLst>
                    </a:gridCol>
                  </a:tblGrid>
                  <a:tr h="223659">
                    <a:tc rowSpan="2">
                      <a:txBody>
                        <a:bodyPr/>
                        <a:lstStyle/>
                        <a:p>
                          <a:pPr indent="127000" algn="ctr">
                            <a:buNone/>
                          </a:pPr>
                          <a:r>
                            <a:rPr lang="zh-CN" sz="1000" kern="100" dirty="0">
                              <a:solidFill>
                                <a:schemeClr val="tx1"/>
                              </a:solidFill>
                              <a:effectLst/>
                            </a:rPr>
                            <a:t>变量</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000" kern="100" dirty="0">
                              <a:solidFill>
                                <a:schemeClr val="tx1"/>
                              </a:solidFill>
                              <a:effectLst/>
                            </a:rPr>
                            <a:t>(1)</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000" kern="100" dirty="0">
                              <a:solidFill>
                                <a:schemeClr val="tx1"/>
                              </a:solidFill>
                              <a:effectLst/>
                            </a:rPr>
                            <a:t>(2)</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000" kern="100" dirty="0">
                              <a:solidFill>
                                <a:schemeClr val="tx1"/>
                              </a:solidFill>
                              <a:effectLst/>
                            </a:rPr>
                            <a:t>(3)</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000" kern="100" dirty="0">
                              <a:solidFill>
                                <a:schemeClr val="tx1"/>
                              </a:solidFill>
                              <a:effectLst/>
                            </a:rPr>
                            <a:t>(4)</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775574019"/>
                      </a:ext>
                    </a:extLst>
                  </a:tr>
                  <a:tr h="223659">
                    <a:tc vMerge="1">
                      <a:txBody>
                        <a:bodyPr/>
                        <a:lstStyle/>
                        <a:p>
                          <a:endParaRPr lang="zh-CN" altLang="en-US"/>
                        </a:p>
                      </a:txBody>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altLang="zh-CN" sz="1000" kern="100" smtClean="0">
                                    <a:solidFill>
                                      <a:schemeClr val="tx1"/>
                                    </a:solidFill>
                                    <a:effectLst/>
                                    <a:latin typeface="Cambria Math" panose="02040503050406030204" pitchFamily="18" charset="0"/>
                                  </a:rPr>
                                  <m:t>𝐼𝑛𝑣</m:t>
                                </m:r>
                                <m:r>
                                  <a:rPr lang="en-GB" altLang="zh-CN" sz="1000" kern="100" smtClean="0">
                                    <a:solidFill>
                                      <a:schemeClr val="tx1"/>
                                    </a:solidFill>
                                    <a:effectLst/>
                                    <a:latin typeface="Cambria Math" panose="02040503050406030204" pitchFamily="18" charset="0"/>
                                  </a:rPr>
                                  <m:t>_</m:t>
                                </m:r>
                                <m:r>
                                  <a:rPr lang="en-GB" altLang="zh-CN" sz="1000" kern="100" smtClean="0">
                                    <a:solidFill>
                                      <a:schemeClr val="tx1"/>
                                    </a:solidFill>
                                    <a:effectLst/>
                                    <a:latin typeface="Cambria Math" panose="02040503050406030204" pitchFamily="18" charset="0"/>
                                  </a:rPr>
                                  <m:t>𝑑𝑢𝑚</m:t>
                                </m:r>
                              </m:oMath>
                            </m:oMathPara>
                          </a14:m>
                          <a:endParaRPr lang="zh-CN" alt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000" kern="0" smtClean="0">
                                    <a:solidFill>
                                      <a:schemeClr val="tx1"/>
                                    </a:solidFill>
                                    <a:effectLst/>
                                    <a:latin typeface="Cambria Math" panose="02040503050406030204" pitchFamily="18" charset="0"/>
                                  </a:rPr>
                                  <m:t>𝐼𝑛𝑣</m:t>
                                </m:r>
                                <m:r>
                                  <a:rPr lang="en-GB" sz="1000" kern="0" smtClean="0">
                                    <a:solidFill>
                                      <a:schemeClr val="tx1"/>
                                    </a:solidFill>
                                    <a:effectLst/>
                                    <a:latin typeface="Cambria Math" panose="02040503050406030204" pitchFamily="18" charset="0"/>
                                  </a:rPr>
                                  <m:t>_</m:t>
                                </m:r>
                                <m:r>
                                  <a:rPr lang="en-GB" sz="1000" kern="0" smtClean="0">
                                    <a:solidFill>
                                      <a:schemeClr val="tx1"/>
                                    </a:solidFill>
                                    <a:effectLst/>
                                    <a:latin typeface="Cambria Math" panose="02040503050406030204" pitchFamily="18" charset="0"/>
                                  </a:rPr>
                                  <m:t>𝑒</m:t>
                                </m:r>
                              </m:oMath>
                            </m:oMathPara>
                          </a14:m>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altLang="zh-CN" sz="1000" kern="100" smtClean="0">
                                    <a:solidFill>
                                      <a:schemeClr val="tx1"/>
                                    </a:solidFill>
                                    <a:effectLst/>
                                    <a:latin typeface="Cambria Math" panose="02040503050406030204" pitchFamily="18" charset="0"/>
                                  </a:rPr>
                                  <m:t>𝐴</m:t>
                                </m:r>
                                <m:sSub>
                                  <m:sSubPr>
                                    <m:ctrlPr>
                                      <a:rPr lang="zh-CN" altLang="zh-CN" sz="1000" i="1" kern="100">
                                        <a:solidFill>
                                          <a:schemeClr val="tx1"/>
                                        </a:solidFill>
                                        <a:effectLst/>
                                        <a:latin typeface="Cambria Math" panose="02040503050406030204" pitchFamily="18" charset="0"/>
                                      </a:rPr>
                                    </m:ctrlPr>
                                  </m:sSubPr>
                                  <m:e>
                                    <m:r>
                                      <a:rPr lang="en-GB" altLang="zh-CN" sz="1000" kern="100">
                                        <a:solidFill>
                                          <a:schemeClr val="tx1"/>
                                        </a:solidFill>
                                        <a:effectLst/>
                                        <a:latin typeface="Cambria Math" panose="02040503050406030204" pitchFamily="18" charset="0"/>
                                      </a:rPr>
                                      <m:t>𝐼</m:t>
                                    </m:r>
                                  </m:e>
                                  <m:sub>
                                    <m:r>
                                      <a:rPr lang="en-GB" altLang="zh-CN" sz="1000" kern="100">
                                        <a:solidFill>
                                          <a:schemeClr val="tx1"/>
                                        </a:solidFill>
                                        <a:effectLst/>
                                        <a:latin typeface="Cambria Math" panose="02040503050406030204" pitchFamily="18" charset="0"/>
                                      </a:rPr>
                                      <m:t>𝑢𝑡𝑖𝑙𝑖𝑧𝑒</m:t>
                                    </m:r>
                                  </m:sub>
                                </m:sSub>
                              </m:oMath>
                            </m:oMathPara>
                          </a14:m>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000" kern="0" smtClean="0">
                                    <a:solidFill>
                                      <a:schemeClr val="tx1"/>
                                    </a:solidFill>
                                    <a:effectLst/>
                                    <a:latin typeface="Cambria Math" panose="02040503050406030204" pitchFamily="18" charset="0"/>
                                  </a:rPr>
                                  <m:t>𝐼𝑛𝑣</m:t>
                                </m:r>
                                <m:r>
                                  <a:rPr lang="en-GB" sz="1000" kern="0" smtClean="0">
                                    <a:solidFill>
                                      <a:schemeClr val="tx1"/>
                                    </a:solidFill>
                                    <a:effectLst/>
                                    <a:latin typeface="Cambria Math" panose="02040503050406030204" pitchFamily="18" charset="0"/>
                                  </a:rPr>
                                  <m:t>_</m:t>
                                </m:r>
                                <m:r>
                                  <a:rPr lang="en-GB" sz="1000" kern="0" smtClean="0">
                                    <a:solidFill>
                                      <a:schemeClr val="tx1"/>
                                    </a:solidFill>
                                    <a:effectLst/>
                                    <a:latin typeface="Cambria Math" panose="02040503050406030204" pitchFamily="18" charset="0"/>
                                  </a:rPr>
                                  <m:t>𝑒</m:t>
                                </m:r>
                              </m:oMath>
                            </m:oMathPara>
                          </a14:m>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0207577"/>
                      </a:ext>
                    </a:extLst>
                  </a:tr>
                  <a:tr h="223659">
                    <a:tc>
                      <a:txBody>
                        <a:bodyPr/>
                        <a:lstStyle/>
                        <a:p>
                          <a:pPr indent="127000" algn="ctr">
                            <a:buNone/>
                          </a:pPr>
                          <a14:m>
                            <m:oMathPara xmlns:m="http://schemas.openxmlformats.org/officeDocument/2006/math">
                              <m:oMathParaPr>
                                <m:jc m:val="centerGroup"/>
                              </m:oMathParaPr>
                              <m:oMath xmlns:m="http://schemas.openxmlformats.org/officeDocument/2006/math">
                                <m:r>
                                  <a:rPr lang="en-GB" sz="1000" kern="100" smtClean="0">
                                    <a:solidFill>
                                      <a:schemeClr val="tx1"/>
                                    </a:solidFill>
                                    <a:effectLst/>
                                    <a:latin typeface="Cambria Math" panose="02040503050406030204" pitchFamily="18" charset="0"/>
                                  </a:rPr>
                                  <m:t>𝐴</m:t>
                                </m:r>
                                <m:sSub>
                                  <m:sSubPr>
                                    <m:ctrlPr>
                                      <a:rPr lang="zh-CN" sz="1000" i="1" kern="100">
                                        <a:solidFill>
                                          <a:schemeClr val="tx1"/>
                                        </a:solidFill>
                                        <a:effectLst/>
                                        <a:latin typeface="Cambria Math" panose="02040503050406030204" pitchFamily="18" charset="0"/>
                                      </a:rPr>
                                    </m:ctrlPr>
                                  </m:sSubPr>
                                  <m:e>
                                    <m:r>
                                      <a:rPr lang="en-GB" sz="1000" kern="100">
                                        <a:solidFill>
                                          <a:schemeClr val="tx1"/>
                                        </a:solidFill>
                                        <a:effectLst/>
                                        <a:latin typeface="Cambria Math" panose="02040503050406030204" pitchFamily="18" charset="0"/>
                                      </a:rPr>
                                      <m:t>𝐼</m:t>
                                    </m:r>
                                  </m:e>
                                  <m:sub>
                                    <m:r>
                                      <a:rPr lang="en-GB" sz="1000" kern="100">
                                        <a:solidFill>
                                          <a:schemeClr val="tx1"/>
                                        </a:solidFill>
                                        <a:effectLst/>
                                        <a:latin typeface="Cambria Math" panose="02040503050406030204" pitchFamily="18" charset="0"/>
                                      </a:rPr>
                                      <m:t>𝑢𝑡𝑖𝑙𝑖𝑧𝑒</m:t>
                                    </m:r>
                                  </m:sub>
                                </m:sSub>
                              </m:oMath>
                            </m:oMathPara>
                          </a14:m>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lnT w="6350" cap="flat" cmpd="sng" algn="ctr">
                          <a:solidFill>
                            <a:schemeClr val="tx1"/>
                          </a:solidFill>
                          <a:prstDash val="solid"/>
                          <a:round/>
                          <a:headEnd type="none" w="med" len="med"/>
                          <a:tailEnd type="none" w="med" len="med"/>
                        </a:lnT>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-0.0036***</a:t>
                          </a:r>
                          <a:endParaRPr lang="zh-CN" sz="1000" kern="100">
                            <a:effectLst/>
                            <a:latin typeface="Times New Roman" panose="02020603050405020304" pitchFamily="18" charset="0"/>
                            <a:ea typeface="宋体" panose="02010600030101010101" pitchFamily="2" charset="-122"/>
                          </a:endParaRPr>
                        </a:p>
                      </a:txBody>
                      <a:tcPr marL="47625" marR="47625" marT="0" marB="0">
                        <a:lnT w="6350" cap="flat" cmpd="sng" algn="ctr">
                          <a:solidFill>
                            <a:schemeClr val="tx1"/>
                          </a:solidFill>
                          <a:prstDash val="solid"/>
                          <a:round/>
                          <a:headEnd type="none" w="med" len="med"/>
                          <a:tailEnd type="none" w="med" len="med"/>
                        </a:lnT>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lnT w="6350" cap="flat" cmpd="sng" algn="ctr">
                          <a:solidFill>
                            <a:schemeClr val="tx1"/>
                          </a:solidFill>
                          <a:prstDash val="solid"/>
                          <a:round/>
                          <a:headEnd type="none" w="med" len="med"/>
                          <a:tailEnd type="none" w="med" len="med"/>
                        </a:lnT>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-0.0095***</a:t>
                          </a:r>
                          <a:endParaRPr lang="zh-CN" sz="1000" kern="100">
                            <a:effectLst/>
                            <a:latin typeface="Times New Roman" panose="02020603050405020304" pitchFamily="18" charset="0"/>
                            <a:ea typeface="宋体" panose="02010600030101010101" pitchFamily="2" charset="-122"/>
                          </a:endParaRPr>
                        </a:p>
                      </a:txBody>
                      <a:tcPr marL="47625" marR="47625" marT="0" marB="0">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752378577"/>
                      </a:ext>
                    </a:extLst>
                  </a:tr>
                  <a:tr h="223659">
                    <a:tc>
                      <a:txBody>
                        <a:bodyPr/>
                        <a:lstStyle/>
                        <a:p>
                          <a:pPr indent="127000" algn="ctr">
                            <a:buNone/>
                          </a:pPr>
                          <a:r>
                            <a:rPr lang="en-GB" sz="1000" kern="100" dirty="0">
                              <a:solidFill>
                                <a:schemeClr val="tx1"/>
                              </a:solidFill>
                              <a:effectLst/>
                            </a:rPr>
                            <a:t> </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(0.0008)</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(0.0019)</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2297699581"/>
                      </a:ext>
                    </a:extLst>
                  </a:tr>
                  <a:tr h="223659">
                    <a:tc>
                      <a:txBody>
                        <a:bodyPr/>
                        <a:lstStyle/>
                        <a:p>
                          <a:pPr indent="127000" algn="ctr">
                            <a:buNone/>
                          </a:pPr>
                          <a14:m>
                            <m:oMathPara xmlns:m="http://schemas.openxmlformats.org/officeDocument/2006/math">
                              <m:oMathParaPr>
                                <m:jc m:val="centerGroup"/>
                              </m:oMathParaPr>
                              <m:oMath xmlns:m="http://schemas.openxmlformats.org/officeDocument/2006/math">
                                <m:r>
                                  <m:rPr>
                                    <m:sty m:val="p"/>
                                  </m:rPr>
                                  <a:rPr lang="en-US" altLang="zh-CN" sz="1000" i="0" kern="100" smtClean="0">
                                    <a:solidFill>
                                      <a:schemeClr val="tx1"/>
                                    </a:solidFill>
                                    <a:effectLst/>
                                    <a:latin typeface="Cambria Math" panose="02040503050406030204" pitchFamily="18" charset="0"/>
                                  </a:rPr>
                                  <m:t>CEOFIN</m:t>
                                </m:r>
                              </m:oMath>
                            </m:oMathPara>
                          </a14:m>
                          <a:endParaRPr lang="zh-CN" sz="1000" i="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-0.1619***</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1387902013"/>
                      </a:ext>
                    </a:extLst>
                  </a:tr>
                  <a:tr h="223659">
                    <a:tc>
                      <a:txBody>
                        <a:bodyPr/>
                        <a:lstStyle/>
                        <a:p>
                          <a:pPr indent="127000" algn="ctr">
                            <a:buNone/>
                          </a:pPr>
                          <a:r>
                            <a:rPr lang="en-GB" sz="1000" kern="100">
                              <a:solidFill>
                                <a:schemeClr val="tx1"/>
                              </a:solidFill>
                              <a:effectLst/>
                            </a:rPr>
                            <a:t> </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0" dirty="0">
                              <a:effectLst/>
                              <a:latin typeface="Times New Roman" panose="02020603050405020304" pitchFamily="18" charset="0"/>
                              <a:ea typeface="宋体" panose="02010600030101010101" pitchFamily="2" charset="-122"/>
                            </a:rPr>
                            <a:t>(0.0485)</a:t>
                          </a:r>
                          <a:endParaRPr lang="zh-CN" sz="1000" kern="100" dirty="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2710156555"/>
                      </a:ext>
                    </a:extLst>
                  </a:tr>
                  <a:tr h="223659">
                    <a:tc>
                      <a:txBody>
                        <a:bodyPr/>
                        <a:lstStyle/>
                        <a:p>
                          <a:pPr indent="127000" algn="ctr">
                            <a:buNone/>
                          </a:pPr>
                          <a14:m>
                            <m:oMathPara xmlns:m="http://schemas.openxmlformats.org/officeDocument/2006/math">
                              <m:oMathParaPr>
                                <m:jc m:val="centerGroup"/>
                              </m:oMathParaPr>
                              <m:oMath xmlns:m="http://schemas.openxmlformats.org/officeDocument/2006/math">
                                <m:r>
                                  <a:rPr lang="en-GB" sz="1000" kern="100" smtClean="0">
                                    <a:solidFill>
                                      <a:schemeClr val="tx1"/>
                                    </a:solidFill>
                                    <a:effectLst/>
                                    <a:latin typeface="Cambria Math" panose="02040503050406030204" pitchFamily="18" charset="0"/>
                                  </a:rPr>
                                  <m:t>𝐼𝑀𝑅</m:t>
                                </m:r>
                              </m:oMath>
                            </m:oMathPara>
                          </a14:m>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0.0043</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2004623242"/>
                      </a:ext>
                    </a:extLst>
                  </a:tr>
                  <a:tr h="223659">
                    <a:tc>
                      <a:txBody>
                        <a:bodyPr/>
                        <a:lstStyle/>
                        <a:p>
                          <a:pPr indent="127000" algn="ctr">
                            <a:buNone/>
                          </a:pPr>
                          <a:r>
                            <a:rPr lang="en-GB" sz="1000" kern="100">
                              <a:solidFill>
                                <a:schemeClr val="tx1"/>
                              </a:solidFill>
                              <a:effectLst/>
                            </a:rPr>
                            <a:t> </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(0.0110)</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2079317354"/>
                      </a:ext>
                    </a:extLst>
                  </a:tr>
                  <a:tr h="223659">
                    <a:tc>
                      <a:txBody>
                        <a:bodyPr/>
                        <a:lstStyle/>
                        <a:p>
                          <a:pPr indent="127000" algn="ctr">
                            <a:buNone/>
                          </a:pPr>
                          <a14:m>
                            <m:oMathPara xmlns:m="http://schemas.openxmlformats.org/officeDocument/2006/math">
                              <m:oMathParaPr>
                                <m:jc m:val="centerGroup"/>
                              </m:oMathParaPr>
                              <m:oMath xmlns:m="http://schemas.openxmlformats.org/officeDocument/2006/math">
                                <m:r>
                                  <a:rPr lang="en-GB" sz="1000" kern="100" smtClean="0">
                                    <a:solidFill>
                                      <a:schemeClr val="tx1"/>
                                    </a:solidFill>
                                    <a:effectLst/>
                                    <a:latin typeface="Cambria Math" panose="02040503050406030204" pitchFamily="18" charset="0"/>
                                  </a:rPr>
                                  <m:t>𝐼𝑉</m:t>
                                </m:r>
                              </m:oMath>
                            </m:oMathPara>
                          </a14:m>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0.0083***</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1023960832"/>
                      </a:ext>
                    </a:extLst>
                  </a:tr>
                  <a:tr h="223659">
                    <a:tc>
                      <a:txBody>
                        <a:bodyPr/>
                        <a:lstStyle/>
                        <a:p>
                          <a:pPr indent="127000" algn="ctr">
                            <a:buNone/>
                          </a:pPr>
                          <a:r>
                            <a:rPr lang="en-GB" sz="1000" kern="100">
                              <a:solidFill>
                                <a:schemeClr val="tx1"/>
                              </a:solidFill>
                              <a:effectLst/>
                            </a:rPr>
                            <a:t> </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(0.0004)</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408415363"/>
                      </a:ext>
                    </a:extLst>
                  </a:tr>
                  <a:tr h="329001">
                    <a:tc>
                      <a:txBody>
                        <a:bodyPr/>
                        <a:lstStyle/>
                        <a:p>
                          <a:pPr indent="127000" algn="ctr">
                            <a:buNone/>
                          </a:pPr>
                          <a:r>
                            <a:rPr lang="en-GB" sz="1000" kern="100">
                              <a:solidFill>
                                <a:schemeClr val="tx1"/>
                              </a:solidFill>
                              <a:effectLst/>
                            </a:rPr>
                            <a:t>Kleibergen-Paap rk LM</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165.328***</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785995325"/>
                      </a:ext>
                    </a:extLst>
                  </a:tr>
                  <a:tr h="223659">
                    <a:tc>
                      <a:txBody>
                        <a:bodyPr/>
                        <a:lstStyle/>
                        <a:p>
                          <a:pPr indent="127000" algn="ctr">
                            <a:buNone/>
                          </a:pPr>
                          <a:r>
                            <a:rPr lang="en-GB" sz="1000" kern="100">
                              <a:solidFill>
                                <a:schemeClr val="tx1"/>
                              </a:solidFill>
                              <a:effectLst/>
                            </a:rPr>
                            <a:t>Cragg-Donald Wald F</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5216.832</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840068440"/>
                      </a:ext>
                    </a:extLst>
                  </a:tr>
                  <a:tr h="223659">
                    <a:tc>
                      <a:txBody>
                        <a:bodyPr/>
                        <a:lstStyle/>
                        <a:p>
                          <a:pPr indent="127000" algn="ctr">
                            <a:buNone/>
                          </a:pPr>
                          <a14:m>
                            <m:oMathPara xmlns:m="http://schemas.openxmlformats.org/officeDocument/2006/math">
                              <m:oMathParaPr>
                                <m:jc m:val="centerGroup"/>
                              </m:oMathParaPr>
                              <m:oMath xmlns:m="http://schemas.openxmlformats.org/officeDocument/2006/math">
                                <m:r>
                                  <a:rPr lang="en-GB" sz="1000" kern="100" smtClean="0">
                                    <a:solidFill>
                                      <a:schemeClr val="tx1"/>
                                    </a:solidFill>
                                    <a:effectLst/>
                                    <a:latin typeface="Cambria Math" panose="02040503050406030204" pitchFamily="18" charset="0"/>
                                  </a:rPr>
                                  <m:t>𝐶𝑜𝑛𝑡𝑟𝑜𝑙</m:t>
                                </m:r>
                              </m:oMath>
                            </m:oMathPara>
                          </a14:m>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extLst>
                      <a:ext uri="{0D108BD9-81ED-4DB2-BD59-A6C34878D82A}">
                        <a16:rowId xmlns:a16="http://schemas.microsoft.com/office/drawing/2014/main" val="2727203649"/>
                      </a:ext>
                    </a:extLst>
                  </a:tr>
                  <a:tr h="223659">
                    <a:tc>
                      <a:txBody>
                        <a:bodyPr/>
                        <a:lstStyle/>
                        <a:p>
                          <a:pPr indent="127000" algn="ctr">
                            <a:buNone/>
                          </a:pPr>
                          <a14:m>
                            <m:oMathPara xmlns:m="http://schemas.openxmlformats.org/officeDocument/2006/math">
                              <m:oMathParaPr>
                                <m:jc m:val="centerGroup"/>
                              </m:oMathParaPr>
                              <m:oMath xmlns:m="http://schemas.openxmlformats.org/officeDocument/2006/math">
                                <m:r>
                                  <a:rPr lang="en-GB" sz="1000" kern="100" smtClean="0">
                                    <a:solidFill>
                                      <a:schemeClr val="tx1"/>
                                    </a:solidFill>
                                    <a:effectLst/>
                                    <a:latin typeface="Cambria Math" panose="02040503050406030204" pitchFamily="18" charset="0"/>
                                  </a:rPr>
                                  <m:t>𝑌𝑒𝑎𝑟</m:t>
                                </m:r>
                                <m:r>
                                  <a:rPr lang="en-GB" sz="1000" kern="100" smtClean="0">
                                    <a:solidFill>
                                      <a:schemeClr val="tx1"/>
                                    </a:solidFill>
                                    <a:effectLst/>
                                    <a:latin typeface="Cambria Math" panose="02040503050406030204" pitchFamily="18" charset="0"/>
                                  </a:rPr>
                                  <m:t> </m:t>
                                </m:r>
                                <m:r>
                                  <a:rPr lang="en-GB" sz="1000" kern="100" smtClean="0">
                                    <a:solidFill>
                                      <a:schemeClr val="tx1"/>
                                    </a:solidFill>
                                    <a:effectLst/>
                                    <a:latin typeface="Cambria Math" panose="02040503050406030204" pitchFamily="18" charset="0"/>
                                  </a:rPr>
                                  <m:t>𝐹𝐸</m:t>
                                </m:r>
                              </m:oMath>
                            </m:oMathPara>
                          </a14:m>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extLst>
                      <a:ext uri="{0D108BD9-81ED-4DB2-BD59-A6C34878D82A}">
                        <a16:rowId xmlns:a16="http://schemas.microsoft.com/office/drawing/2014/main" val="19596595"/>
                      </a:ext>
                    </a:extLst>
                  </a:tr>
                  <a:tr h="223659">
                    <a:tc>
                      <a:txBody>
                        <a:bodyPr/>
                        <a:lstStyle/>
                        <a:p>
                          <a:pPr indent="127000" algn="ctr">
                            <a:buNone/>
                          </a:pPr>
                          <a14:m>
                            <m:oMathPara xmlns:m="http://schemas.openxmlformats.org/officeDocument/2006/math">
                              <m:oMathParaPr>
                                <m:jc m:val="centerGroup"/>
                              </m:oMathParaPr>
                              <m:oMath xmlns:m="http://schemas.openxmlformats.org/officeDocument/2006/math">
                                <m:r>
                                  <a:rPr lang="en-GB" sz="1000" kern="100" smtClean="0">
                                    <a:solidFill>
                                      <a:schemeClr val="tx1"/>
                                    </a:solidFill>
                                    <a:effectLst/>
                                    <a:latin typeface="Cambria Math" panose="02040503050406030204" pitchFamily="18" charset="0"/>
                                  </a:rPr>
                                  <m:t>𝐹𝑖𝑟𝑚</m:t>
                                </m:r>
                                <m:r>
                                  <a:rPr lang="en-GB" sz="1000" kern="100" smtClean="0">
                                    <a:solidFill>
                                      <a:schemeClr val="tx1"/>
                                    </a:solidFill>
                                    <a:effectLst/>
                                    <a:latin typeface="Cambria Math" panose="02040503050406030204" pitchFamily="18" charset="0"/>
                                  </a:rPr>
                                  <m:t> </m:t>
                                </m:r>
                                <m:r>
                                  <a:rPr lang="en-GB" sz="1000" kern="100" smtClean="0">
                                    <a:solidFill>
                                      <a:schemeClr val="tx1"/>
                                    </a:solidFill>
                                    <a:effectLst/>
                                    <a:latin typeface="Cambria Math" panose="02040503050406030204" pitchFamily="18" charset="0"/>
                                  </a:rPr>
                                  <m:t>𝐹𝐸</m:t>
                                </m:r>
                              </m:oMath>
                            </m:oMathPara>
                          </a14:m>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extLst>
                      <a:ext uri="{0D108BD9-81ED-4DB2-BD59-A6C34878D82A}">
                        <a16:rowId xmlns:a16="http://schemas.microsoft.com/office/drawing/2014/main" val="1380172909"/>
                      </a:ext>
                    </a:extLst>
                  </a:tr>
                  <a:tr h="223659">
                    <a:tc>
                      <a:txBody>
                        <a:bodyPr/>
                        <a:lstStyle/>
                        <a:p>
                          <a:pPr indent="127000" algn="ctr">
                            <a:buNone/>
                          </a:pPr>
                          <a14:m>
                            <m:oMathPara xmlns:m="http://schemas.openxmlformats.org/officeDocument/2006/math">
                              <m:oMathParaPr>
                                <m:jc m:val="centerGroup"/>
                              </m:oMathParaPr>
                              <m:oMath xmlns:m="http://schemas.openxmlformats.org/officeDocument/2006/math">
                                <m:r>
                                  <a:rPr lang="en-GB" sz="1000" kern="100" smtClean="0">
                                    <a:solidFill>
                                      <a:schemeClr val="tx1"/>
                                    </a:solidFill>
                                    <a:effectLst/>
                                    <a:latin typeface="Cambria Math" panose="02040503050406030204" pitchFamily="18" charset="0"/>
                                  </a:rPr>
                                  <m:t>𝑂𝑏𝑠𝑒𝑟𝑣𝑎𝑡𝑖𝑜𝑛𝑠</m:t>
                                </m:r>
                              </m:oMath>
                            </m:oMathPara>
                          </a14:m>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36,070</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31,823</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dirty="0">
                              <a:effectLst/>
                              <a:latin typeface="Times New Roman" panose="02020603050405020304" pitchFamily="18" charset="0"/>
                              <a:ea typeface="宋体" panose="02010600030101010101" pitchFamily="2" charset="-122"/>
                            </a:rPr>
                            <a:t>32039</a:t>
                          </a:r>
                          <a:endParaRPr lang="zh-CN" sz="1000" kern="100" dirty="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dirty="0">
                              <a:effectLst/>
                              <a:latin typeface="Times New Roman" panose="02020603050405020304" pitchFamily="18" charset="0"/>
                              <a:ea typeface="宋体" panose="02010600030101010101" pitchFamily="2" charset="-122"/>
                            </a:rPr>
                            <a:t>32039</a:t>
                          </a:r>
                          <a:endParaRPr lang="zh-CN" sz="1000" kern="100" dirty="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3185586498"/>
                      </a:ext>
                    </a:extLst>
                  </a:tr>
                  <a:tr h="223659">
                    <a:tc>
                      <a:txBody>
                        <a:bodyPr/>
                        <a:lstStyle/>
                        <a:p>
                          <a:pPr indent="127000" algn="ctr">
                            <a:buNone/>
                          </a:pPr>
                          <a14:m>
                            <m:oMathPara xmlns:m="http://schemas.openxmlformats.org/officeDocument/2006/math">
                              <m:oMathParaPr>
                                <m:jc m:val="centerGroup"/>
                              </m:oMathParaPr>
                              <m:oMath xmlns:m="http://schemas.openxmlformats.org/officeDocument/2006/math">
                                <m:sSup>
                                  <m:sSupPr>
                                    <m:ctrlPr>
                                      <a:rPr lang="zh-CN" sz="1000" i="1" kern="0" smtClean="0">
                                        <a:solidFill>
                                          <a:schemeClr val="tx1"/>
                                        </a:solidFill>
                                        <a:effectLst/>
                                        <a:latin typeface="Cambria Math" panose="02040503050406030204" pitchFamily="18" charset="0"/>
                                      </a:rPr>
                                    </m:ctrlPr>
                                  </m:sSupPr>
                                  <m:e>
                                    <m:r>
                                      <a:rPr lang="en-GB" sz="1000" kern="0">
                                        <a:solidFill>
                                          <a:schemeClr val="tx1"/>
                                        </a:solidFill>
                                        <a:effectLst/>
                                        <a:latin typeface="Cambria Math" panose="02040503050406030204" pitchFamily="18" charset="0"/>
                                      </a:rPr>
                                      <m:t>𝑅</m:t>
                                    </m:r>
                                  </m:e>
                                  <m:sup>
                                    <m:r>
                                      <a:rPr lang="en-GB" sz="1000" kern="0">
                                        <a:solidFill>
                                          <a:schemeClr val="tx1"/>
                                        </a:solidFill>
                                        <a:effectLst/>
                                        <a:latin typeface="Cambria Math" panose="02040503050406030204" pitchFamily="18" charset="0"/>
                                      </a:rPr>
                                      <m:t>2</m:t>
                                    </m:r>
                                  </m:sup>
                                </m:sSup>
                                <m:r>
                                  <a:rPr lang="en-GB" sz="1000" kern="0">
                                    <a:solidFill>
                                      <a:schemeClr val="tx1"/>
                                    </a:solidFill>
                                    <a:effectLst/>
                                    <a:latin typeface="Cambria Math" panose="02040503050406030204" pitchFamily="18" charset="0"/>
                                  </a:rPr>
                                  <m:t>_</m:t>
                                </m:r>
                                <m:r>
                                  <a:rPr lang="en-GB" sz="1000" kern="0">
                                    <a:solidFill>
                                      <a:schemeClr val="tx1"/>
                                    </a:solidFill>
                                    <a:effectLst/>
                                    <a:latin typeface="Cambria Math" panose="02040503050406030204" pitchFamily="18" charset="0"/>
                                  </a:rPr>
                                  <m:t>𝑎𝑑𝑗𝑢𝑠𝑡𝑒𝑑</m:t>
                                </m:r>
                              </m:oMath>
                            </m:oMathPara>
                          </a14:m>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a:t>
                          </a:r>
                          <a:endParaRPr lang="zh-CN" sz="1000" kern="100">
                            <a:effectLst/>
                            <a:latin typeface="Times New Roman" panose="02020603050405020304" pitchFamily="18" charset="0"/>
                            <a:ea typeface="宋体" panose="02010600030101010101" pitchFamily="2" charset="-122"/>
                          </a:endParaRPr>
                        </a:p>
                      </a:txBody>
                      <a:tcPr marL="47625" marR="47625" marT="0" marB="0">
                        <a:lnB w="12700" cap="flat" cmpd="sng" algn="ctr">
                          <a:solidFill>
                            <a:schemeClr val="tx1"/>
                          </a:solidFill>
                          <a:prstDash val="solid"/>
                          <a:round/>
                          <a:headEnd type="none" w="med" len="med"/>
                          <a:tailEnd type="none" w="med" len="med"/>
                        </a:lnB>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0.2035</a:t>
                          </a:r>
                          <a:endParaRPr lang="zh-CN" sz="1000" kern="100">
                            <a:effectLst/>
                            <a:latin typeface="Times New Roman" panose="02020603050405020304" pitchFamily="18" charset="0"/>
                            <a:ea typeface="宋体" panose="02010600030101010101" pitchFamily="2" charset="-122"/>
                          </a:endParaRPr>
                        </a:p>
                      </a:txBody>
                      <a:tcPr marL="47625" marR="47625" marT="0" marB="0">
                        <a:lnB w="12700" cap="flat" cmpd="sng" algn="ctr">
                          <a:solidFill>
                            <a:schemeClr val="tx1"/>
                          </a:solidFill>
                          <a:prstDash val="solid"/>
                          <a:round/>
                          <a:headEnd type="none" w="med" len="med"/>
                          <a:tailEnd type="none" w="med" len="med"/>
                        </a:lnB>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a:t>
                          </a:r>
                          <a:endParaRPr lang="zh-CN" sz="10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0.0222</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09929"/>
                      </a:ext>
                    </a:extLst>
                  </a:tr>
                </a:tbl>
              </a:graphicData>
            </a:graphic>
          </p:graphicFrame>
        </mc:Choice>
        <mc:Fallback>
          <p:graphicFrame>
            <p:nvGraphicFramePr>
              <p:cNvPr id="5" name="内容占位符 4">
                <a:extLst>
                  <a:ext uri="{FF2B5EF4-FFF2-40B4-BE49-F238E27FC236}">
                    <a16:creationId xmlns:a16="http://schemas.microsoft.com/office/drawing/2014/main" id="{9A3848CB-2623-D703-C0AE-ED56DD118993}"/>
                  </a:ext>
                </a:extLst>
              </p:cNvPr>
              <p:cNvGraphicFramePr>
                <a:graphicFrameLocks noGrp="1"/>
              </p:cNvGraphicFramePr>
              <p:nvPr>
                <p:ph sz="half" idx="2"/>
                <p:extLst>
                  <p:ext uri="{D42A27DB-BD31-4B8C-83A1-F6EECF244321}">
                    <p14:modId xmlns:p14="http://schemas.microsoft.com/office/powerpoint/2010/main" val="3560999810"/>
                  </p:ext>
                </p:extLst>
              </p:nvPr>
            </p:nvGraphicFramePr>
            <p:xfrm>
              <a:off x="6690944" y="2881058"/>
              <a:ext cx="5045413" cy="3907545"/>
            </p:xfrm>
            <a:graphic>
              <a:graphicData uri="http://schemas.openxmlformats.org/drawingml/2006/table">
                <a:tbl>
                  <a:tblPr firstRow="1" firstCol="1" bandRow="1">
                    <a:tableStyleId>{5C22544A-7EE6-4342-B048-85BDC9FD1C3A}</a:tableStyleId>
                  </a:tblPr>
                  <a:tblGrid>
                    <a:gridCol w="1636785">
                      <a:extLst>
                        <a:ext uri="{9D8B030D-6E8A-4147-A177-3AD203B41FA5}">
                          <a16:colId xmlns:a16="http://schemas.microsoft.com/office/drawing/2014/main" val="4094223620"/>
                        </a:ext>
                      </a:extLst>
                    </a:gridCol>
                    <a:gridCol w="852157">
                      <a:extLst>
                        <a:ext uri="{9D8B030D-6E8A-4147-A177-3AD203B41FA5}">
                          <a16:colId xmlns:a16="http://schemas.microsoft.com/office/drawing/2014/main" val="445686741"/>
                        </a:ext>
                      </a:extLst>
                    </a:gridCol>
                    <a:gridCol w="852157">
                      <a:extLst>
                        <a:ext uri="{9D8B030D-6E8A-4147-A177-3AD203B41FA5}">
                          <a16:colId xmlns:a16="http://schemas.microsoft.com/office/drawing/2014/main" val="1418089266"/>
                        </a:ext>
                      </a:extLst>
                    </a:gridCol>
                    <a:gridCol w="852157">
                      <a:extLst>
                        <a:ext uri="{9D8B030D-6E8A-4147-A177-3AD203B41FA5}">
                          <a16:colId xmlns:a16="http://schemas.microsoft.com/office/drawing/2014/main" val="854489707"/>
                        </a:ext>
                      </a:extLst>
                    </a:gridCol>
                    <a:gridCol w="852157">
                      <a:extLst>
                        <a:ext uri="{9D8B030D-6E8A-4147-A177-3AD203B41FA5}">
                          <a16:colId xmlns:a16="http://schemas.microsoft.com/office/drawing/2014/main" val="3839189701"/>
                        </a:ext>
                      </a:extLst>
                    </a:gridCol>
                  </a:tblGrid>
                  <a:tr h="223659">
                    <a:tc rowSpan="2">
                      <a:txBody>
                        <a:bodyPr/>
                        <a:lstStyle/>
                        <a:p>
                          <a:pPr indent="127000" algn="ctr">
                            <a:buNone/>
                          </a:pPr>
                          <a:r>
                            <a:rPr lang="zh-CN" sz="1000" kern="100" dirty="0">
                              <a:solidFill>
                                <a:schemeClr val="tx1"/>
                              </a:solidFill>
                              <a:effectLst/>
                            </a:rPr>
                            <a:t>变量</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000" kern="100" dirty="0">
                              <a:solidFill>
                                <a:schemeClr val="tx1"/>
                              </a:solidFill>
                              <a:effectLst/>
                            </a:rPr>
                            <a:t>(1)</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000" kern="100" dirty="0">
                              <a:solidFill>
                                <a:schemeClr val="tx1"/>
                              </a:solidFill>
                              <a:effectLst/>
                            </a:rPr>
                            <a:t>(2)</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000" kern="100" dirty="0">
                              <a:solidFill>
                                <a:schemeClr val="tx1"/>
                              </a:solidFill>
                              <a:effectLst/>
                            </a:rPr>
                            <a:t>(3)</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000" kern="100" dirty="0">
                              <a:solidFill>
                                <a:schemeClr val="tx1"/>
                              </a:solidFill>
                              <a:effectLst/>
                            </a:rPr>
                            <a:t>(4)</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775574019"/>
                      </a:ext>
                    </a:extLst>
                  </a:tr>
                  <a:tr h="223659">
                    <a:tc vMerge="1">
                      <a:txBody>
                        <a:bodyPr/>
                        <a:lstStyle/>
                        <a:p>
                          <a:endParaRPr lang="zh-CN" altLang="en-US"/>
                        </a:p>
                      </a:txBody>
                      <a:tcPr/>
                    </a:tc>
                    <a:tc>
                      <a:txBody>
                        <a:bodyPr/>
                        <a:lstStyle/>
                        <a:p>
                          <a:endParaRPr lang="zh-CN"/>
                        </a:p>
                      </a:txBody>
                      <a:tcPr marL="23796" marR="23796" marT="0" marB="0" anchor="ctr">
                        <a:lnB w="6350" cap="flat" cmpd="sng" algn="ctr">
                          <a:solidFill>
                            <a:schemeClr val="tx1"/>
                          </a:solidFill>
                          <a:prstDash val="solid"/>
                          <a:round/>
                          <a:headEnd type="none" w="med" len="med"/>
                          <a:tailEnd type="none" w="med" len="med"/>
                        </a:lnB>
                        <a:blipFill>
                          <a:blip r:embed="rId2"/>
                          <a:stretch>
                            <a:fillRect l="-192857" t="-105556" r="-302857" b="-1600000"/>
                          </a:stretch>
                        </a:blipFill>
                      </a:tcPr>
                    </a:tc>
                    <a:tc>
                      <a:txBody>
                        <a:bodyPr/>
                        <a:lstStyle/>
                        <a:p>
                          <a:endParaRPr lang="zh-CN"/>
                        </a:p>
                      </a:txBody>
                      <a:tcPr marL="23796" marR="23796" marT="0" marB="0" anchor="ctr">
                        <a:lnB w="6350" cap="flat" cmpd="sng" algn="ctr">
                          <a:solidFill>
                            <a:schemeClr val="tx1"/>
                          </a:solidFill>
                          <a:prstDash val="solid"/>
                          <a:round/>
                          <a:headEnd type="none" w="med" len="med"/>
                          <a:tailEnd type="none" w="med" len="med"/>
                        </a:lnB>
                        <a:blipFill>
                          <a:blip r:embed="rId2"/>
                          <a:stretch>
                            <a:fillRect l="-292857" t="-105556" r="-202857" b="-1600000"/>
                          </a:stretch>
                        </a:blipFill>
                      </a:tcPr>
                    </a:tc>
                    <a:tc>
                      <a:txBody>
                        <a:bodyPr/>
                        <a:lstStyle/>
                        <a:p>
                          <a:endParaRPr lang="zh-CN"/>
                        </a:p>
                      </a:txBody>
                      <a:tcPr marL="23796" marR="23796" marT="0" marB="0" anchor="ctr">
                        <a:lnB w="6350" cap="flat" cmpd="sng" algn="ctr">
                          <a:solidFill>
                            <a:schemeClr val="tx1"/>
                          </a:solidFill>
                          <a:prstDash val="solid"/>
                          <a:round/>
                          <a:headEnd type="none" w="med" len="med"/>
                          <a:tailEnd type="none" w="med" len="med"/>
                        </a:lnB>
                        <a:blipFill>
                          <a:blip r:embed="rId2"/>
                          <a:stretch>
                            <a:fillRect l="-392857" t="-105556" r="-102857" b="-1600000"/>
                          </a:stretch>
                        </a:blipFill>
                      </a:tcPr>
                    </a:tc>
                    <a:tc>
                      <a:txBody>
                        <a:bodyPr/>
                        <a:lstStyle/>
                        <a:p>
                          <a:endParaRPr lang="zh-CN"/>
                        </a:p>
                      </a:txBody>
                      <a:tcPr marL="23796" marR="23796" marT="0" marB="0" anchor="ctr">
                        <a:lnB w="6350" cap="flat" cmpd="sng" algn="ctr">
                          <a:solidFill>
                            <a:schemeClr val="tx1"/>
                          </a:solidFill>
                          <a:prstDash val="solid"/>
                          <a:round/>
                          <a:headEnd type="none" w="med" len="med"/>
                          <a:tailEnd type="none" w="med" len="med"/>
                        </a:lnB>
                        <a:blipFill>
                          <a:blip r:embed="rId2"/>
                          <a:stretch>
                            <a:fillRect l="-492857" t="-105556" r="-2857" b="-1600000"/>
                          </a:stretch>
                        </a:blipFill>
                      </a:tcPr>
                    </a:tc>
                    <a:extLst>
                      <a:ext uri="{0D108BD9-81ED-4DB2-BD59-A6C34878D82A}">
                        <a16:rowId xmlns:a16="http://schemas.microsoft.com/office/drawing/2014/main" val="1050207577"/>
                      </a:ext>
                    </a:extLst>
                  </a:tr>
                  <a:tr h="223659">
                    <a:tc>
                      <a:txBody>
                        <a:bodyPr/>
                        <a:lstStyle/>
                        <a:p>
                          <a:endParaRPr lang="zh-CN"/>
                        </a:p>
                      </a:txBody>
                      <a:tcPr marL="23796" marR="23796" marT="0" marB="0" anchor="ctr">
                        <a:lnT w="6350" cap="flat" cmpd="sng" algn="ctr">
                          <a:solidFill>
                            <a:schemeClr val="tx1"/>
                          </a:solidFill>
                          <a:prstDash val="solid"/>
                          <a:round/>
                          <a:headEnd type="none" w="med" len="med"/>
                          <a:tailEnd type="none" w="med" len="med"/>
                        </a:lnT>
                        <a:blipFill>
                          <a:blip r:embed="rId2"/>
                          <a:stretch>
                            <a:fillRect l="-372" t="-200000" r="-209665" b="-1456757"/>
                          </a:stretch>
                        </a:blip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lnT w="6350" cap="flat" cmpd="sng" algn="ctr">
                          <a:solidFill>
                            <a:schemeClr val="tx1"/>
                          </a:solidFill>
                          <a:prstDash val="solid"/>
                          <a:round/>
                          <a:headEnd type="none" w="med" len="med"/>
                          <a:tailEnd type="none" w="med" len="med"/>
                        </a:lnT>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-0.0036***</a:t>
                          </a:r>
                          <a:endParaRPr lang="zh-CN" sz="1000" kern="100">
                            <a:effectLst/>
                            <a:latin typeface="Times New Roman" panose="02020603050405020304" pitchFamily="18" charset="0"/>
                            <a:ea typeface="宋体" panose="02010600030101010101" pitchFamily="2" charset="-122"/>
                          </a:endParaRPr>
                        </a:p>
                      </a:txBody>
                      <a:tcPr marL="47625" marR="47625" marT="0" marB="0">
                        <a:lnT w="6350" cap="flat" cmpd="sng" algn="ctr">
                          <a:solidFill>
                            <a:schemeClr val="tx1"/>
                          </a:solidFill>
                          <a:prstDash val="solid"/>
                          <a:round/>
                          <a:headEnd type="none" w="med" len="med"/>
                          <a:tailEnd type="none" w="med" len="med"/>
                        </a:lnT>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lnT w="6350" cap="flat" cmpd="sng" algn="ctr">
                          <a:solidFill>
                            <a:schemeClr val="tx1"/>
                          </a:solidFill>
                          <a:prstDash val="solid"/>
                          <a:round/>
                          <a:headEnd type="none" w="med" len="med"/>
                          <a:tailEnd type="none" w="med" len="med"/>
                        </a:lnT>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-0.0095***</a:t>
                          </a:r>
                          <a:endParaRPr lang="zh-CN" sz="1000" kern="100">
                            <a:effectLst/>
                            <a:latin typeface="Times New Roman" panose="02020603050405020304" pitchFamily="18" charset="0"/>
                            <a:ea typeface="宋体" panose="02010600030101010101" pitchFamily="2" charset="-122"/>
                          </a:endParaRPr>
                        </a:p>
                      </a:txBody>
                      <a:tcPr marL="47625" marR="47625" marT="0" marB="0">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752378577"/>
                      </a:ext>
                    </a:extLst>
                  </a:tr>
                  <a:tr h="223659">
                    <a:tc>
                      <a:txBody>
                        <a:bodyPr/>
                        <a:lstStyle/>
                        <a:p>
                          <a:pPr indent="127000" algn="ctr">
                            <a:buNone/>
                          </a:pPr>
                          <a:r>
                            <a:rPr lang="en-GB" sz="1000" kern="100" dirty="0">
                              <a:solidFill>
                                <a:schemeClr val="tx1"/>
                              </a:solidFill>
                              <a:effectLst/>
                            </a:rPr>
                            <a:t> </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(0.0008)</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(0.0019)</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2297699581"/>
                      </a:ext>
                    </a:extLst>
                  </a:tr>
                  <a:tr h="223659">
                    <a:tc>
                      <a:txBody>
                        <a:bodyPr/>
                        <a:lstStyle/>
                        <a:p>
                          <a:endParaRPr lang="zh-CN"/>
                        </a:p>
                      </a:txBody>
                      <a:tcPr marL="23796" marR="23796" marT="0" marB="0" anchor="ctr">
                        <a:blipFill>
                          <a:blip r:embed="rId2"/>
                          <a:stretch>
                            <a:fillRect l="-372" t="-400000" r="-209665" b="-1256757"/>
                          </a:stretch>
                        </a:blip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-0.1619***</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1387902013"/>
                      </a:ext>
                    </a:extLst>
                  </a:tr>
                  <a:tr h="223659">
                    <a:tc>
                      <a:txBody>
                        <a:bodyPr/>
                        <a:lstStyle/>
                        <a:p>
                          <a:pPr indent="127000" algn="ctr">
                            <a:buNone/>
                          </a:pPr>
                          <a:r>
                            <a:rPr lang="en-GB" sz="1000" kern="100">
                              <a:solidFill>
                                <a:schemeClr val="tx1"/>
                              </a:solidFill>
                              <a:effectLst/>
                            </a:rPr>
                            <a:t> </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0" dirty="0">
                              <a:effectLst/>
                              <a:latin typeface="Times New Roman" panose="02020603050405020304" pitchFamily="18" charset="0"/>
                              <a:ea typeface="宋体" panose="02010600030101010101" pitchFamily="2" charset="-122"/>
                            </a:rPr>
                            <a:t>(0.0485)</a:t>
                          </a:r>
                          <a:endParaRPr lang="zh-CN" sz="1000" kern="100" dirty="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2710156555"/>
                      </a:ext>
                    </a:extLst>
                  </a:tr>
                  <a:tr h="223659">
                    <a:tc>
                      <a:txBody>
                        <a:bodyPr/>
                        <a:lstStyle/>
                        <a:p>
                          <a:endParaRPr lang="zh-CN"/>
                        </a:p>
                      </a:txBody>
                      <a:tcPr marL="23796" marR="23796" marT="0" marB="0" anchor="ctr">
                        <a:blipFill>
                          <a:blip r:embed="rId2"/>
                          <a:stretch>
                            <a:fillRect l="-372" t="-597297" r="-209665" b="-1059459"/>
                          </a:stretch>
                        </a:blip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0.0043</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2004623242"/>
                      </a:ext>
                    </a:extLst>
                  </a:tr>
                  <a:tr h="223659">
                    <a:tc>
                      <a:txBody>
                        <a:bodyPr/>
                        <a:lstStyle/>
                        <a:p>
                          <a:pPr indent="127000" algn="ctr">
                            <a:buNone/>
                          </a:pPr>
                          <a:r>
                            <a:rPr lang="en-GB" sz="1000" kern="100">
                              <a:solidFill>
                                <a:schemeClr val="tx1"/>
                              </a:solidFill>
                              <a:effectLst/>
                            </a:rPr>
                            <a:t> </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(0.0110)</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2079317354"/>
                      </a:ext>
                    </a:extLst>
                  </a:tr>
                  <a:tr h="223659">
                    <a:tc>
                      <a:txBody>
                        <a:bodyPr/>
                        <a:lstStyle/>
                        <a:p>
                          <a:endParaRPr lang="zh-CN"/>
                        </a:p>
                      </a:txBody>
                      <a:tcPr marL="23796" marR="23796" marT="0" marB="0" anchor="ctr">
                        <a:blipFill>
                          <a:blip r:embed="rId2"/>
                          <a:stretch>
                            <a:fillRect l="-372" t="-797297" r="-209665" b="-859459"/>
                          </a:stretch>
                        </a:blip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0.0083***</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1023960832"/>
                      </a:ext>
                    </a:extLst>
                  </a:tr>
                  <a:tr h="223659">
                    <a:tc>
                      <a:txBody>
                        <a:bodyPr/>
                        <a:lstStyle/>
                        <a:p>
                          <a:pPr indent="127000" algn="ctr">
                            <a:buNone/>
                          </a:pPr>
                          <a:r>
                            <a:rPr lang="en-GB" sz="1000" kern="100">
                              <a:solidFill>
                                <a:schemeClr val="tx1"/>
                              </a:solidFill>
                              <a:effectLst/>
                            </a:rPr>
                            <a:t> </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(0.0004)</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408415363"/>
                      </a:ext>
                    </a:extLst>
                  </a:tr>
                  <a:tr h="329001">
                    <a:tc>
                      <a:txBody>
                        <a:bodyPr/>
                        <a:lstStyle/>
                        <a:p>
                          <a:pPr indent="127000" algn="ctr">
                            <a:buNone/>
                          </a:pPr>
                          <a:r>
                            <a:rPr lang="en-GB" sz="1000" kern="100">
                              <a:solidFill>
                                <a:schemeClr val="tx1"/>
                              </a:solidFill>
                              <a:effectLst/>
                            </a:rPr>
                            <a:t>Kleibergen-Paap rk LM</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165.328***</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785995325"/>
                      </a:ext>
                    </a:extLst>
                  </a:tr>
                  <a:tr h="223659">
                    <a:tc>
                      <a:txBody>
                        <a:bodyPr/>
                        <a:lstStyle/>
                        <a:p>
                          <a:pPr indent="127000" algn="ctr">
                            <a:buNone/>
                          </a:pPr>
                          <a:r>
                            <a:rPr lang="en-GB" sz="1000" kern="100">
                              <a:solidFill>
                                <a:schemeClr val="tx1"/>
                              </a:solidFill>
                              <a:effectLst/>
                            </a:rPr>
                            <a:t>Cragg-Donald Wald F</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 </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5216.832</a:t>
                          </a:r>
                          <a:endParaRPr lang="zh-CN" sz="10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000" kern="0" dirty="0">
                              <a:effectLst/>
                              <a:latin typeface="Times New Roman" panose="02020603050405020304" pitchFamily="18" charset="0"/>
                              <a:ea typeface="宋体" panose="02010600030101010101" pitchFamily="2" charset="-122"/>
                            </a:rPr>
                            <a:t> </a:t>
                          </a:r>
                          <a:endParaRPr lang="zh-CN" sz="1000" kern="100" dirty="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840068440"/>
                      </a:ext>
                    </a:extLst>
                  </a:tr>
                  <a:tr h="223659">
                    <a:tc>
                      <a:txBody>
                        <a:bodyPr/>
                        <a:lstStyle/>
                        <a:p>
                          <a:endParaRPr lang="zh-CN"/>
                        </a:p>
                      </a:txBody>
                      <a:tcPr marL="23796" marR="23796" marT="0" marB="0" anchor="ctr">
                        <a:blipFill>
                          <a:blip r:embed="rId2"/>
                          <a:stretch>
                            <a:fillRect l="-372" t="-1240541" r="-209665" b="-416216"/>
                          </a:stretch>
                        </a:blip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extLst>
                      <a:ext uri="{0D108BD9-81ED-4DB2-BD59-A6C34878D82A}">
                        <a16:rowId xmlns:a16="http://schemas.microsoft.com/office/drawing/2014/main" val="2727203649"/>
                      </a:ext>
                    </a:extLst>
                  </a:tr>
                  <a:tr h="223659">
                    <a:tc>
                      <a:txBody>
                        <a:bodyPr/>
                        <a:lstStyle/>
                        <a:p>
                          <a:endParaRPr lang="zh-CN"/>
                        </a:p>
                      </a:txBody>
                      <a:tcPr marL="23796" marR="23796" marT="0" marB="0" anchor="ctr">
                        <a:blipFill>
                          <a:blip r:embed="rId2"/>
                          <a:stretch>
                            <a:fillRect l="-372" t="-1340541" r="-209665" b="-316216"/>
                          </a:stretch>
                        </a:blip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extLst>
                      <a:ext uri="{0D108BD9-81ED-4DB2-BD59-A6C34878D82A}">
                        <a16:rowId xmlns:a16="http://schemas.microsoft.com/office/drawing/2014/main" val="19596595"/>
                      </a:ext>
                    </a:extLst>
                  </a:tr>
                  <a:tr h="223659">
                    <a:tc>
                      <a:txBody>
                        <a:bodyPr/>
                        <a:lstStyle/>
                        <a:p>
                          <a:endParaRPr lang="zh-CN"/>
                        </a:p>
                      </a:txBody>
                      <a:tcPr marL="23796" marR="23796" marT="0" marB="0" anchor="ctr">
                        <a:blipFill>
                          <a:blip r:embed="rId2"/>
                          <a:stretch>
                            <a:fillRect l="-372" t="-1440541" r="-209665" b="-216216"/>
                          </a:stretch>
                        </a:blip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a:solidFill>
                                <a:schemeClr val="tx1"/>
                              </a:solidFill>
                              <a:effectLst/>
                            </a:rPr>
                            <a:t>Yes</a:t>
                          </a:r>
                          <a:endParaRPr lang="zh-CN" sz="1000" kern="10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tc>
                      <a:txBody>
                        <a:bodyPr/>
                        <a:lstStyle/>
                        <a:p>
                          <a:pPr indent="127000" algn="ctr">
                            <a:buNone/>
                          </a:pPr>
                          <a:r>
                            <a:rPr lang="en-GB" sz="1000" kern="100" dirty="0">
                              <a:solidFill>
                                <a:schemeClr val="tx1"/>
                              </a:solidFill>
                              <a:effectLst/>
                            </a:rPr>
                            <a:t>Yes</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23796" marR="23796" marT="0" marB="0" anchor="ctr">
                        <a:noFill/>
                      </a:tcPr>
                    </a:tc>
                    <a:extLst>
                      <a:ext uri="{0D108BD9-81ED-4DB2-BD59-A6C34878D82A}">
                        <a16:rowId xmlns:a16="http://schemas.microsoft.com/office/drawing/2014/main" val="1380172909"/>
                      </a:ext>
                    </a:extLst>
                  </a:tr>
                  <a:tr h="223659">
                    <a:tc>
                      <a:txBody>
                        <a:bodyPr/>
                        <a:lstStyle/>
                        <a:p>
                          <a:endParaRPr lang="zh-CN"/>
                        </a:p>
                      </a:txBody>
                      <a:tcPr marL="23796" marR="23796" marT="0" marB="0" anchor="ctr">
                        <a:blipFill>
                          <a:blip r:embed="rId2"/>
                          <a:stretch>
                            <a:fillRect l="-372" t="-1583333" r="-209665" b="-122222"/>
                          </a:stretch>
                        </a:blip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36,070</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31,823</a:t>
                          </a:r>
                          <a:endParaRPr lang="zh-CN" sz="1000" kern="10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dirty="0">
                              <a:effectLst/>
                              <a:latin typeface="Times New Roman" panose="02020603050405020304" pitchFamily="18" charset="0"/>
                              <a:ea typeface="宋体" panose="02010600030101010101" pitchFamily="2" charset="-122"/>
                            </a:rPr>
                            <a:t>32039</a:t>
                          </a:r>
                          <a:endParaRPr lang="zh-CN" sz="1000" kern="100" dirty="0">
                            <a:effectLst/>
                            <a:latin typeface="Times New Roman" panose="02020603050405020304" pitchFamily="18" charset="0"/>
                            <a:ea typeface="宋体" panose="02010600030101010101" pitchFamily="2" charset="-122"/>
                          </a:endParaRPr>
                        </a:p>
                      </a:txBody>
                      <a:tcPr marL="47625" marR="47625" marT="0" marB="0">
                        <a:noFill/>
                      </a:tcPr>
                    </a:tc>
                    <a:tc>
                      <a:txBody>
                        <a:bodyPr/>
                        <a:lstStyle/>
                        <a:p>
                          <a:pPr indent="127000" algn="ctr">
                            <a:buNone/>
                          </a:pPr>
                          <a:r>
                            <a:rPr lang="en-GB" sz="1000" kern="0" dirty="0">
                              <a:effectLst/>
                              <a:latin typeface="Times New Roman" panose="02020603050405020304" pitchFamily="18" charset="0"/>
                              <a:ea typeface="宋体" panose="02010600030101010101" pitchFamily="2" charset="-122"/>
                            </a:rPr>
                            <a:t>32039</a:t>
                          </a:r>
                          <a:endParaRPr lang="zh-CN" sz="1000" kern="100" dirty="0">
                            <a:effectLst/>
                            <a:latin typeface="Times New Roman" panose="02020603050405020304" pitchFamily="18" charset="0"/>
                            <a:ea typeface="宋体" panose="02010600030101010101" pitchFamily="2" charset="-122"/>
                          </a:endParaRPr>
                        </a:p>
                      </a:txBody>
                      <a:tcPr marL="47625" marR="47625" marT="0" marB="0">
                        <a:noFill/>
                      </a:tcPr>
                    </a:tc>
                    <a:extLst>
                      <a:ext uri="{0D108BD9-81ED-4DB2-BD59-A6C34878D82A}">
                        <a16:rowId xmlns:a16="http://schemas.microsoft.com/office/drawing/2014/main" val="3185586498"/>
                      </a:ext>
                    </a:extLst>
                  </a:tr>
                  <a:tr h="223659">
                    <a:tc>
                      <a:txBody>
                        <a:bodyPr/>
                        <a:lstStyle/>
                        <a:p>
                          <a:endParaRPr lang="zh-CN"/>
                        </a:p>
                      </a:txBody>
                      <a:tcPr marL="23796" marR="23796" marT="0" marB="0" anchor="ctr">
                        <a:lnB w="12700" cap="flat" cmpd="sng" algn="ctr">
                          <a:solidFill>
                            <a:schemeClr val="tx1"/>
                          </a:solidFill>
                          <a:prstDash val="solid"/>
                          <a:round/>
                          <a:headEnd type="none" w="med" len="med"/>
                          <a:tailEnd type="none" w="med" len="med"/>
                        </a:lnB>
                        <a:blipFill>
                          <a:blip r:embed="rId2"/>
                          <a:stretch>
                            <a:fillRect l="-372" t="-1637838" r="-209665" b="-18919"/>
                          </a:stretch>
                        </a:blip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a:t>
                          </a:r>
                          <a:endParaRPr lang="zh-CN" sz="1000" kern="100">
                            <a:effectLst/>
                            <a:latin typeface="Times New Roman" panose="02020603050405020304" pitchFamily="18" charset="0"/>
                            <a:ea typeface="宋体" panose="02010600030101010101" pitchFamily="2" charset="-122"/>
                          </a:endParaRPr>
                        </a:p>
                      </a:txBody>
                      <a:tcPr marL="47625" marR="47625" marT="0" marB="0">
                        <a:lnB w="12700" cap="flat" cmpd="sng" algn="ctr">
                          <a:solidFill>
                            <a:schemeClr val="tx1"/>
                          </a:solidFill>
                          <a:prstDash val="solid"/>
                          <a:round/>
                          <a:headEnd type="none" w="med" len="med"/>
                          <a:tailEnd type="none" w="med" len="med"/>
                        </a:lnB>
                        <a:noFill/>
                      </a:tcPr>
                    </a:tc>
                    <a:tc>
                      <a:txBody>
                        <a:bodyPr/>
                        <a:lstStyle/>
                        <a:p>
                          <a:pPr indent="127000" algn="ctr">
                            <a:buNone/>
                          </a:pPr>
                          <a:r>
                            <a:rPr lang="en-GB" sz="1000" kern="0">
                              <a:effectLst/>
                              <a:latin typeface="Times New Roman" panose="02020603050405020304" pitchFamily="18" charset="0"/>
                              <a:ea typeface="宋体" panose="02010600030101010101" pitchFamily="2" charset="-122"/>
                            </a:rPr>
                            <a:t>0.2035</a:t>
                          </a:r>
                          <a:endParaRPr lang="zh-CN" sz="1000" kern="100">
                            <a:effectLst/>
                            <a:latin typeface="Times New Roman" panose="02020603050405020304" pitchFamily="18" charset="0"/>
                            <a:ea typeface="宋体" panose="02010600030101010101" pitchFamily="2" charset="-122"/>
                          </a:endParaRPr>
                        </a:p>
                      </a:txBody>
                      <a:tcPr marL="47625" marR="47625" marT="0" marB="0">
                        <a:lnB w="12700" cap="flat" cmpd="sng" algn="ctr">
                          <a:solidFill>
                            <a:schemeClr val="tx1"/>
                          </a:solidFill>
                          <a:prstDash val="solid"/>
                          <a:round/>
                          <a:headEnd type="none" w="med" len="med"/>
                          <a:tailEnd type="none" w="med" len="med"/>
                        </a:lnB>
                        <a:noFill/>
                      </a:tcPr>
                    </a:tc>
                    <a:tc>
                      <a:txBody>
                        <a:bodyPr/>
                        <a:lstStyle/>
                        <a:p>
                          <a:pPr indent="127000" algn="ctr">
                            <a:buNone/>
                          </a:pPr>
                          <a:r>
                            <a:rPr lang="en-GB" sz="1000" kern="100">
                              <a:effectLst/>
                              <a:latin typeface="Times New Roman" panose="02020603050405020304" pitchFamily="18" charset="0"/>
                              <a:ea typeface="宋体" panose="02010600030101010101" pitchFamily="2" charset="-122"/>
                            </a:rPr>
                            <a:t>.</a:t>
                          </a:r>
                          <a:endParaRPr lang="zh-CN" sz="10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000" kern="100" dirty="0">
                              <a:effectLst/>
                              <a:latin typeface="Times New Roman" panose="02020603050405020304" pitchFamily="18" charset="0"/>
                              <a:ea typeface="宋体" panose="02010600030101010101" pitchFamily="2" charset="-122"/>
                            </a:rPr>
                            <a:t>0.0222</a:t>
                          </a:r>
                          <a:endParaRPr lang="zh-CN" sz="1000" kern="100" dirty="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09929"/>
                      </a:ext>
                    </a:extLst>
                  </a:tr>
                </a:tbl>
              </a:graphicData>
            </a:graphic>
          </p:graphicFrame>
        </mc:Fallback>
      </mc:AlternateContent>
      <p:sp>
        <p:nvSpPr>
          <p:cNvPr id="6" name="文本框 5">
            <a:extLst>
              <a:ext uri="{FF2B5EF4-FFF2-40B4-BE49-F238E27FC236}">
                <a16:creationId xmlns:a16="http://schemas.microsoft.com/office/drawing/2014/main" id="{09152B01-FAA0-DE9E-B023-1456E44594F6}"/>
              </a:ext>
            </a:extLst>
          </p:cNvPr>
          <p:cNvSpPr txBox="1"/>
          <p:nvPr/>
        </p:nvSpPr>
        <p:spPr>
          <a:xfrm>
            <a:off x="7412652" y="2604059"/>
            <a:ext cx="3704860" cy="276999"/>
          </a:xfrm>
          <a:prstGeom prst="rect">
            <a:avLst/>
          </a:prstGeom>
          <a:noFill/>
        </p:spPr>
        <p:txBody>
          <a:bodyPr wrap="none" rtlCol="0">
            <a:spAutoFit/>
          </a:bodyPr>
          <a:lstStyle/>
          <a:p>
            <a:r>
              <a:rPr lang="zh-CN" altLang="en-US" sz="1200" b="1" dirty="0"/>
              <a:t>表</a:t>
            </a:r>
            <a:r>
              <a:rPr lang="en-US" altLang="zh-CN" sz="1200" b="1" dirty="0"/>
              <a:t>4 </a:t>
            </a:r>
            <a:r>
              <a:rPr lang="zh-CN" altLang="en-US" sz="1200" b="1" dirty="0"/>
              <a:t>内生性处理：样本选择偏误与反向因果问题检验</a:t>
            </a:r>
          </a:p>
        </p:txBody>
      </p:sp>
      <p:graphicFrame>
        <p:nvGraphicFramePr>
          <p:cNvPr id="4" name="表格 3">
            <a:extLst>
              <a:ext uri="{FF2B5EF4-FFF2-40B4-BE49-F238E27FC236}">
                <a16:creationId xmlns:a16="http://schemas.microsoft.com/office/drawing/2014/main" id="{CDF28681-0F55-4E20-F8FD-5833F1525BB1}"/>
              </a:ext>
            </a:extLst>
          </p:cNvPr>
          <p:cNvGraphicFramePr>
            <a:graphicFrameLocks noGrp="1"/>
          </p:cNvGraphicFramePr>
          <p:nvPr>
            <p:extLst>
              <p:ext uri="{D42A27DB-BD31-4B8C-83A1-F6EECF244321}">
                <p14:modId xmlns:p14="http://schemas.microsoft.com/office/powerpoint/2010/main" val="3903483325"/>
              </p:ext>
            </p:extLst>
          </p:nvPr>
        </p:nvGraphicFramePr>
        <p:xfrm>
          <a:off x="5747658" y="1690688"/>
          <a:ext cx="6444342" cy="731520"/>
        </p:xfrm>
        <a:graphic>
          <a:graphicData uri="http://schemas.openxmlformats.org/drawingml/2006/table">
            <a:tbl>
              <a:tblPr firstRow="1" firstCol="1" bandRow="1">
                <a:tableStyleId>{5C22544A-7EE6-4342-B048-85BDC9FD1C3A}</a:tableStyleId>
              </a:tblPr>
              <a:tblGrid>
                <a:gridCol w="2286000">
                  <a:extLst>
                    <a:ext uri="{9D8B030D-6E8A-4147-A177-3AD203B41FA5}">
                      <a16:colId xmlns:a16="http://schemas.microsoft.com/office/drawing/2014/main" val="3875005432"/>
                    </a:ext>
                  </a:extLst>
                </a:gridCol>
                <a:gridCol w="1443858">
                  <a:extLst>
                    <a:ext uri="{9D8B030D-6E8A-4147-A177-3AD203B41FA5}">
                      <a16:colId xmlns:a16="http://schemas.microsoft.com/office/drawing/2014/main" val="816487564"/>
                    </a:ext>
                  </a:extLst>
                </a:gridCol>
                <a:gridCol w="1357242">
                  <a:extLst>
                    <a:ext uri="{9D8B030D-6E8A-4147-A177-3AD203B41FA5}">
                      <a16:colId xmlns:a16="http://schemas.microsoft.com/office/drawing/2014/main" val="2887794452"/>
                    </a:ext>
                  </a:extLst>
                </a:gridCol>
                <a:gridCol w="1357242">
                  <a:extLst>
                    <a:ext uri="{9D8B030D-6E8A-4147-A177-3AD203B41FA5}">
                      <a16:colId xmlns:a16="http://schemas.microsoft.com/office/drawing/2014/main" val="1957658285"/>
                    </a:ext>
                  </a:extLst>
                </a:gridCol>
              </a:tblGrid>
              <a:tr h="182751">
                <a:tc>
                  <a:txBody>
                    <a:bodyPr/>
                    <a:lstStyle/>
                    <a:p>
                      <a:pPr indent="127000" algn="ctr">
                        <a:buNone/>
                      </a:pPr>
                      <a:r>
                        <a:rPr lang="zh-CN" sz="1200" b="0" kern="100" dirty="0">
                          <a:solidFill>
                            <a:schemeClr val="tx1"/>
                          </a:solidFill>
                          <a:effectLst/>
                        </a:rPr>
                        <a:t>有限集控制变量</a:t>
                      </a:r>
                      <a:endParaRPr lang="zh-CN" sz="12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200" b="0" kern="100" dirty="0">
                          <a:solidFill>
                            <a:schemeClr val="tx1"/>
                          </a:solidFill>
                          <a:effectLst/>
                        </a:rPr>
                        <a:t>有限集回归系数</a:t>
                      </a:r>
                      <a:endParaRPr lang="zh-CN" sz="12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200" b="0" kern="100" dirty="0">
                          <a:solidFill>
                            <a:schemeClr val="tx1"/>
                          </a:solidFill>
                          <a:effectLst/>
                        </a:rPr>
                        <a:t>全集回归系数</a:t>
                      </a:r>
                      <a:endParaRPr lang="zh-CN" sz="12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zh-CN" sz="1200" b="0" kern="100" dirty="0">
                          <a:solidFill>
                            <a:schemeClr val="tx1"/>
                          </a:solidFill>
                          <a:effectLst/>
                        </a:rPr>
                        <a:t>差异比率</a:t>
                      </a:r>
                      <a:endParaRPr lang="zh-CN" sz="12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1164218"/>
                  </a:ext>
                </a:extLst>
              </a:tr>
              <a:tr h="182751">
                <a:tc>
                  <a:txBody>
                    <a:bodyPr/>
                    <a:lstStyle/>
                    <a:p>
                      <a:pPr indent="127000" algn="ctr">
                        <a:buNone/>
                      </a:pPr>
                      <a:r>
                        <a:rPr lang="zh-CN" sz="1200" b="0" kern="100" dirty="0">
                          <a:solidFill>
                            <a:schemeClr val="tx1"/>
                          </a:solidFill>
                          <a:effectLst/>
                        </a:rPr>
                        <a:t>无控制变量，无年份固定效应</a:t>
                      </a:r>
                      <a:endParaRPr lang="zh-CN" sz="12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100" dirty="0">
                          <a:solidFill>
                            <a:schemeClr val="tx1"/>
                          </a:solidFill>
                          <a:effectLst/>
                        </a:rPr>
                        <a:t>-0.0092</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dirty="0">
                          <a:solidFill>
                            <a:schemeClr val="tx1"/>
                          </a:solidFill>
                          <a:effectLst/>
                        </a:rPr>
                        <a:t>-0.0033</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solidFill>
                            <a:schemeClr val="tx1"/>
                          </a:solidFill>
                          <a:effectLst/>
                        </a:rPr>
                        <a:t>0.5582</a:t>
                      </a:r>
                      <a:endParaRPr lang="zh-CN" sz="12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8770786"/>
                  </a:ext>
                </a:extLst>
              </a:tr>
              <a:tr h="182751">
                <a:tc>
                  <a:txBody>
                    <a:bodyPr/>
                    <a:lstStyle/>
                    <a:p>
                      <a:pPr indent="127000" algn="ctr">
                        <a:buNone/>
                      </a:pPr>
                      <a:r>
                        <a:rPr lang="zh-CN" sz="1200" b="0" kern="100" dirty="0">
                          <a:solidFill>
                            <a:schemeClr val="tx1"/>
                          </a:solidFill>
                          <a:effectLst/>
                        </a:rPr>
                        <a:t>无控制变量，有固定效应</a:t>
                      </a:r>
                      <a:endParaRPr lang="zh-CN" sz="12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noFill/>
                  </a:tcPr>
                </a:tc>
                <a:tc>
                  <a:txBody>
                    <a:bodyPr/>
                    <a:lstStyle/>
                    <a:p>
                      <a:pPr indent="127000" algn="ctr">
                        <a:buNone/>
                      </a:pPr>
                      <a:r>
                        <a:rPr lang="en-GB" sz="1200" kern="100" dirty="0">
                          <a:solidFill>
                            <a:schemeClr val="tx1"/>
                          </a:solidFill>
                          <a:effectLst/>
                        </a:rPr>
                        <a:t>-0.0036</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noFill/>
                  </a:tcPr>
                </a:tc>
                <a:tc>
                  <a:txBody>
                    <a:bodyPr/>
                    <a:lstStyle/>
                    <a:p>
                      <a:pPr indent="127000" algn="ctr">
                        <a:buNone/>
                      </a:pPr>
                      <a:r>
                        <a:rPr lang="en-GB" sz="1200" kern="0" dirty="0">
                          <a:solidFill>
                            <a:schemeClr val="tx1"/>
                          </a:solidFill>
                          <a:effectLst/>
                        </a:rPr>
                        <a:t>-0.0033</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oFill/>
                  </a:tcPr>
                </a:tc>
                <a:tc>
                  <a:txBody>
                    <a:bodyPr/>
                    <a:lstStyle/>
                    <a:p>
                      <a:pPr indent="127000" algn="ctr">
                        <a:buNone/>
                      </a:pPr>
                      <a:r>
                        <a:rPr lang="en-GB" sz="1200" kern="100">
                          <a:solidFill>
                            <a:schemeClr val="tx1"/>
                          </a:solidFill>
                          <a:effectLst/>
                        </a:rPr>
                        <a:t>12.1106</a:t>
                      </a:r>
                      <a:endParaRPr lang="zh-CN" sz="12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noFill/>
                  </a:tcPr>
                </a:tc>
                <a:extLst>
                  <a:ext uri="{0D108BD9-81ED-4DB2-BD59-A6C34878D82A}">
                    <a16:rowId xmlns:a16="http://schemas.microsoft.com/office/drawing/2014/main" val="464303987"/>
                  </a:ext>
                </a:extLst>
              </a:tr>
              <a:tr h="182751">
                <a:tc>
                  <a:txBody>
                    <a:bodyPr/>
                    <a:lstStyle/>
                    <a:p>
                      <a:pPr indent="127000" algn="ctr">
                        <a:buNone/>
                      </a:pPr>
                      <a:r>
                        <a:rPr lang="zh-CN" sz="1200" b="0" kern="100" dirty="0">
                          <a:solidFill>
                            <a:schemeClr val="tx1"/>
                          </a:solidFill>
                          <a:effectLst/>
                        </a:rPr>
                        <a:t>有控制变量，无年份固定效应</a:t>
                      </a:r>
                      <a:endParaRPr lang="zh-CN" sz="12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100">
                          <a:solidFill>
                            <a:schemeClr val="tx1"/>
                          </a:solidFill>
                          <a:effectLst/>
                        </a:rPr>
                        <a:t>-0.0033</a:t>
                      </a:r>
                      <a:endParaRPr lang="zh-CN" sz="12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dirty="0">
                          <a:solidFill>
                            <a:schemeClr val="tx1"/>
                          </a:solidFill>
                          <a:effectLst/>
                        </a:rPr>
                        <a:t>-0.0033</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100" dirty="0">
                          <a:solidFill>
                            <a:schemeClr val="tx1"/>
                          </a:solidFill>
                          <a:effectLst/>
                        </a:rPr>
                        <a:t>903.8025</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5223235"/>
                  </a:ext>
                </a:extLst>
              </a:tr>
            </a:tbl>
          </a:graphicData>
        </a:graphic>
      </p:graphicFrame>
      <p:sp>
        <p:nvSpPr>
          <p:cNvPr id="7" name="Rectangle 1">
            <a:extLst>
              <a:ext uri="{FF2B5EF4-FFF2-40B4-BE49-F238E27FC236}">
                <a16:creationId xmlns:a16="http://schemas.microsoft.com/office/drawing/2014/main" id="{A49E7E15-39D5-984B-974F-78112B3252E4}"/>
              </a:ext>
            </a:extLst>
          </p:cNvPr>
          <p:cNvSpPr>
            <a:spLocks noChangeArrowheads="1"/>
          </p:cNvSpPr>
          <p:nvPr/>
        </p:nvSpPr>
        <p:spPr bwMode="auto">
          <a:xfrm>
            <a:off x="8085798" y="1413689"/>
            <a:ext cx="22502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8288"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27000" algn="l" defTabSz="914400" rtl="0" eaLnBrk="0" fontAlgn="base" latinLnBrk="0" hangingPunct="0">
              <a:lnSpc>
                <a:spcPct val="100000"/>
              </a:lnSpc>
              <a:spcBef>
                <a:spcPct val="0"/>
              </a:spcBef>
              <a:spcAft>
                <a:spcPct val="0"/>
              </a:spcAft>
              <a:buClrTx/>
              <a:buSzTx/>
              <a:buFontTx/>
              <a:buNone/>
              <a:tabLst/>
            </a:pPr>
            <a:r>
              <a:rPr lang="zh-CN" altLang="en-GB" sz="1200" b="1" dirty="0">
                <a:latin typeface="+mn-lt"/>
              </a:rPr>
              <a:t>表</a:t>
            </a:r>
            <a:r>
              <a:rPr lang="en-GB" altLang="zh-CN" sz="1200" b="1" dirty="0">
                <a:latin typeface="+mn-lt"/>
              </a:rPr>
              <a:t>3 </a:t>
            </a:r>
            <a:r>
              <a:rPr lang="zh-CN" altLang="en-GB" sz="1200" b="1" dirty="0">
                <a:latin typeface="+mn-lt"/>
              </a:rPr>
              <a:t>遗漏变量偏误检验</a:t>
            </a:r>
          </a:p>
        </p:txBody>
      </p:sp>
    </p:spTree>
    <p:extLst>
      <p:ext uri="{BB962C8B-B14F-4D97-AF65-F5344CB8AC3E}">
        <p14:creationId xmlns:p14="http://schemas.microsoft.com/office/powerpoint/2010/main" val="143224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3628D0-CC66-0A1B-F5F4-40EF1F6105DA}"/>
              </a:ext>
            </a:extLst>
          </p:cNvPr>
          <p:cNvSpPr>
            <a:spLocks noGrp="1"/>
          </p:cNvSpPr>
          <p:nvPr>
            <p:ph type="title"/>
          </p:nvPr>
        </p:nvSpPr>
        <p:spPr/>
        <p:txBody>
          <a:bodyPr vert="horz" lIns="91440" tIns="45720" rIns="91440" bIns="45720" rtlCol="0" anchor="ctr">
            <a:normAutofit/>
          </a:bodyPr>
          <a:lstStyle/>
          <a:p>
            <a:r>
              <a:rPr lang="zh-CN" altLang="en-US" sz="2800" dirty="0"/>
              <a:t>实证结果分析</a:t>
            </a:r>
          </a:p>
        </p:txBody>
      </p:sp>
      <p:sp>
        <p:nvSpPr>
          <p:cNvPr id="3" name="内容占位符 2">
            <a:extLst>
              <a:ext uri="{FF2B5EF4-FFF2-40B4-BE49-F238E27FC236}">
                <a16:creationId xmlns:a16="http://schemas.microsoft.com/office/drawing/2014/main" id="{F7DCB1F8-650F-4C45-6BB6-B0B5A5C2729A}"/>
              </a:ext>
            </a:extLst>
          </p:cNvPr>
          <p:cNvSpPr>
            <a:spLocks noGrp="1"/>
          </p:cNvSpPr>
          <p:nvPr>
            <p:ph sz="half" idx="1"/>
          </p:nvPr>
        </p:nvSpPr>
        <p:spPr/>
        <p:txBody>
          <a:bodyPr>
            <a:normAutofit/>
          </a:bodyPr>
          <a:lstStyle/>
          <a:p>
            <a:pPr marL="0" indent="0">
              <a:buNone/>
            </a:pPr>
            <a:r>
              <a:rPr lang="zh-CN" altLang="zh-CN" sz="2400" dirty="0"/>
              <a:t>稳健性检验</a:t>
            </a:r>
            <a:endParaRPr lang="en-US" altLang="zh-CN" sz="2400" dirty="0"/>
          </a:p>
          <a:p>
            <a:pPr lvl="1"/>
            <a:r>
              <a:rPr lang="zh-CN" altLang="en-US" sz="2000" dirty="0"/>
              <a:t>替换核心变量</a:t>
            </a:r>
            <a:endParaRPr lang="en-US" altLang="zh-CN" sz="2000" dirty="0"/>
          </a:p>
          <a:p>
            <a:pPr lvl="2"/>
            <a:r>
              <a:rPr lang="zh-CN" altLang="en-US" sz="1600" dirty="0"/>
              <a:t>解释变量</a:t>
            </a:r>
            <a:endParaRPr lang="en-US" altLang="zh-CN" sz="1600" dirty="0"/>
          </a:p>
          <a:p>
            <a:pPr lvl="2"/>
            <a:r>
              <a:rPr lang="zh-CN" altLang="en-US" sz="1600" dirty="0"/>
              <a:t>被解释变量</a:t>
            </a:r>
            <a:endParaRPr lang="en-US" altLang="zh-CN" sz="1600" dirty="0"/>
          </a:p>
          <a:p>
            <a:pPr lvl="1"/>
            <a:r>
              <a:rPr lang="zh-CN" altLang="en-US" sz="2000" dirty="0"/>
              <a:t>调整样本范围</a:t>
            </a:r>
            <a:endParaRPr lang="en-US" altLang="zh-CN" sz="2000" dirty="0"/>
          </a:p>
          <a:p>
            <a:pPr lvl="2"/>
            <a:r>
              <a:rPr lang="en-US" altLang="zh-CN" sz="1600" dirty="0"/>
              <a:t>2014-2022</a:t>
            </a:r>
            <a:r>
              <a:rPr lang="zh-CN" altLang="en-US" sz="1600" dirty="0"/>
              <a:t>年</a:t>
            </a:r>
            <a:endParaRPr lang="en-US" altLang="zh-CN" sz="1600" dirty="0"/>
          </a:p>
          <a:p>
            <a:pPr lvl="1"/>
            <a:r>
              <a:rPr lang="zh-CN" altLang="en-US" sz="2000" dirty="0"/>
              <a:t>双重机器学习</a:t>
            </a:r>
            <a:endParaRPr lang="en-US" altLang="zh-CN" sz="2000" dirty="0"/>
          </a:p>
          <a:p>
            <a:pPr lvl="2"/>
            <a:r>
              <a:rPr lang="zh-CN" altLang="en-US" sz="1600" dirty="0"/>
              <a:t>修正正则化估计偏差（</a:t>
            </a:r>
            <a:r>
              <a:rPr lang="en-US" altLang="zh-CN" sz="1600" dirty="0"/>
              <a:t>Chernozhukov et al.</a:t>
            </a:r>
            <a:r>
              <a:rPr lang="zh-CN" altLang="en-US" sz="1600" dirty="0"/>
              <a:t>，</a:t>
            </a:r>
            <a:r>
              <a:rPr lang="en-US" altLang="zh-CN" sz="1600" dirty="0"/>
              <a:t>2018</a:t>
            </a:r>
            <a:r>
              <a:rPr lang="zh-CN" altLang="en-US" sz="1600" dirty="0"/>
              <a:t>）</a:t>
            </a:r>
          </a:p>
        </p:txBody>
      </p:sp>
      <mc:AlternateContent xmlns:mc="http://schemas.openxmlformats.org/markup-compatibility/2006" xmlns:a14="http://schemas.microsoft.com/office/drawing/2010/main">
        <mc:Choice Requires="a14">
          <p:graphicFrame>
            <p:nvGraphicFramePr>
              <p:cNvPr id="5" name="内容占位符 4">
                <a:extLst>
                  <a:ext uri="{FF2B5EF4-FFF2-40B4-BE49-F238E27FC236}">
                    <a16:creationId xmlns:a16="http://schemas.microsoft.com/office/drawing/2014/main" id="{022429C6-2B26-D9E6-4342-2ED6C79A0CBE}"/>
                  </a:ext>
                </a:extLst>
              </p:cNvPr>
              <p:cNvGraphicFramePr>
                <a:graphicFrameLocks noGrp="1"/>
              </p:cNvGraphicFramePr>
              <p:nvPr>
                <p:ph sz="half" idx="2"/>
                <p:extLst>
                  <p:ext uri="{D42A27DB-BD31-4B8C-83A1-F6EECF244321}">
                    <p14:modId xmlns:p14="http://schemas.microsoft.com/office/powerpoint/2010/main" val="1234163286"/>
                  </p:ext>
                </p:extLst>
              </p:nvPr>
            </p:nvGraphicFramePr>
            <p:xfrm>
              <a:off x="6172198" y="1690688"/>
              <a:ext cx="5659020" cy="4239142"/>
            </p:xfrm>
            <a:graphic>
              <a:graphicData uri="http://schemas.openxmlformats.org/drawingml/2006/table">
                <a:tbl>
                  <a:tblPr firstRow="1" firstCol="1" bandRow="1">
                    <a:tableStyleId>{5C22544A-7EE6-4342-B048-85BDC9FD1C3A}</a:tableStyleId>
                  </a:tblPr>
                  <a:tblGrid>
                    <a:gridCol w="993495">
                      <a:extLst>
                        <a:ext uri="{9D8B030D-6E8A-4147-A177-3AD203B41FA5}">
                          <a16:colId xmlns:a16="http://schemas.microsoft.com/office/drawing/2014/main" val="2901096901"/>
                        </a:ext>
                      </a:extLst>
                    </a:gridCol>
                    <a:gridCol w="933105">
                      <a:extLst>
                        <a:ext uri="{9D8B030D-6E8A-4147-A177-3AD203B41FA5}">
                          <a16:colId xmlns:a16="http://schemas.microsoft.com/office/drawing/2014/main" val="484431067"/>
                        </a:ext>
                      </a:extLst>
                    </a:gridCol>
                    <a:gridCol w="933105">
                      <a:extLst>
                        <a:ext uri="{9D8B030D-6E8A-4147-A177-3AD203B41FA5}">
                          <a16:colId xmlns:a16="http://schemas.microsoft.com/office/drawing/2014/main" val="1281718253"/>
                        </a:ext>
                      </a:extLst>
                    </a:gridCol>
                    <a:gridCol w="933105">
                      <a:extLst>
                        <a:ext uri="{9D8B030D-6E8A-4147-A177-3AD203B41FA5}">
                          <a16:colId xmlns:a16="http://schemas.microsoft.com/office/drawing/2014/main" val="2838878712"/>
                        </a:ext>
                      </a:extLst>
                    </a:gridCol>
                    <a:gridCol w="933105">
                      <a:extLst>
                        <a:ext uri="{9D8B030D-6E8A-4147-A177-3AD203B41FA5}">
                          <a16:colId xmlns:a16="http://schemas.microsoft.com/office/drawing/2014/main" val="523886502"/>
                        </a:ext>
                      </a:extLst>
                    </a:gridCol>
                    <a:gridCol w="933105">
                      <a:extLst>
                        <a:ext uri="{9D8B030D-6E8A-4147-A177-3AD203B41FA5}">
                          <a16:colId xmlns:a16="http://schemas.microsoft.com/office/drawing/2014/main" val="105514380"/>
                        </a:ext>
                      </a:extLst>
                    </a:gridCol>
                  </a:tblGrid>
                  <a:tr h="229076">
                    <a:tc rowSpan="2">
                      <a:txBody>
                        <a:bodyPr/>
                        <a:lstStyle/>
                        <a:p>
                          <a:pPr indent="127000" algn="ctr">
                            <a:buNone/>
                          </a:pPr>
                          <a:r>
                            <a:rPr lang="zh-CN" sz="1100" b="1" kern="100" dirty="0">
                              <a:solidFill>
                                <a:schemeClr val="tx1"/>
                              </a:solidFill>
                              <a:effectLst/>
                              <a:latin typeface="+mn-ea"/>
                              <a:ea typeface="+mn-ea"/>
                            </a:rPr>
                            <a:t>变量</a:t>
                          </a:r>
                        </a:p>
                      </a:txBody>
                      <a:tcPr marL="23467" marR="23467"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200" kern="100" dirty="0">
                              <a:solidFill>
                                <a:schemeClr val="tx1"/>
                              </a:solidFill>
                              <a:effectLst/>
                              <a:latin typeface="Times New Roman" panose="02020603050405020304" pitchFamily="18" charset="0"/>
                              <a:ea typeface="宋体" panose="02010600030101010101" pitchFamily="2" charset="-122"/>
                            </a:rPr>
                            <a:t>(1)</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100" dirty="0">
                              <a:solidFill>
                                <a:schemeClr val="tx1"/>
                              </a:solidFill>
                              <a:effectLst/>
                              <a:latin typeface="Times New Roman" panose="02020603050405020304" pitchFamily="18" charset="0"/>
                              <a:ea typeface="宋体" panose="02010600030101010101" pitchFamily="2" charset="-122"/>
                            </a:rPr>
                            <a:t>(2)</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solidFill>
                                <a:schemeClr val="tx1"/>
                              </a:solidFill>
                              <a:effectLst/>
                              <a:latin typeface="Times New Roman" panose="02020603050405020304" pitchFamily="18" charset="0"/>
                              <a:ea typeface="宋体" panose="02010600030101010101" pitchFamily="2" charset="-122"/>
                            </a:rPr>
                            <a:t>(3)</a:t>
                          </a:r>
                          <a:endParaRPr lang="zh-CN" sz="12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solidFill>
                                <a:schemeClr val="tx1"/>
                              </a:solidFill>
                              <a:effectLst/>
                              <a:latin typeface="Times New Roman" panose="02020603050405020304" pitchFamily="18" charset="0"/>
                              <a:ea typeface="宋体" panose="02010600030101010101" pitchFamily="2" charset="-122"/>
                            </a:rPr>
                            <a:t>(4)</a:t>
                          </a:r>
                          <a:endParaRPr lang="zh-CN" sz="12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100" dirty="0">
                              <a:solidFill>
                                <a:schemeClr val="tx1"/>
                              </a:solidFill>
                              <a:effectLst/>
                              <a:latin typeface="Times New Roman" panose="02020603050405020304" pitchFamily="18" charset="0"/>
                              <a:ea typeface="宋体" panose="02010600030101010101" pitchFamily="2" charset="-122"/>
                            </a:rPr>
                            <a:t>(5)</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078012370"/>
                      </a:ext>
                    </a:extLst>
                  </a:tr>
                  <a:tr h="229076">
                    <a:tc vMerge="1">
                      <a:txBody>
                        <a:bodyPr/>
                        <a:lstStyle/>
                        <a:p>
                          <a:endParaRPr lang="zh-CN" altLang="en-US"/>
                        </a:p>
                      </a:txBody>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0">
                                    <a:effectLst/>
                                    <a:latin typeface="Cambria Math" panose="02040503050406030204" pitchFamily="18" charset="0"/>
                                    <a:ea typeface="宋体" panose="02010600030101010101" pitchFamily="2" charset="-122"/>
                                  </a:rPr>
                                  <m:t>𝐼𝑛𝑣</m:t>
                                </m:r>
                                <m:r>
                                  <a:rPr lang="en-GB" sz="1200" i="1" kern="0">
                                    <a:effectLst/>
                                    <a:latin typeface="Cambria Math" panose="02040503050406030204" pitchFamily="18" charset="0"/>
                                    <a:ea typeface="宋体" panose="02010600030101010101" pitchFamily="2" charset="-122"/>
                                  </a:rPr>
                                  <m:t>_</m:t>
                                </m:r>
                                <m:r>
                                  <a:rPr lang="en-GB" sz="1200" i="1" kern="0">
                                    <a:effectLst/>
                                    <a:latin typeface="Cambria Math" panose="02040503050406030204" pitchFamily="18" charset="0"/>
                                    <a:ea typeface="宋体" panose="02010600030101010101" pitchFamily="2" charset="-122"/>
                                  </a:rPr>
                                  <m:t>𝑒</m:t>
                                </m:r>
                              </m:oMath>
                            </m:oMathPara>
                          </a14:m>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0">
                                    <a:effectLst/>
                                    <a:latin typeface="Cambria Math" panose="02040503050406030204" pitchFamily="18" charset="0"/>
                                    <a:ea typeface="宋体" panose="02010600030101010101" pitchFamily="2" charset="-122"/>
                                  </a:rPr>
                                  <m:t>𝐼𝑛𝑣</m:t>
                                </m:r>
                                <m:r>
                                  <a:rPr lang="en-GB" sz="1200" i="1" kern="0">
                                    <a:effectLst/>
                                    <a:latin typeface="Cambria Math" panose="02040503050406030204" pitchFamily="18" charset="0"/>
                                    <a:ea typeface="宋体" panose="02010600030101010101" pitchFamily="2" charset="-122"/>
                                  </a:rPr>
                                  <m:t>_</m:t>
                                </m:r>
                                <m:r>
                                  <a:rPr lang="en-GB" sz="1200" i="1" kern="0">
                                    <a:effectLst/>
                                    <a:latin typeface="Cambria Math" panose="02040503050406030204" pitchFamily="18" charset="0"/>
                                    <a:ea typeface="宋体" panose="02010600030101010101" pitchFamily="2" charset="-122"/>
                                  </a:rPr>
                                  <m:t>𝑒𝑅</m:t>
                                </m:r>
                              </m:oMath>
                            </m:oMathPara>
                          </a14:m>
                          <a:endParaRPr lang="zh-CN" sz="1200" kern="100">
                            <a:effectLst/>
                            <a:latin typeface="Times New Roman" panose="02020603050405020304" pitchFamily="18" charset="0"/>
                            <a:ea typeface="宋体" panose="02010600030101010101" pitchFamily="2" charset="-122"/>
                          </a:endParaRPr>
                        </a:p>
                      </a:txBody>
                      <a:tcPr marL="47625" marR="47625"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0">
                                    <a:effectLst/>
                                    <a:latin typeface="Cambria Math" panose="02040503050406030204" pitchFamily="18" charset="0"/>
                                    <a:ea typeface="宋体" panose="02010600030101010101" pitchFamily="2" charset="-122"/>
                                  </a:rPr>
                                  <m:t>𝐼𝑛𝑣</m:t>
                                </m:r>
                                <m:r>
                                  <a:rPr lang="en-GB" sz="1200" i="1" kern="0">
                                    <a:effectLst/>
                                    <a:latin typeface="Cambria Math" panose="02040503050406030204" pitchFamily="18" charset="0"/>
                                    <a:ea typeface="宋体" panose="02010600030101010101" pitchFamily="2" charset="-122"/>
                                  </a:rPr>
                                  <m:t>_</m:t>
                                </m:r>
                                <m:r>
                                  <a:rPr lang="en-GB" sz="1200" i="1" kern="0">
                                    <a:effectLst/>
                                    <a:latin typeface="Cambria Math" panose="02040503050406030204" pitchFamily="18" charset="0"/>
                                    <a:ea typeface="宋体" panose="02010600030101010101" pitchFamily="2" charset="-122"/>
                                  </a:rPr>
                                  <m:t>𝑒𝐶</m:t>
                                </m:r>
                              </m:oMath>
                            </m:oMathPara>
                          </a14:m>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0">
                                    <a:effectLst/>
                                    <a:latin typeface="Cambria Math" panose="02040503050406030204" pitchFamily="18" charset="0"/>
                                    <a:ea typeface="宋体" panose="02010600030101010101" pitchFamily="2" charset="-122"/>
                                  </a:rPr>
                                  <m:t>𝐼𝑛𝑣</m:t>
                                </m:r>
                                <m:r>
                                  <a:rPr lang="en-GB" sz="1200" i="1" kern="0">
                                    <a:effectLst/>
                                    <a:latin typeface="Cambria Math" panose="02040503050406030204" pitchFamily="18" charset="0"/>
                                    <a:ea typeface="宋体" panose="02010600030101010101" pitchFamily="2" charset="-122"/>
                                  </a:rPr>
                                  <m:t>_</m:t>
                                </m:r>
                                <m:r>
                                  <a:rPr lang="en-GB" sz="1200" i="1" kern="0">
                                    <a:effectLst/>
                                    <a:latin typeface="Cambria Math" panose="02040503050406030204" pitchFamily="18" charset="0"/>
                                    <a:ea typeface="宋体" panose="02010600030101010101" pitchFamily="2" charset="-122"/>
                                  </a:rPr>
                                  <m:t>𝑒</m:t>
                                </m:r>
                              </m:oMath>
                            </m:oMathPara>
                          </a14:m>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0">
                                    <a:effectLst/>
                                    <a:latin typeface="Cambria Math" panose="02040503050406030204" pitchFamily="18" charset="0"/>
                                    <a:ea typeface="宋体" panose="02010600030101010101" pitchFamily="2" charset="-122"/>
                                  </a:rPr>
                                  <m:t>𝐼𝑛𝑣</m:t>
                                </m:r>
                                <m:r>
                                  <a:rPr lang="en-GB" sz="1200" i="1" kern="0">
                                    <a:effectLst/>
                                    <a:latin typeface="Cambria Math" panose="02040503050406030204" pitchFamily="18" charset="0"/>
                                    <a:ea typeface="宋体" panose="02010600030101010101" pitchFamily="2" charset="-122"/>
                                  </a:rPr>
                                  <m:t>_</m:t>
                                </m:r>
                                <m:r>
                                  <a:rPr lang="en-GB" sz="1200" i="1" kern="0">
                                    <a:effectLst/>
                                    <a:latin typeface="Cambria Math" panose="02040503050406030204" pitchFamily="18" charset="0"/>
                                    <a:ea typeface="宋体" panose="02010600030101010101" pitchFamily="2" charset="-122"/>
                                  </a:rPr>
                                  <m:t>𝑒</m:t>
                                </m:r>
                              </m:oMath>
                            </m:oMathPara>
                          </a14:m>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6022925"/>
                      </a:ext>
                    </a:extLst>
                  </a:tr>
                  <a:tr h="420110">
                    <a:tc>
                      <a:txBody>
                        <a:bodyPr/>
                        <a:lstStyle/>
                        <a:p>
                          <a:pPr indent="127000" algn="ctr">
                            <a:buNone/>
                          </a:pPr>
                          <a14:m>
                            <m:oMathPara xmlns:m="http://schemas.openxmlformats.org/officeDocument/2006/math">
                              <m:oMathParaPr>
                                <m:jc m:val="centerGroup"/>
                              </m:oMathParaPr>
                              <m:oMath xmlns:m="http://schemas.openxmlformats.org/officeDocument/2006/math">
                                <m:r>
                                  <a:rPr lang="en-GB" sz="900" i="1" kern="100" smtClean="0">
                                    <a:solidFill>
                                      <a:schemeClr val="tx1"/>
                                    </a:solidFill>
                                    <a:effectLst/>
                                    <a:latin typeface="Cambria Math" panose="02040503050406030204" pitchFamily="18" charset="0"/>
                                    <a:ea typeface="宋体" panose="02010600030101010101" pitchFamily="2" charset="-122"/>
                                  </a:rPr>
                                  <m:t>𝐴</m:t>
                                </m:r>
                                <m:sSub>
                                  <m:sSubPr>
                                    <m:ctrlPr>
                                      <a:rPr lang="zh-CN" sz="900" i="1" kern="100">
                                        <a:solidFill>
                                          <a:schemeClr val="tx1"/>
                                        </a:solidFill>
                                        <a:effectLst/>
                                        <a:latin typeface="Cambria Math" panose="02040503050406030204" pitchFamily="18" charset="0"/>
                                        <a:ea typeface="Cambria Math" panose="02040503050406030204" pitchFamily="18" charset="0"/>
                                      </a:rPr>
                                    </m:ctrlPr>
                                  </m:sSubPr>
                                  <m:e>
                                    <m:r>
                                      <a:rPr lang="en-GB" sz="900" i="1" kern="100">
                                        <a:solidFill>
                                          <a:schemeClr val="tx1"/>
                                        </a:solidFill>
                                        <a:effectLst/>
                                        <a:latin typeface="Cambria Math" panose="02040503050406030204" pitchFamily="18" charset="0"/>
                                        <a:ea typeface="宋体" panose="02010600030101010101" pitchFamily="2" charset="-122"/>
                                      </a:rPr>
                                      <m:t>𝐼</m:t>
                                    </m:r>
                                  </m:e>
                                  <m:sub>
                                    <m:r>
                                      <a:rPr lang="en-GB" sz="900" i="1" kern="100">
                                        <a:solidFill>
                                          <a:schemeClr val="tx1"/>
                                        </a:solidFill>
                                        <a:effectLst/>
                                        <a:latin typeface="Cambria Math" panose="02040503050406030204" pitchFamily="18" charset="0"/>
                                        <a:ea typeface="宋体" panose="02010600030101010101" pitchFamily="2" charset="-122"/>
                                      </a:rPr>
                                      <m:t>𝑝𝑎𝑡𝑒𝑛𝑡</m:t>
                                    </m:r>
                                  </m:sub>
                                </m:sSub>
                              </m:oMath>
                            </m:oMathPara>
                          </a14:m>
                          <a:endParaRPr lang="zh-CN" sz="9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-0.0064**</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7201929"/>
                      </a:ext>
                    </a:extLst>
                  </a:tr>
                  <a:tr h="420110">
                    <a:tc>
                      <a:txBody>
                        <a:bodyPr/>
                        <a:lstStyle/>
                        <a:p>
                          <a:pPr indent="127000" algn="ctr">
                            <a:buNone/>
                          </a:pPr>
                          <a:r>
                            <a:rPr lang="en-GB" sz="900" kern="100">
                              <a:solidFill>
                                <a:schemeClr val="tx1"/>
                              </a:solidFill>
                              <a:effectLst/>
                              <a:latin typeface="Times New Roman" panose="02020603050405020304" pitchFamily="18" charset="0"/>
                              <a:ea typeface="宋体" panose="02010600030101010101" pitchFamily="2" charset="-122"/>
                            </a:rPr>
                            <a:t> </a:t>
                          </a:r>
                          <a:endParaRPr lang="zh-CN" sz="9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(0.0029)</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752214202"/>
                      </a:ext>
                    </a:extLst>
                  </a:tr>
                  <a:tr h="420110">
                    <a:tc>
                      <a:txBody>
                        <a:bodyPr/>
                        <a:lstStyle/>
                        <a:p>
                          <a:pPr indent="127000" algn="ctr">
                            <a:buNone/>
                          </a:pPr>
                          <a14:m>
                            <m:oMathPara xmlns:m="http://schemas.openxmlformats.org/officeDocument/2006/math">
                              <m:oMathParaPr>
                                <m:jc m:val="centerGroup"/>
                              </m:oMathParaPr>
                              <m:oMath xmlns:m="http://schemas.openxmlformats.org/officeDocument/2006/math">
                                <m:r>
                                  <a:rPr lang="en-GB" sz="900" i="1" kern="100" smtClean="0">
                                    <a:solidFill>
                                      <a:schemeClr val="tx1"/>
                                    </a:solidFill>
                                    <a:effectLst/>
                                    <a:latin typeface="Cambria Math" panose="02040503050406030204" pitchFamily="18" charset="0"/>
                                    <a:ea typeface="宋体" panose="02010600030101010101" pitchFamily="2" charset="-122"/>
                                  </a:rPr>
                                  <m:t>𝐴</m:t>
                                </m:r>
                                <m:sSub>
                                  <m:sSubPr>
                                    <m:ctrlPr>
                                      <a:rPr lang="zh-CN" sz="900" i="1" kern="100">
                                        <a:solidFill>
                                          <a:schemeClr val="tx1"/>
                                        </a:solidFill>
                                        <a:effectLst/>
                                        <a:latin typeface="Cambria Math" panose="02040503050406030204" pitchFamily="18" charset="0"/>
                                        <a:ea typeface="Cambria Math" panose="02040503050406030204" pitchFamily="18" charset="0"/>
                                      </a:rPr>
                                    </m:ctrlPr>
                                  </m:sSubPr>
                                  <m:e>
                                    <m:r>
                                      <a:rPr lang="en-GB" sz="900" i="1" kern="100">
                                        <a:solidFill>
                                          <a:schemeClr val="tx1"/>
                                        </a:solidFill>
                                        <a:effectLst/>
                                        <a:latin typeface="Cambria Math" panose="02040503050406030204" pitchFamily="18" charset="0"/>
                                        <a:ea typeface="宋体" panose="02010600030101010101" pitchFamily="2" charset="-122"/>
                                      </a:rPr>
                                      <m:t>𝐼</m:t>
                                    </m:r>
                                  </m:e>
                                  <m:sub>
                                    <m:r>
                                      <a:rPr lang="en-GB" sz="900" i="1" kern="100">
                                        <a:solidFill>
                                          <a:schemeClr val="tx1"/>
                                        </a:solidFill>
                                        <a:effectLst/>
                                        <a:latin typeface="Cambria Math" panose="02040503050406030204" pitchFamily="18" charset="0"/>
                                        <a:ea typeface="宋体" panose="02010600030101010101" pitchFamily="2" charset="-122"/>
                                      </a:rPr>
                                      <m:t>𝑢𝑡𝑖𝑙𝑖𝑧𝑒</m:t>
                                    </m:r>
                                  </m:sub>
                                </m:sSub>
                              </m:oMath>
                            </m:oMathPara>
                          </a14:m>
                          <a:endParaRPr lang="zh-CN" sz="9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-0.0065***</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-0.0040***</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-0.0046***</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-0.0031***</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2389960367"/>
                      </a:ext>
                    </a:extLst>
                  </a:tr>
                  <a:tr h="420110">
                    <a:tc>
                      <a:txBody>
                        <a:bodyPr/>
                        <a:lstStyle/>
                        <a:p>
                          <a:pPr indent="127000" algn="ctr">
                            <a:buNone/>
                          </a:pPr>
                          <a:r>
                            <a:rPr lang="en-GB" sz="900" kern="100">
                              <a:solidFill>
                                <a:schemeClr val="tx1"/>
                              </a:solidFill>
                              <a:effectLst/>
                              <a:latin typeface="Times New Roman" panose="02020603050405020304" pitchFamily="18" charset="0"/>
                              <a:ea typeface="宋体" panose="02010600030101010101" pitchFamily="2" charset="-122"/>
                            </a:rPr>
                            <a:t> </a:t>
                          </a:r>
                          <a:endParaRPr lang="zh-CN" sz="9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(0.0015)</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(0.0007)</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(0.0007)</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(0.0004)</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190635398"/>
                      </a:ext>
                    </a:extLst>
                  </a:tr>
                  <a:tr h="420110">
                    <a:tc>
                      <a:txBody>
                        <a:bodyPr/>
                        <a:lstStyle/>
                        <a:p>
                          <a:pPr indent="127000" algn="ctr">
                            <a:buNone/>
                          </a:pPr>
                          <a14:m>
                            <m:oMathPara xmlns:m="http://schemas.openxmlformats.org/officeDocument/2006/math">
                              <m:oMathParaPr>
                                <m:jc m:val="centerGroup"/>
                              </m:oMathParaPr>
                              <m:oMath xmlns:m="http://schemas.openxmlformats.org/officeDocument/2006/math">
                                <m:r>
                                  <a:rPr lang="en-GB" sz="900" i="1" kern="100" smtClean="0">
                                    <a:solidFill>
                                      <a:schemeClr val="tx1"/>
                                    </a:solidFill>
                                    <a:effectLst/>
                                    <a:latin typeface="Cambria Math" panose="02040503050406030204" pitchFamily="18" charset="0"/>
                                    <a:ea typeface="宋体" panose="02010600030101010101" pitchFamily="2" charset="-122"/>
                                  </a:rPr>
                                  <m:t>𝐶𝑜𝑛𝑡𝑟𝑜𝑙</m:t>
                                </m:r>
                              </m:oMath>
                            </m:oMathPara>
                          </a14:m>
                          <a:endParaRPr lang="zh-CN" sz="9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913483080"/>
                      </a:ext>
                    </a:extLst>
                  </a:tr>
                  <a:tr h="420110">
                    <a:tc>
                      <a:txBody>
                        <a:bodyPr/>
                        <a:lstStyle/>
                        <a:p>
                          <a:pPr indent="127000" algn="ctr">
                            <a:buNone/>
                          </a:pPr>
                          <a14:m>
                            <m:oMathPara xmlns:m="http://schemas.openxmlformats.org/officeDocument/2006/math">
                              <m:oMathParaPr>
                                <m:jc m:val="centerGroup"/>
                              </m:oMathParaPr>
                              <m:oMath xmlns:m="http://schemas.openxmlformats.org/officeDocument/2006/math">
                                <m:r>
                                  <a:rPr lang="en-GB" sz="900" i="1" kern="100" smtClean="0">
                                    <a:solidFill>
                                      <a:schemeClr val="tx1"/>
                                    </a:solidFill>
                                    <a:effectLst/>
                                    <a:latin typeface="Cambria Math" panose="02040503050406030204" pitchFamily="18" charset="0"/>
                                    <a:ea typeface="宋体" panose="02010600030101010101" pitchFamily="2" charset="-122"/>
                                  </a:rPr>
                                  <m:t>𝑌𝑒𝑎𝑟</m:t>
                                </m:r>
                                <m:r>
                                  <a:rPr lang="en-GB" sz="900" i="1" kern="100" smtClean="0">
                                    <a:solidFill>
                                      <a:schemeClr val="tx1"/>
                                    </a:solidFill>
                                    <a:effectLst/>
                                    <a:latin typeface="Cambria Math" panose="02040503050406030204" pitchFamily="18" charset="0"/>
                                    <a:ea typeface="宋体" panose="02010600030101010101" pitchFamily="2" charset="-122"/>
                                  </a:rPr>
                                  <m:t> </m:t>
                                </m:r>
                                <m:r>
                                  <a:rPr lang="en-GB" sz="900" i="1" kern="100" smtClean="0">
                                    <a:solidFill>
                                      <a:schemeClr val="tx1"/>
                                    </a:solidFill>
                                    <a:effectLst/>
                                    <a:latin typeface="Cambria Math" panose="02040503050406030204" pitchFamily="18" charset="0"/>
                                    <a:ea typeface="宋体" panose="02010600030101010101" pitchFamily="2" charset="-122"/>
                                  </a:rPr>
                                  <m:t>𝐹𝐸</m:t>
                                </m:r>
                              </m:oMath>
                            </m:oMathPara>
                          </a14:m>
                          <a:endParaRPr lang="zh-CN" sz="9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489812688"/>
                      </a:ext>
                    </a:extLst>
                  </a:tr>
                  <a:tr h="420110">
                    <a:tc>
                      <a:txBody>
                        <a:bodyPr/>
                        <a:lstStyle/>
                        <a:p>
                          <a:pPr indent="127000" algn="ctr">
                            <a:buNone/>
                          </a:pPr>
                          <a14:m>
                            <m:oMathPara xmlns:m="http://schemas.openxmlformats.org/officeDocument/2006/math">
                              <m:oMathParaPr>
                                <m:jc m:val="centerGroup"/>
                              </m:oMathParaPr>
                              <m:oMath xmlns:m="http://schemas.openxmlformats.org/officeDocument/2006/math">
                                <m:r>
                                  <a:rPr lang="en-GB" sz="900" i="1" kern="100" smtClean="0">
                                    <a:solidFill>
                                      <a:schemeClr val="tx1"/>
                                    </a:solidFill>
                                    <a:effectLst/>
                                    <a:latin typeface="Cambria Math" panose="02040503050406030204" pitchFamily="18" charset="0"/>
                                    <a:ea typeface="宋体" panose="02010600030101010101" pitchFamily="2" charset="-122"/>
                                  </a:rPr>
                                  <m:t>𝐹𝑖𝑟𝑚</m:t>
                                </m:r>
                                <m:r>
                                  <a:rPr lang="en-GB" sz="900" i="1" kern="100" smtClean="0">
                                    <a:solidFill>
                                      <a:schemeClr val="tx1"/>
                                    </a:solidFill>
                                    <a:effectLst/>
                                    <a:latin typeface="Cambria Math" panose="02040503050406030204" pitchFamily="18" charset="0"/>
                                    <a:ea typeface="宋体" panose="02010600030101010101" pitchFamily="2" charset="-122"/>
                                  </a:rPr>
                                  <m:t> </m:t>
                                </m:r>
                                <m:r>
                                  <a:rPr lang="en-GB" sz="900" i="1" kern="100" smtClean="0">
                                    <a:solidFill>
                                      <a:schemeClr val="tx1"/>
                                    </a:solidFill>
                                    <a:effectLst/>
                                    <a:latin typeface="Cambria Math" panose="02040503050406030204" pitchFamily="18" charset="0"/>
                                    <a:ea typeface="宋体" panose="02010600030101010101" pitchFamily="2" charset="-122"/>
                                  </a:rPr>
                                  <m:t>𝐹𝐸</m:t>
                                </m:r>
                              </m:oMath>
                            </m:oMathPara>
                          </a14:m>
                          <a:endParaRPr lang="zh-CN" sz="9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151376761"/>
                      </a:ext>
                    </a:extLst>
                  </a:tr>
                  <a:tr h="420110">
                    <a:tc>
                      <a:txBody>
                        <a:bodyPr/>
                        <a:lstStyle/>
                        <a:p>
                          <a:pPr indent="127000" algn="ctr">
                            <a:buNone/>
                          </a:pPr>
                          <a14:m>
                            <m:oMathPara xmlns:m="http://schemas.openxmlformats.org/officeDocument/2006/math">
                              <m:oMathParaPr>
                                <m:jc m:val="centerGroup"/>
                              </m:oMathParaPr>
                              <m:oMath xmlns:m="http://schemas.openxmlformats.org/officeDocument/2006/math">
                                <m:r>
                                  <a:rPr lang="en-GB" sz="900" i="1" kern="100" smtClean="0">
                                    <a:solidFill>
                                      <a:schemeClr val="tx1"/>
                                    </a:solidFill>
                                    <a:effectLst/>
                                    <a:latin typeface="Cambria Math" panose="02040503050406030204" pitchFamily="18" charset="0"/>
                                    <a:ea typeface="宋体" panose="02010600030101010101" pitchFamily="2" charset="-122"/>
                                  </a:rPr>
                                  <m:t>𝑂𝑏𝑠𝑒𝑟𝑣𝑎𝑡𝑖𝑜𝑛𝑠</m:t>
                                </m:r>
                              </m:oMath>
                            </m:oMathPara>
                          </a14:m>
                          <a:endParaRPr lang="zh-CN" sz="9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40,091</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36,446</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40,106</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31,700</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44,973</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4037910071"/>
                      </a:ext>
                    </a:extLst>
                  </a:tr>
                  <a:tr h="420110">
                    <a:tc>
                      <a:txBody>
                        <a:bodyPr/>
                        <a:lstStyle/>
                        <a:p>
                          <a:pPr indent="127000" algn="ctr">
                            <a:buNone/>
                          </a:pPr>
                          <a14:m>
                            <m:oMathPara xmlns:m="http://schemas.openxmlformats.org/officeDocument/2006/math">
                              <m:oMathParaPr>
                                <m:jc m:val="centerGroup"/>
                              </m:oMathParaPr>
                              <m:oMath xmlns:m="http://schemas.openxmlformats.org/officeDocument/2006/math">
                                <m:sSup>
                                  <m:sSupPr>
                                    <m:ctrlPr>
                                      <a:rPr lang="zh-CN" sz="900" i="1" kern="0" smtClean="0">
                                        <a:solidFill>
                                          <a:schemeClr val="tx1"/>
                                        </a:solidFill>
                                        <a:effectLst/>
                                        <a:latin typeface="Cambria Math" panose="02040503050406030204" pitchFamily="18" charset="0"/>
                                        <a:ea typeface="Cambria Math" panose="02040503050406030204" pitchFamily="18" charset="0"/>
                                      </a:rPr>
                                    </m:ctrlPr>
                                  </m:sSupPr>
                                  <m:e>
                                    <m:r>
                                      <a:rPr lang="en-GB" sz="900" i="1" kern="0">
                                        <a:solidFill>
                                          <a:schemeClr val="tx1"/>
                                        </a:solidFill>
                                        <a:effectLst/>
                                        <a:latin typeface="Cambria Math" panose="02040503050406030204" pitchFamily="18" charset="0"/>
                                        <a:ea typeface="宋体" panose="02010600030101010101" pitchFamily="2" charset="-122"/>
                                      </a:rPr>
                                      <m:t>𝑅</m:t>
                                    </m:r>
                                  </m:e>
                                  <m:sup>
                                    <m:r>
                                      <a:rPr lang="en-GB" sz="900" i="1" kern="0">
                                        <a:solidFill>
                                          <a:schemeClr val="tx1"/>
                                        </a:solidFill>
                                        <a:effectLst/>
                                        <a:latin typeface="Cambria Math" panose="02040503050406030204" pitchFamily="18" charset="0"/>
                                        <a:ea typeface="宋体" panose="02010600030101010101" pitchFamily="2" charset="-122"/>
                                      </a:rPr>
                                      <m:t>2</m:t>
                                    </m:r>
                                  </m:sup>
                                </m:sSup>
                                <m:r>
                                  <a:rPr lang="en-GB" sz="900" i="1" kern="0">
                                    <a:solidFill>
                                      <a:schemeClr val="tx1"/>
                                    </a:solidFill>
                                    <a:effectLst/>
                                    <a:latin typeface="Cambria Math" panose="02040503050406030204" pitchFamily="18" charset="0"/>
                                    <a:ea typeface="宋体" panose="02010600030101010101" pitchFamily="2" charset="-122"/>
                                    <a:cs typeface="Cambria Math" panose="02040503050406030204" pitchFamily="18" charset="0"/>
                                  </a:rPr>
                                  <m:t>_</m:t>
                                </m:r>
                                <m:r>
                                  <a:rPr lang="en-GB" sz="900" i="1" kern="0">
                                    <a:solidFill>
                                      <a:schemeClr val="tx1"/>
                                    </a:solidFill>
                                    <a:effectLst/>
                                    <a:latin typeface="Cambria Math" panose="02040503050406030204" pitchFamily="18" charset="0"/>
                                    <a:ea typeface="宋体" panose="02010600030101010101" pitchFamily="2" charset="-122"/>
                                    <a:cs typeface="Cambria Math" panose="02040503050406030204" pitchFamily="18" charset="0"/>
                                  </a:rPr>
                                  <m:t>𝑎𝑑𝑗𝑢𝑠𝑡𝑒𝑑</m:t>
                                </m:r>
                              </m:oMath>
                            </m:oMathPara>
                          </a14:m>
                          <a:endParaRPr lang="zh-CN" sz="900" kern="100" dirty="0">
                            <a:solidFill>
                              <a:schemeClr val="tx1"/>
                            </a:solidFill>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0.1960</a:t>
                          </a:r>
                          <a:endParaRPr lang="zh-CN" sz="12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0.0981</a:t>
                          </a:r>
                          <a:endParaRPr lang="zh-CN" sz="12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0.1611</a:t>
                          </a:r>
                          <a:endParaRPr lang="zh-CN" sz="12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0.2217</a:t>
                          </a:r>
                          <a:endParaRPr lang="zh-CN" sz="12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283768"/>
                      </a:ext>
                    </a:extLst>
                  </a:tr>
                </a:tbl>
              </a:graphicData>
            </a:graphic>
          </p:graphicFrame>
        </mc:Choice>
        <mc:Fallback xmlns="">
          <p:graphicFrame>
            <p:nvGraphicFramePr>
              <p:cNvPr id="5" name="内容占位符 4">
                <a:extLst>
                  <a:ext uri="{FF2B5EF4-FFF2-40B4-BE49-F238E27FC236}">
                    <a16:creationId xmlns:a16="http://schemas.microsoft.com/office/drawing/2014/main" id="{022429C6-2B26-D9E6-4342-2ED6C79A0CBE}"/>
                  </a:ext>
                </a:extLst>
              </p:cNvPr>
              <p:cNvGraphicFramePr>
                <a:graphicFrameLocks noGrp="1"/>
              </p:cNvGraphicFramePr>
              <p:nvPr>
                <p:ph sz="half" idx="2"/>
                <p:extLst>
                  <p:ext uri="{D42A27DB-BD31-4B8C-83A1-F6EECF244321}">
                    <p14:modId xmlns:p14="http://schemas.microsoft.com/office/powerpoint/2010/main" val="1234163286"/>
                  </p:ext>
                </p:extLst>
              </p:nvPr>
            </p:nvGraphicFramePr>
            <p:xfrm>
              <a:off x="6172198" y="1690688"/>
              <a:ext cx="5659020" cy="4239142"/>
            </p:xfrm>
            <a:graphic>
              <a:graphicData uri="http://schemas.openxmlformats.org/drawingml/2006/table">
                <a:tbl>
                  <a:tblPr firstRow="1" firstCol="1" bandRow="1">
                    <a:tableStyleId>{5C22544A-7EE6-4342-B048-85BDC9FD1C3A}</a:tableStyleId>
                  </a:tblPr>
                  <a:tblGrid>
                    <a:gridCol w="993495">
                      <a:extLst>
                        <a:ext uri="{9D8B030D-6E8A-4147-A177-3AD203B41FA5}">
                          <a16:colId xmlns:a16="http://schemas.microsoft.com/office/drawing/2014/main" val="2901096901"/>
                        </a:ext>
                      </a:extLst>
                    </a:gridCol>
                    <a:gridCol w="933105">
                      <a:extLst>
                        <a:ext uri="{9D8B030D-6E8A-4147-A177-3AD203B41FA5}">
                          <a16:colId xmlns:a16="http://schemas.microsoft.com/office/drawing/2014/main" val="484431067"/>
                        </a:ext>
                      </a:extLst>
                    </a:gridCol>
                    <a:gridCol w="933105">
                      <a:extLst>
                        <a:ext uri="{9D8B030D-6E8A-4147-A177-3AD203B41FA5}">
                          <a16:colId xmlns:a16="http://schemas.microsoft.com/office/drawing/2014/main" val="1281718253"/>
                        </a:ext>
                      </a:extLst>
                    </a:gridCol>
                    <a:gridCol w="933105">
                      <a:extLst>
                        <a:ext uri="{9D8B030D-6E8A-4147-A177-3AD203B41FA5}">
                          <a16:colId xmlns:a16="http://schemas.microsoft.com/office/drawing/2014/main" val="2838878712"/>
                        </a:ext>
                      </a:extLst>
                    </a:gridCol>
                    <a:gridCol w="933105">
                      <a:extLst>
                        <a:ext uri="{9D8B030D-6E8A-4147-A177-3AD203B41FA5}">
                          <a16:colId xmlns:a16="http://schemas.microsoft.com/office/drawing/2014/main" val="523886502"/>
                        </a:ext>
                      </a:extLst>
                    </a:gridCol>
                    <a:gridCol w="933105">
                      <a:extLst>
                        <a:ext uri="{9D8B030D-6E8A-4147-A177-3AD203B41FA5}">
                          <a16:colId xmlns:a16="http://schemas.microsoft.com/office/drawing/2014/main" val="105514380"/>
                        </a:ext>
                      </a:extLst>
                    </a:gridCol>
                  </a:tblGrid>
                  <a:tr h="229076">
                    <a:tc rowSpan="2">
                      <a:txBody>
                        <a:bodyPr/>
                        <a:lstStyle/>
                        <a:p>
                          <a:pPr indent="127000" algn="ctr">
                            <a:buNone/>
                          </a:pPr>
                          <a:r>
                            <a:rPr lang="zh-CN" sz="1100" b="1" kern="100" dirty="0">
                              <a:solidFill>
                                <a:schemeClr val="tx1"/>
                              </a:solidFill>
                              <a:effectLst/>
                              <a:latin typeface="+mn-ea"/>
                              <a:ea typeface="+mn-ea"/>
                            </a:rPr>
                            <a:t>变量</a:t>
                          </a:r>
                        </a:p>
                      </a:txBody>
                      <a:tcPr marL="23467" marR="23467"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200" kern="100" dirty="0">
                              <a:solidFill>
                                <a:schemeClr val="tx1"/>
                              </a:solidFill>
                              <a:effectLst/>
                              <a:latin typeface="Times New Roman" panose="02020603050405020304" pitchFamily="18" charset="0"/>
                              <a:ea typeface="宋体" panose="02010600030101010101" pitchFamily="2" charset="-122"/>
                            </a:rPr>
                            <a:t>(1)</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100" dirty="0">
                              <a:solidFill>
                                <a:schemeClr val="tx1"/>
                              </a:solidFill>
                              <a:effectLst/>
                              <a:latin typeface="Times New Roman" panose="02020603050405020304" pitchFamily="18" charset="0"/>
                              <a:ea typeface="宋体" panose="02010600030101010101" pitchFamily="2" charset="-122"/>
                            </a:rPr>
                            <a:t>(2)</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solidFill>
                                <a:schemeClr val="tx1"/>
                              </a:solidFill>
                              <a:effectLst/>
                              <a:latin typeface="Times New Roman" panose="02020603050405020304" pitchFamily="18" charset="0"/>
                              <a:ea typeface="宋体" panose="02010600030101010101" pitchFamily="2" charset="-122"/>
                            </a:rPr>
                            <a:t>(3)</a:t>
                          </a:r>
                          <a:endParaRPr lang="zh-CN" sz="12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solidFill>
                                <a:schemeClr val="tx1"/>
                              </a:solidFill>
                              <a:effectLst/>
                              <a:latin typeface="Times New Roman" panose="02020603050405020304" pitchFamily="18" charset="0"/>
                              <a:ea typeface="宋体" panose="02010600030101010101" pitchFamily="2" charset="-122"/>
                            </a:rPr>
                            <a:t>(4)</a:t>
                          </a:r>
                          <a:endParaRPr lang="zh-CN" sz="12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200" kern="100" dirty="0">
                              <a:solidFill>
                                <a:schemeClr val="tx1"/>
                              </a:solidFill>
                              <a:effectLst/>
                              <a:latin typeface="Times New Roman" panose="02020603050405020304" pitchFamily="18" charset="0"/>
                              <a:ea typeface="宋体" panose="02010600030101010101" pitchFamily="2" charset="-122"/>
                            </a:rPr>
                            <a:t>(5)</a:t>
                          </a:r>
                          <a:endParaRPr lang="zh-CN" sz="1200" kern="100" dirty="0">
                            <a:solidFill>
                              <a:schemeClr val="tx1"/>
                            </a:solidFill>
                            <a:effectLst/>
                            <a:latin typeface="Times New Roman" panose="02020603050405020304" pitchFamily="18" charset="0"/>
                            <a:ea typeface="宋体" panose="02010600030101010101" pitchFamily="2" charset="-122"/>
                          </a:endParaRPr>
                        </a:p>
                      </a:txBody>
                      <a:tcPr marL="47625" marR="47625"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078012370"/>
                      </a:ext>
                    </a:extLst>
                  </a:tr>
                  <a:tr h="229076">
                    <a:tc vMerge="1">
                      <a:txBody>
                        <a:bodyPr/>
                        <a:lstStyle/>
                        <a:p>
                          <a:endParaRPr lang="zh-CN" altLang="en-US"/>
                        </a:p>
                      </a:txBody>
                      <a:tcPr/>
                    </a:tc>
                    <a:tc>
                      <a:txBody>
                        <a:bodyPr/>
                        <a:lstStyle/>
                        <a:p>
                          <a:endParaRPr lang="zh-CN"/>
                        </a:p>
                      </a:txBody>
                      <a:tcPr marL="47625" marR="47625" marT="0" marB="0" anchor="ctr">
                        <a:lnB w="6350" cap="flat" cmpd="sng" algn="ctr">
                          <a:solidFill>
                            <a:schemeClr val="tx1"/>
                          </a:solidFill>
                          <a:prstDash val="solid"/>
                          <a:round/>
                          <a:headEnd type="none" w="med" len="med"/>
                          <a:tailEnd type="none" w="med" len="med"/>
                        </a:lnB>
                        <a:blipFill>
                          <a:blip r:embed="rId2"/>
                          <a:stretch>
                            <a:fillRect l="-107190" t="-113514" r="-403268" b="-1683784"/>
                          </a:stretch>
                        </a:blipFill>
                      </a:tcPr>
                    </a:tc>
                    <a:tc>
                      <a:txBody>
                        <a:bodyPr/>
                        <a:lstStyle/>
                        <a:p>
                          <a:endParaRPr lang="zh-CN"/>
                        </a:p>
                      </a:txBody>
                      <a:tcPr marL="47625" marR="47625" marT="0" marB="0" anchor="ctr">
                        <a:lnB w="6350" cap="flat" cmpd="sng" algn="ctr">
                          <a:solidFill>
                            <a:schemeClr val="tx1"/>
                          </a:solidFill>
                          <a:prstDash val="solid"/>
                          <a:round/>
                          <a:headEnd type="none" w="med" len="med"/>
                          <a:tailEnd type="none" w="med" len="med"/>
                        </a:lnB>
                        <a:blipFill>
                          <a:blip r:embed="rId2"/>
                          <a:stretch>
                            <a:fillRect l="-207190" t="-113514" r="-303268" b="-1683784"/>
                          </a:stretch>
                        </a:blipFill>
                      </a:tcPr>
                    </a:tc>
                    <a:tc>
                      <a:txBody>
                        <a:bodyPr/>
                        <a:lstStyle/>
                        <a:p>
                          <a:endParaRPr lang="zh-CN"/>
                        </a:p>
                      </a:txBody>
                      <a:tcPr marL="47625" marR="47625" marT="0" marB="0" anchor="ctr">
                        <a:lnB w="6350" cap="flat" cmpd="sng" algn="ctr">
                          <a:solidFill>
                            <a:schemeClr val="tx1"/>
                          </a:solidFill>
                          <a:prstDash val="solid"/>
                          <a:round/>
                          <a:headEnd type="none" w="med" len="med"/>
                          <a:tailEnd type="none" w="med" len="med"/>
                        </a:lnB>
                        <a:blipFill>
                          <a:blip r:embed="rId2"/>
                          <a:stretch>
                            <a:fillRect l="-305195" t="-113514" r="-201299" b="-1683784"/>
                          </a:stretch>
                        </a:blipFill>
                      </a:tcPr>
                    </a:tc>
                    <a:tc>
                      <a:txBody>
                        <a:bodyPr/>
                        <a:lstStyle/>
                        <a:p>
                          <a:endParaRPr lang="zh-CN"/>
                        </a:p>
                      </a:txBody>
                      <a:tcPr marL="47625" marR="47625" marT="0" marB="0" anchor="ctr">
                        <a:lnB w="6350" cap="flat" cmpd="sng" algn="ctr">
                          <a:solidFill>
                            <a:schemeClr val="tx1"/>
                          </a:solidFill>
                          <a:prstDash val="solid"/>
                          <a:round/>
                          <a:headEnd type="none" w="med" len="med"/>
                          <a:tailEnd type="none" w="med" len="med"/>
                        </a:lnB>
                        <a:blipFill>
                          <a:blip r:embed="rId2"/>
                          <a:stretch>
                            <a:fillRect l="-407843" t="-113514" r="-102614" b="-1683784"/>
                          </a:stretch>
                        </a:blipFill>
                      </a:tcPr>
                    </a:tc>
                    <a:tc>
                      <a:txBody>
                        <a:bodyPr/>
                        <a:lstStyle/>
                        <a:p>
                          <a:endParaRPr lang="zh-CN"/>
                        </a:p>
                      </a:txBody>
                      <a:tcPr marL="47625" marR="47625" marT="0" marB="0" anchor="ctr">
                        <a:lnB w="6350" cap="flat" cmpd="sng" algn="ctr">
                          <a:solidFill>
                            <a:schemeClr val="tx1"/>
                          </a:solidFill>
                          <a:prstDash val="solid"/>
                          <a:round/>
                          <a:headEnd type="none" w="med" len="med"/>
                          <a:tailEnd type="none" w="med" len="med"/>
                        </a:lnB>
                        <a:blipFill>
                          <a:blip r:embed="rId2"/>
                          <a:stretch>
                            <a:fillRect l="-507843" t="-113514" r="-2614" b="-1683784"/>
                          </a:stretch>
                        </a:blipFill>
                      </a:tcPr>
                    </a:tc>
                    <a:extLst>
                      <a:ext uri="{0D108BD9-81ED-4DB2-BD59-A6C34878D82A}">
                        <a16:rowId xmlns:a16="http://schemas.microsoft.com/office/drawing/2014/main" val="4256022925"/>
                      </a:ext>
                    </a:extLst>
                  </a:tr>
                  <a:tr h="420110">
                    <a:tc>
                      <a:txBody>
                        <a:bodyPr/>
                        <a:lstStyle/>
                        <a:p>
                          <a:endParaRPr lang="zh-CN"/>
                        </a:p>
                      </a:txBody>
                      <a:tcPr marL="47625" marR="47625" marT="0" marB="0" anchor="ctr">
                        <a:lnT w="6350" cap="flat" cmpd="sng" algn="ctr">
                          <a:solidFill>
                            <a:schemeClr val="tx1"/>
                          </a:solidFill>
                          <a:prstDash val="solid"/>
                          <a:round/>
                          <a:headEnd type="none" w="med" len="med"/>
                          <a:tailEnd type="none" w="med" len="med"/>
                        </a:lnT>
                        <a:blipFill>
                          <a:blip r:embed="rId2"/>
                          <a:stretch>
                            <a:fillRect l="-613" t="-114493" r="-472393" b="-802899"/>
                          </a:stretch>
                        </a:blip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-0.0064**</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7201929"/>
                      </a:ext>
                    </a:extLst>
                  </a:tr>
                  <a:tr h="420110">
                    <a:tc>
                      <a:txBody>
                        <a:bodyPr/>
                        <a:lstStyle/>
                        <a:p>
                          <a:pPr indent="127000" algn="ctr">
                            <a:buNone/>
                          </a:pPr>
                          <a:r>
                            <a:rPr lang="en-GB" sz="900" kern="100">
                              <a:solidFill>
                                <a:schemeClr val="tx1"/>
                              </a:solidFill>
                              <a:effectLst/>
                              <a:latin typeface="Times New Roman" panose="02020603050405020304" pitchFamily="18" charset="0"/>
                              <a:ea typeface="宋体" panose="02010600030101010101" pitchFamily="2" charset="-122"/>
                            </a:rPr>
                            <a:t> </a:t>
                          </a:r>
                          <a:endParaRPr lang="zh-CN" sz="9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(0.0029)</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752214202"/>
                      </a:ext>
                    </a:extLst>
                  </a:tr>
                  <a:tr h="420110">
                    <a:tc>
                      <a:txBody>
                        <a:bodyPr/>
                        <a:lstStyle/>
                        <a:p>
                          <a:endParaRPr lang="zh-CN"/>
                        </a:p>
                      </a:txBody>
                      <a:tcPr marL="47625" marR="47625" marT="0" marB="0" anchor="ctr">
                        <a:blipFill>
                          <a:blip r:embed="rId2"/>
                          <a:stretch>
                            <a:fillRect l="-613" t="-314493" r="-472393" b="-602899"/>
                          </a:stretch>
                        </a:blip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-0.0065***</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-0.0040***</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-0.0046***</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-0.0031***</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2389960367"/>
                      </a:ext>
                    </a:extLst>
                  </a:tr>
                  <a:tr h="420110">
                    <a:tc>
                      <a:txBody>
                        <a:bodyPr/>
                        <a:lstStyle/>
                        <a:p>
                          <a:pPr indent="127000" algn="ctr">
                            <a:buNone/>
                          </a:pPr>
                          <a:r>
                            <a:rPr lang="en-GB" sz="900" kern="100">
                              <a:solidFill>
                                <a:schemeClr val="tx1"/>
                              </a:solidFill>
                              <a:effectLst/>
                              <a:latin typeface="Times New Roman" panose="02020603050405020304" pitchFamily="18" charset="0"/>
                              <a:ea typeface="宋体" panose="02010600030101010101" pitchFamily="2" charset="-122"/>
                            </a:rPr>
                            <a:t> </a:t>
                          </a:r>
                          <a:endParaRPr lang="zh-CN" sz="900" kern="100">
                            <a:solidFill>
                              <a:schemeClr val="tx1"/>
                            </a:solidFill>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 </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(0.0015)</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(0.0007)</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(0.0007)</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(0.0004)</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190635398"/>
                      </a:ext>
                    </a:extLst>
                  </a:tr>
                  <a:tr h="420110">
                    <a:tc>
                      <a:txBody>
                        <a:bodyPr/>
                        <a:lstStyle/>
                        <a:p>
                          <a:endParaRPr lang="zh-CN"/>
                        </a:p>
                      </a:txBody>
                      <a:tcPr marL="47625" marR="47625" marT="0" marB="0" anchor="ctr">
                        <a:blipFill>
                          <a:blip r:embed="rId2"/>
                          <a:stretch>
                            <a:fillRect l="-613" t="-514493" r="-472393" b="-402899"/>
                          </a:stretch>
                        </a:blip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913483080"/>
                      </a:ext>
                    </a:extLst>
                  </a:tr>
                  <a:tr h="420110">
                    <a:tc>
                      <a:txBody>
                        <a:bodyPr/>
                        <a:lstStyle/>
                        <a:p>
                          <a:endParaRPr lang="zh-CN"/>
                        </a:p>
                      </a:txBody>
                      <a:tcPr marL="47625" marR="47625" marT="0" marB="0" anchor="ctr">
                        <a:blipFill>
                          <a:blip r:embed="rId2"/>
                          <a:stretch>
                            <a:fillRect l="-613" t="-614493" r="-472393" b="-302899"/>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489812688"/>
                      </a:ext>
                    </a:extLst>
                  </a:tr>
                  <a:tr h="420110">
                    <a:tc>
                      <a:txBody>
                        <a:bodyPr/>
                        <a:lstStyle/>
                        <a:p>
                          <a:endParaRPr lang="zh-CN"/>
                        </a:p>
                      </a:txBody>
                      <a:tcPr marL="47625" marR="47625" marT="0" marB="0" anchor="ctr">
                        <a:blipFill>
                          <a:blip r:embed="rId2"/>
                          <a:stretch>
                            <a:fillRect l="-613" t="-714493" r="-472393" b="-202899"/>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151376761"/>
                      </a:ext>
                    </a:extLst>
                  </a:tr>
                  <a:tr h="420110">
                    <a:tc>
                      <a:txBody>
                        <a:bodyPr/>
                        <a:lstStyle/>
                        <a:p>
                          <a:endParaRPr lang="zh-CN"/>
                        </a:p>
                      </a:txBody>
                      <a:tcPr marL="47625" marR="47625" marT="0" marB="0" anchor="ctr">
                        <a:blipFill>
                          <a:blip r:embed="rId2"/>
                          <a:stretch>
                            <a:fillRect l="-613" t="-814493" r="-472393" b="-102899"/>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40,091</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36,446</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40,106</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31,700</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44,973</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4037910071"/>
                      </a:ext>
                    </a:extLst>
                  </a:tr>
                  <a:tr h="420110">
                    <a:tc>
                      <a:txBody>
                        <a:bodyPr/>
                        <a:lstStyle/>
                        <a:p>
                          <a:endParaRPr lang="zh-CN"/>
                        </a:p>
                      </a:txBody>
                      <a:tcPr marL="47625" marR="47625" marT="0" marB="0" anchor="ctr">
                        <a:lnB w="12700" cap="flat" cmpd="sng" algn="ctr">
                          <a:solidFill>
                            <a:schemeClr val="tx1"/>
                          </a:solidFill>
                          <a:prstDash val="solid"/>
                          <a:round/>
                          <a:headEnd type="none" w="med" len="med"/>
                          <a:tailEnd type="none" w="med" len="med"/>
                        </a:lnB>
                        <a:blipFill>
                          <a:blip r:embed="rId2"/>
                          <a:stretch>
                            <a:fillRect l="-613" t="-914493" r="-472393" b="-2899"/>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0.1960</a:t>
                          </a:r>
                          <a:endParaRPr lang="zh-CN" sz="12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0.0981</a:t>
                          </a:r>
                          <a:endParaRPr lang="zh-CN" sz="12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0.1611</a:t>
                          </a:r>
                          <a:endParaRPr lang="zh-CN" sz="12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0.2217</a:t>
                          </a:r>
                          <a:endParaRPr lang="zh-CN" sz="12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283768"/>
                      </a:ext>
                    </a:extLst>
                  </a:tr>
                </a:tbl>
              </a:graphicData>
            </a:graphic>
          </p:graphicFrame>
        </mc:Fallback>
      </mc:AlternateContent>
      <p:sp>
        <p:nvSpPr>
          <p:cNvPr id="6" name="文本框 5">
            <a:extLst>
              <a:ext uri="{FF2B5EF4-FFF2-40B4-BE49-F238E27FC236}">
                <a16:creationId xmlns:a16="http://schemas.microsoft.com/office/drawing/2014/main" id="{752B8D64-5607-C724-130F-9F7F2BF51D79}"/>
              </a:ext>
            </a:extLst>
          </p:cNvPr>
          <p:cNvSpPr txBox="1"/>
          <p:nvPr/>
        </p:nvSpPr>
        <p:spPr>
          <a:xfrm>
            <a:off x="8457681" y="1413689"/>
            <a:ext cx="1242648" cy="276999"/>
          </a:xfrm>
          <a:prstGeom prst="rect">
            <a:avLst/>
          </a:prstGeom>
          <a:noFill/>
        </p:spPr>
        <p:txBody>
          <a:bodyPr wrap="none" rtlCol="0">
            <a:spAutoFit/>
          </a:bodyPr>
          <a:lstStyle/>
          <a:p>
            <a:r>
              <a:rPr lang="zh-CN" altLang="en-US" sz="1200" b="1" dirty="0"/>
              <a:t>表</a:t>
            </a:r>
            <a:r>
              <a:rPr lang="en-US" altLang="zh-CN" sz="1200" b="1" dirty="0"/>
              <a:t>5 </a:t>
            </a:r>
            <a:r>
              <a:rPr lang="zh-CN" altLang="en-US" sz="1200" b="1" dirty="0"/>
              <a:t>稳健性检验</a:t>
            </a:r>
          </a:p>
        </p:txBody>
      </p:sp>
    </p:spTree>
    <p:extLst>
      <p:ext uri="{BB962C8B-B14F-4D97-AF65-F5344CB8AC3E}">
        <p14:creationId xmlns:p14="http://schemas.microsoft.com/office/powerpoint/2010/main" val="59072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37B89E-5F0B-FC23-44F2-F608714442BD}"/>
              </a:ext>
            </a:extLst>
          </p:cNvPr>
          <p:cNvSpPr>
            <a:spLocks noGrp="1"/>
          </p:cNvSpPr>
          <p:nvPr>
            <p:ph type="title"/>
          </p:nvPr>
        </p:nvSpPr>
        <p:spPr/>
        <p:txBody>
          <a:bodyPr vert="horz" lIns="91440" tIns="45720" rIns="91440" bIns="45720" rtlCol="0" anchor="ctr">
            <a:normAutofit/>
          </a:bodyPr>
          <a:lstStyle/>
          <a:p>
            <a:r>
              <a:rPr lang="zh-CN" altLang="en-US" sz="2800" dirty="0"/>
              <a:t>实证结果分析</a:t>
            </a:r>
          </a:p>
        </p:txBody>
      </p:sp>
      <p:sp>
        <p:nvSpPr>
          <p:cNvPr id="3" name="内容占位符 2">
            <a:extLst>
              <a:ext uri="{FF2B5EF4-FFF2-40B4-BE49-F238E27FC236}">
                <a16:creationId xmlns:a16="http://schemas.microsoft.com/office/drawing/2014/main" id="{F6D13EED-8A5D-29C6-1802-3D5F47A2D5DA}"/>
              </a:ext>
            </a:extLst>
          </p:cNvPr>
          <p:cNvSpPr>
            <a:spLocks noGrp="1"/>
          </p:cNvSpPr>
          <p:nvPr>
            <p:ph sz="half" idx="1"/>
          </p:nvPr>
        </p:nvSpPr>
        <p:spPr>
          <a:xfrm>
            <a:off x="416767" y="1825625"/>
            <a:ext cx="5181600" cy="4351338"/>
          </a:xfrm>
        </p:spPr>
        <p:txBody>
          <a:bodyPr>
            <a:normAutofit/>
          </a:bodyPr>
          <a:lstStyle/>
          <a:p>
            <a:pPr marL="0" indent="0">
              <a:buNone/>
            </a:pPr>
            <a:r>
              <a:rPr lang="zh-CN" altLang="en-US" sz="2400" dirty="0"/>
              <a:t>作用机制检验</a:t>
            </a:r>
            <a:endParaRPr lang="en-US" altLang="zh-CN" sz="2400" dirty="0"/>
          </a:p>
          <a:p>
            <a:pPr lvl="1"/>
            <a:r>
              <a:rPr lang="zh-CN" altLang="en-US" sz="2000" dirty="0"/>
              <a:t>环境不确定性（申慧慧等，</a:t>
            </a:r>
            <a:r>
              <a:rPr lang="en-US" altLang="zh-CN" sz="2000" dirty="0"/>
              <a:t>2012 </a:t>
            </a:r>
            <a:r>
              <a:rPr lang="zh-CN" altLang="en-US" sz="2000" dirty="0"/>
              <a:t>）</a:t>
            </a:r>
            <a:endParaRPr lang="en-US" altLang="zh-CN" sz="2000" dirty="0"/>
          </a:p>
          <a:p>
            <a:pPr lvl="2"/>
            <a:r>
              <a:rPr lang="zh-CN" altLang="en-US" sz="1600" dirty="0"/>
              <a:t>企业过去五年的非正常销售收入部分波动水平除以平均值</a:t>
            </a:r>
            <a:endParaRPr lang="en-US" altLang="zh-CN" sz="1600" dirty="0"/>
          </a:p>
          <a:p>
            <a:pPr lvl="2"/>
            <a:r>
              <a:rPr lang="zh-CN" altLang="en-US" sz="1600" dirty="0"/>
              <a:t>在同一年份同一行业中取中位数</a:t>
            </a:r>
            <a:endParaRPr lang="en-US" altLang="zh-CN" sz="1600" dirty="0"/>
          </a:p>
          <a:p>
            <a:pPr lvl="2"/>
            <a:r>
              <a:rPr lang="zh-CN" altLang="en-US" sz="1600" dirty="0"/>
              <a:t>前者除以后者得到经行业调整的环境不确定性</a:t>
            </a:r>
            <a:endParaRPr lang="en-US" altLang="zh-CN" sz="1600" dirty="0"/>
          </a:p>
          <a:p>
            <a:pPr lvl="1"/>
            <a:r>
              <a:rPr lang="zh-CN" altLang="en-US" sz="2000" dirty="0"/>
              <a:t>政治不确定性（徐业坤等，</a:t>
            </a:r>
            <a:r>
              <a:rPr lang="en-US" altLang="zh-CN" sz="2000" dirty="0"/>
              <a:t>2013</a:t>
            </a:r>
            <a:r>
              <a:rPr lang="zh-CN" altLang="en-US" sz="2000" dirty="0"/>
              <a:t>）</a:t>
            </a:r>
            <a:endParaRPr lang="en-US" altLang="zh-CN" sz="2000" dirty="0"/>
          </a:p>
          <a:p>
            <a:pPr lvl="2"/>
            <a:r>
              <a:rPr lang="zh-CN" altLang="en-US" sz="1600" dirty="0"/>
              <a:t>地方财政支出非正常波动与人工智能技术应用水平的交互项</a:t>
            </a:r>
            <a:endParaRPr lang="en-US" altLang="zh-CN" sz="1600" dirty="0"/>
          </a:p>
          <a:p>
            <a:pPr lvl="1"/>
            <a:r>
              <a:rPr lang="zh-CN" altLang="en-US" sz="2000" dirty="0"/>
              <a:t>政策不确定性（聂辉华等，</a:t>
            </a:r>
            <a:r>
              <a:rPr lang="en-US" altLang="zh-CN" sz="2000" dirty="0"/>
              <a:t>2020</a:t>
            </a:r>
            <a:r>
              <a:rPr lang="zh-CN" altLang="en-US" sz="2000" dirty="0"/>
              <a:t>）</a:t>
            </a:r>
            <a:endParaRPr lang="en-US" altLang="zh-CN" sz="2000" dirty="0"/>
          </a:p>
          <a:p>
            <a:pPr lvl="2"/>
            <a:r>
              <a:rPr lang="zh-CN" altLang="en-US" sz="1600" dirty="0"/>
              <a:t>经济政策不确定性感知指数</a:t>
            </a:r>
          </a:p>
        </p:txBody>
      </p:sp>
      <mc:AlternateContent xmlns:mc="http://schemas.openxmlformats.org/markup-compatibility/2006" xmlns:a14="http://schemas.microsoft.com/office/drawing/2010/main">
        <mc:Choice Requires="a14">
          <p:graphicFrame>
            <p:nvGraphicFramePr>
              <p:cNvPr id="5" name="内容占位符 4">
                <a:extLst>
                  <a:ext uri="{FF2B5EF4-FFF2-40B4-BE49-F238E27FC236}">
                    <a16:creationId xmlns:a16="http://schemas.microsoft.com/office/drawing/2014/main" id="{C161252D-BFE0-B03F-E147-064E5B19193A}"/>
                  </a:ext>
                </a:extLst>
              </p:cNvPr>
              <p:cNvGraphicFramePr>
                <a:graphicFrameLocks noGrp="1"/>
              </p:cNvGraphicFramePr>
              <p:nvPr>
                <p:ph sz="half" idx="2"/>
                <p:extLst>
                  <p:ext uri="{D42A27DB-BD31-4B8C-83A1-F6EECF244321}">
                    <p14:modId xmlns:p14="http://schemas.microsoft.com/office/powerpoint/2010/main" val="2176012950"/>
                  </p:ext>
                </p:extLst>
              </p:nvPr>
            </p:nvGraphicFramePr>
            <p:xfrm>
              <a:off x="5598368" y="1825625"/>
              <a:ext cx="6593633" cy="4119172"/>
            </p:xfrm>
            <a:graphic>
              <a:graphicData uri="http://schemas.openxmlformats.org/drawingml/2006/table">
                <a:tbl>
                  <a:tblPr firstRow="1" firstCol="1" bandRow="1">
                    <a:tableStyleId>{5C22544A-7EE6-4342-B048-85BDC9FD1C3A}</a:tableStyleId>
                  </a:tblPr>
                  <a:tblGrid>
                    <a:gridCol w="998375">
                      <a:extLst>
                        <a:ext uri="{9D8B030D-6E8A-4147-A177-3AD203B41FA5}">
                          <a16:colId xmlns:a16="http://schemas.microsoft.com/office/drawing/2014/main" val="2442036572"/>
                        </a:ext>
                      </a:extLst>
                    </a:gridCol>
                    <a:gridCol w="974458">
                      <a:extLst>
                        <a:ext uri="{9D8B030D-6E8A-4147-A177-3AD203B41FA5}">
                          <a16:colId xmlns:a16="http://schemas.microsoft.com/office/drawing/2014/main" val="2595390544"/>
                        </a:ext>
                      </a:extLst>
                    </a:gridCol>
                    <a:gridCol w="1070676">
                      <a:extLst>
                        <a:ext uri="{9D8B030D-6E8A-4147-A177-3AD203B41FA5}">
                          <a16:colId xmlns:a16="http://schemas.microsoft.com/office/drawing/2014/main" val="1962878830"/>
                        </a:ext>
                      </a:extLst>
                    </a:gridCol>
                    <a:gridCol w="847356">
                      <a:extLst>
                        <a:ext uri="{9D8B030D-6E8A-4147-A177-3AD203B41FA5}">
                          <a16:colId xmlns:a16="http://schemas.microsoft.com/office/drawing/2014/main" val="1645105099"/>
                        </a:ext>
                      </a:extLst>
                    </a:gridCol>
                    <a:gridCol w="811763">
                      <a:extLst>
                        <a:ext uri="{9D8B030D-6E8A-4147-A177-3AD203B41FA5}">
                          <a16:colId xmlns:a16="http://schemas.microsoft.com/office/drawing/2014/main" val="2002791556"/>
                        </a:ext>
                      </a:extLst>
                    </a:gridCol>
                    <a:gridCol w="1003474">
                      <a:extLst>
                        <a:ext uri="{9D8B030D-6E8A-4147-A177-3AD203B41FA5}">
                          <a16:colId xmlns:a16="http://schemas.microsoft.com/office/drawing/2014/main" val="927507535"/>
                        </a:ext>
                      </a:extLst>
                    </a:gridCol>
                    <a:gridCol w="887531">
                      <a:extLst>
                        <a:ext uri="{9D8B030D-6E8A-4147-A177-3AD203B41FA5}">
                          <a16:colId xmlns:a16="http://schemas.microsoft.com/office/drawing/2014/main" val="3217726209"/>
                        </a:ext>
                      </a:extLst>
                    </a:gridCol>
                  </a:tblGrid>
                  <a:tr h="279494">
                    <a:tc rowSpan="2">
                      <a:txBody>
                        <a:bodyPr/>
                        <a:lstStyle/>
                        <a:p>
                          <a:pPr indent="127000" algn="ctr">
                            <a:buNone/>
                          </a:pPr>
                          <a:r>
                            <a:rPr lang="zh-CN" sz="1100" kern="0" dirty="0">
                              <a:solidFill>
                                <a:schemeClr val="tx1"/>
                              </a:solidFill>
                              <a:effectLst/>
                              <a:latin typeface="+mn-ea"/>
                              <a:ea typeface="+mn-ea"/>
                            </a:rPr>
                            <a:t>变量</a:t>
                          </a:r>
                          <a:endParaRPr lang="zh-CN" sz="1100" kern="100" dirty="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tx1"/>
                              </a:solidFill>
                              <a:effectLst/>
                              <a:latin typeface="+mn-ea"/>
                              <a:ea typeface="+mn-ea"/>
                            </a:rPr>
                            <a:t>(1)</a:t>
                          </a:r>
                          <a:endParaRPr lang="zh-CN" sz="1100" kern="100" dirty="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solidFill>
                                <a:schemeClr val="tx1"/>
                              </a:solidFill>
                              <a:effectLst/>
                              <a:latin typeface="+mn-ea"/>
                              <a:ea typeface="+mn-ea"/>
                            </a:rPr>
                            <a:t>(2)</a:t>
                          </a:r>
                          <a:endParaRPr lang="zh-CN" sz="1100" kern="100" dirty="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solidFill>
                                <a:schemeClr val="tx1"/>
                              </a:solidFill>
                              <a:effectLst/>
                              <a:latin typeface="+mn-ea"/>
                              <a:ea typeface="+mn-ea"/>
                            </a:rPr>
                            <a:t>(3)</a:t>
                          </a:r>
                          <a:endParaRPr lang="zh-CN" sz="1100" kern="100" dirty="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solidFill>
                                <a:schemeClr val="tx1"/>
                              </a:solidFill>
                              <a:effectLst/>
                              <a:latin typeface="+mn-ea"/>
                              <a:ea typeface="+mn-ea"/>
                            </a:rPr>
                            <a:t>(4)</a:t>
                          </a:r>
                          <a:endParaRPr lang="zh-CN" sz="1100" kern="100" dirty="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kern="0">
                              <a:solidFill>
                                <a:schemeClr val="tx1"/>
                              </a:solidFill>
                              <a:effectLst/>
                              <a:latin typeface="+mn-ea"/>
                              <a:ea typeface="+mn-ea"/>
                            </a:rPr>
                            <a:t>(5)</a:t>
                          </a:r>
                          <a:endParaRPr lang="zh-CN" sz="1100" kern="10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kern="0">
                              <a:solidFill>
                                <a:schemeClr val="tx1"/>
                              </a:solidFill>
                              <a:effectLst/>
                              <a:latin typeface="+mn-ea"/>
                              <a:ea typeface="+mn-ea"/>
                            </a:rPr>
                            <a:t>(6)</a:t>
                          </a:r>
                          <a:endParaRPr lang="zh-CN" sz="1100" kern="10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041363689"/>
                      </a:ext>
                    </a:extLst>
                  </a:tr>
                  <a:tr h="279494">
                    <a:tc vMerge="1">
                      <a:txBody>
                        <a:bodyPr/>
                        <a:lstStyle/>
                        <a:p>
                          <a:endParaRPr lang="zh-CN" altLang="en-US"/>
                        </a:p>
                      </a:txBody>
                      <a:tcPr/>
                    </a:tc>
                    <a:tc gridSpan="3">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ea typeface="+mn-ea"/>
                                  </a:rPr>
                                  <m:t>𝐸𝑈</m:t>
                                </m:r>
                              </m:oMath>
                            </m:oMathPara>
                          </a14:m>
                          <a:endParaRPr lang="zh-CN" sz="1100" kern="100" dirty="0">
                            <a:solidFill>
                              <a:schemeClr val="tx1"/>
                            </a:solidFill>
                            <a:effectLst/>
                            <a:latin typeface="+mn-ea"/>
                            <a:ea typeface="+mn-ea"/>
                          </a:endParaRPr>
                        </a:p>
                      </a:txBody>
                      <a:tcPr marL="23467" marR="23467" marT="0" marB="0" anchor="ctr">
                        <a:lnB w="635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ea typeface="+mn-ea"/>
                                  </a:rPr>
                                  <m:t>𝐼𝑛𝑣</m:t>
                                </m:r>
                                <m:r>
                                  <a:rPr lang="en-GB" sz="1100" kern="0" smtClean="0">
                                    <a:solidFill>
                                      <a:schemeClr val="tx1"/>
                                    </a:solidFill>
                                    <a:effectLst/>
                                    <a:latin typeface="Cambria Math" panose="02040503050406030204" pitchFamily="18" charset="0"/>
                                    <a:ea typeface="+mn-ea"/>
                                  </a:rPr>
                                  <m:t>_</m:t>
                                </m:r>
                                <m:r>
                                  <a:rPr lang="en-GB" sz="1100" kern="0" smtClean="0">
                                    <a:solidFill>
                                      <a:schemeClr val="tx1"/>
                                    </a:solidFill>
                                    <a:effectLst/>
                                    <a:latin typeface="Cambria Math" panose="02040503050406030204" pitchFamily="18" charset="0"/>
                                    <a:ea typeface="+mn-ea"/>
                                  </a:rPr>
                                  <m:t>𝑒</m:t>
                                </m:r>
                              </m:oMath>
                            </m:oMathPara>
                          </a14:m>
                          <a:endParaRPr lang="zh-CN" sz="1100" kern="100" dirty="0">
                            <a:solidFill>
                              <a:schemeClr val="tx1"/>
                            </a:solidFill>
                            <a:effectLst/>
                            <a:latin typeface="+mn-ea"/>
                            <a:ea typeface="+mn-ea"/>
                          </a:endParaRPr>
                        </a:p>
                      </a:txBody>
                      <a:tcPr marL="23467" marR="23467" marT="0" marB="0" anchor="ctr">
                        <a:lnB w="6350" cap="flat" cmpd="sng" algn="ctr">
                          <a:solidFill>
                            <a:schemeClr val="tx1"/>
                          </a:solidFill>
                          <a:prstDash val="solid"/>
                          <a:round/>
                          <a:headEnd type="none" w="med" len="med"/>
                          <a:tailEnd type="none" w="med" len="med"/>
                        </a:lnB>
                        <a:noFill/>
                      </a:tcPr>
                    </a:tc>
                    <a:tc gridSpan="2">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ea typeface="+mn-ea"/>
                                  </a:rPr>
                                  <m:t>𝐸𝑃𝑈</m:t>
                                </m:r>
                              </m:oMath>
                            </m:oMathPara>
                          </a14:m>
                          <a:endParaRPr lang="zh-CN" sz="1100" kern="100" dirty="0">
                            <a:solidFill>
                              <a:schemeClr val="tx1"/>
                            </a:solidFill>
                            <a:effectLst/>
                            <a:latin typeface="+mn-ea"/>
                            <a:ea typeface="+mn-ea"/>
                          </a:endParaRPr>
                        </a:p>
                      </a:txBody>
                      <a:tcPr marL="23467" marR="23467" marT="0" marB="0" anchor="ctr">
                        <a:lnB w="6350" cap="flat" cmpd="sng" algn="ctr">
                          <a:solidFill>
                            <a:schemeClr val="tx1"/>
                          </a:solidFill>
                          <a:prstDash val="solid"/>
                          <a:round/>
                          <a:headEnd type="none" w="med" len="med"/>
                          <a:tailEnd type="none" w="med" len="med"/>
                        </a:lnB>
                        <a:noFill/>
                      </a:tcPr>
                    </a:tc>
                    <a:tc hMerge="1">
                      <a:txBody>
                        <a:bodyPr/>
                        <a:lstStyle/>
                        <a:p>
                          <a:endParaRPr lang="zh-CN" altLang="en-US"/>
                        </a:p>
                      </a:txBody>
                      <a:tcPr/>
                    </a:tc>
                    <a:extLst>
                      <a:ext uri="{0D108BD9-81ED-4DB2-BD59-A6C34878D82A}">
                        <a16:rowId xmlns:a16="http://schemas.microsoft.com/office/drawing/2014/main" val="265707178"/>
                      </a:ext>
                    </a:extLst>
                  </a:tr>
                  <a:tr h="3955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ea typeface="+mn-ea"/>
                                  </a:rPr>
                                  <m:t>𝐴</m:t>
                                </m:r>
                                <m:sSub>
                                  <m:sSubPr>
                                    <m:ctrlPr>
                                      <a:rPr lang="zh-CN" sz="1100" i="1" kern="0">
                                        <a:solidFill>
                                          <a:schemeClr val="tx1"/>
                                        </a:solidFill>
                                        <a:effectLst/>
                                        <a:latin typeface="Cambria Math" panose="02040503050406030204" pitchFamily="18" charset="0"/>
                                        <a:ea typeface="+mn-ea"/>
                                      </a:rPr>
                                    </m:ctrlPr>
                                  </m:sSubPr>
                                  <m:e>
                                    <m:r>
                                      <a:rPr lang="en-GB" sz="1100" kern="0">
                                        <a:solidFill>
                                          <a:schemeClr val="tx1"/>
                                        </a:solidFill>
                                        <a:effectLst/>
                                        <a:latin typeface="Cambria Math" panose="02040503050406030204" pitchFamily="18" charset="0"/>
                                        <a:ea typeface="+mn-ea"/>
                                      </a:rPr>
                                      <m:t>𝐼</m:t>
                                    </m:r>
                                  </m:e>
                                  <m:sub>
                                    <m:r>
                                      <a:rPr lang="en-GB" sz="1100" kern="0">
                                        <a:solidFill>
                                          <a:schemeClr val="tx1"/>
                                        </a:solidFill>
                                        <a:effectLst/>
                                        <a:latin typeface="Cambria Math" panose="02040503050406030204" pitchFamily="18" charset="0"/>
                                        <a:ea typeface="+mn-ea"/>
                                      </a:rPr>
                                      <m:t>𝑢𝑡𝑖𝑙𝑖𝑧𝑒</m:t>
                                    </m:r>
                                  </m:sub>
                                </m:sSub>
                              </m:oMath>
                            </m:oMathPara>
                          </a14:m>
                          <a:endParaRPr lang="zh-CN" sz="1100" kern="100" dirty="0">
                            <a:solidFill>
                              <a:schemeClr val="tx1"/>
                            </a:solidFill>
                            <a:effectLst/>
                            <a:latin typeface="+mn-ea"/>
                            <a:ea typeface="+mn-ea"/>
                          </a:endParaRPr>
                        </a:p>
                      </a:txBody>
                      <a:tcPr marL="23467" marR="23467"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effectLst/>
                              <a:latin typeface="+mn-ea"/>
                              <a:ea typeface="+mn-ea"/>
                            </a:rPr>
                            <a:t>-0.0060***</a:t>
                          </a:r>
                          <a:endParaRPr lang="zh-CN" sz="1100" kern="100" dirty="0">
                            <a:effectLst/>
                            <a:latin typeface="+mn-ea"/>
                            <a:ea typeface="+mn-ea"/>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a:solidFill>
                                <a:schemeClr val="dk1"/>
                              </a:solidFill>
                              <a:effectLst/>
                              <a:latin typeface="+mn-ea"/>
                              <a:ea typeface="+mn-ea"/>
                              <a:cs typeface="+mn-cs"/>
                            </a:rPr>
                            <a:t>-0.0010***</a:t>
                          </a:r>
                          <a:endParaRPr lang="zh-CN" sz="1100" kern="100" dirty="0">
                            <a:effectLst/>
                            <a:latin typeface="+mn-ea"/>
                            <a:ea typeface="+mn-ea"/>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solidFill>
                                <a:schemeClr val="dk1"/>
                              </a:solidFill>
                              <a:effectLst/>
                              <a:latin typeface="+mn-ea"/>
                              <a:ea typeface="+mn-ea"/>
                              <a:cs typeface="+mn-cs"/>
                            </a:rPr>
                            <a:t>-0.0402**</a:t>
                          </a:r>
                          <a:endParaRPr lang="zh-CN" altLang="en-US" sz="1100" kern="0" dirty="0">
                            <a:solidFill>
                              <a:schemeClr val="dk1"/>
                            </a:solidFill>
                            <a:effectLst/>
                            <a:latin typeface="+mn-ea"/>
                            <a:ea typeface="+mn-ea"/>
                            <a:cs typeface="+mn-cs"/>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a:solidFill>
                                <a:schemeClr val="dk1"/>
                              </a:solidFill>
                              <a:effectLst/>
                              <a:latin typeface="+mn-ea"/>
                              <a:ea typeface="+mn-ea"/>
                              <a:cs typeface="+mn-cs"/>
                            </a:rPr>
                            <a:t>-0.0621***</a:t>
                          </a:r>
                          <a:endParaRPr lang="zh-CN" altLang="en-US" sz="1100" kern="0">
                            <a:solidFill>
                              <a:schemeClr val="dk1"/>
                            </a:solidFill>
                            <a:effectLst/>
                            <a:latin typeface="+mn-ea"/>
                            <a:ea typeface="+mn-ea"/>
                            <a:cs typeface="+mn-cs"/>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a:solidFill>
                                <a:schemeClr val="dk1"/>
                              </a:solidFill>
                              <a:effectLst/>
                              <a:latin typeface="+mn-ea"/>
                              <a:ea typeface="+mn-ea"/>
                              <a:cs typeface="+mn-cs"/>
                            </a:rPr>
                            <a:t>-0.0024*</a:t>
                          </a:r>
                          <a:endParaRPr lang="zh-CN" altLang="en-US" sz="1100" kern="0">
                            <a:solidFill>
                              <a:schemeClr val="dk1"/>
                            </a:solidFill>
                            <a:effectLst/>
                            <a:latin typeface="+mn-ea"/>
                            <a:ea typeface="+mn-ea"/>
                            <a:cs typeface="+mn-cs"/>
                          </a:endParaRPr>
                        </a:p>
                      </a:txBody>
                      <a:tcPr marL="47625" marR="47625" marT="0" marB="0"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368258765"/>
                      </a:ext>
                    </a:extLst>
                  </a:tr>
                  <a:tr h="395576">
                    <a:tc>
                      <a:txBody>
                        <a:bodyPr/>
                        <a:lstStyle/>
                        <a:p>
                          <a:pPr indent="127000" algn="ctr">
                            <a:buNone/>
                          </a:pPr>
                          <a:r>
                            <a:rPr lang="en-GB" sz="1100" kern="0">
                              <a:solidFill>
                                <a:schemeClr val="tx1"/>
                              </a:solidFill>
                              <a:effectLst/>
                              <a:latin typeface="+mn-ea"/>
                              <a:ea typeface="+mn-ea"/>
                            </a:rPr>
                            <a:t> </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effectLst/>
                              <a:latin typeface="+mn-ea"/>
                              <a:ea typeface="+mn-ea"/>
                            </a:rPr>
                            <a:t>(0.0022)</a:t>
                          </a:r>
                          <a:endParaRPr lang="zh-CN" sz="1100" kern="100" dirty="0">
                            <a:effectLst/>
                            <a:latin typeface="+mn-ea"/>
                            <a:ea typeface="+mn-ea"/>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(0.0003)</a:t>
                          </a:r>
                          <a:endParaRPr lang="zh-CN" sz="1100" kern="100" dirty="0">
                            <a:effectLst/>
                            <a:latin typeface="+mn-ea"/>
                            <a:ea typeface="+mn-ea"/>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(0.0204)</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(0.0222)</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(0.0013)</a:t>
                          </a:r>
                          <a:endParaRPr lang="zh-CN" altLang="en-US" sz="1100" kern="0" dirty="0">
                            <a:solidFill>
                              <a:schemeClr val="dk1"/>
                            </a:solidFill>
                            <a:effectLst/>
                            <a:latin typeface="+mn-ea"/>
                            <a:ea typeface="+mn-ea"/>
                            <a:cs typeface="+mn-cs"/>
                          </a:endParaRPr>
                        </a:p>
                      </a:txBody>
                      <a:tcPr marL="47625" marR="47625" marT="0" marB="0" anchor="ctr">
                        <a:noFill/>
                      </a:tcPr>
                    </a:tc>
                    <a:extLst>
                      <a:ext uri="{0D108BD9-81ED-4DB2-BD59-A6C34878D82A}">
                        <a16:rowId xmlns:a16="http://schemas.microsoft.com/office/drawing/2014/main" val="2819678916"/>
                      </a:ext>
                    </a:extLst>
                  </a:tr>
                  <a:tr h="3955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ea typeface="+mn-ea"/>
                                  </a:rPr>
                                  <m:t>𝐴</m:t>
                                </m:r>
                                <m:sSub>
                                  <m:sSubPr>
                                    <m:ctrlPr>
                                      <a:rPr lang="zh-CN" sz="1100" i="1" kern="0">
                                        <a:solidFill>
                                          <a:schemeClr val="tx1"/>
                                        </a:solidFill>
                                        <a:effectLst/>
                                        <a:latin typeface="Cambria Math" panose="02040503050406030204" pitchFamily="18" charset="0"/>
                                        <a:ea typeface="+mn-ea"/>
                                      </a:rPr>
                                    </m:ctrlPr>
                                  </m:sSubPr>
                                  <m:e>
                                    <m:r>
                                      <a:rPr lang="en-GB" sz="1100" kern="0">
                                        <a:solidFill>
                                          <a:schemeClr val="tx1"/>
                                        </a:solidFill>
                                        <a:effectLst/>
                                        <a:latin typeface="Cambria Math" panose="02040503050406030204" pitchFamily="18" charset="0"/>
                                        <a:ea typeface="+mn-ea"/>
                                      </a:rPr>
                                      <m:t>𝐼</m:t>
                                    </m:r>
                                  </m:e>
                                  <m:sub>
                                    <m:r>
                                      <a:rPr lang="en-GB" sz="1100" kern="0">
                                        <a:solidFill>
                                          <a:schemeClr val="tx1"/>
                                        </a:solidFill>
                                        <a:effectLst/>
                                        <a:latin typeface="Cambria Math" panose="02040503050406030204" pitchFamily="18" charset="0"/>
                                        <a:ea typeface="+mn-ea"/>
                                      </a:rPr>
                                      <m:t>𝑢𝑡𝑖𝑙𝑖𝑧𝑒</m:t>
                                    </m:r>
                                  </m:sub>
                                </m:sSub>
                                <m:r>
                                  <a:rPr lang="en-GB" sz="1100" kern="0">
                                    <a:solidFill>
                                      <a:schemeClr val="tx1"/>
                                    </a:solidFill>
                                    <a:effectLst/>
                                    <a:latin typeface="Cambria Math" panose="02040503050406030204" pitchFamily="18" charset="0"/>
                                    <a:ea typeface="+mn-ea"/>
                                  </a:rPr>
                                  <m:t>×</m:t>
                                </m:r>
                                <m:r>
                                  <a:rPr lang="en-GB" sz="1100" kern="0">
                                    <a:solidFill>
                                      <a:schemeClr val="tx1"/>
                                    </a:solidFill>
                                    <a:effectLst/>
                                    <a:latin typeface="Cambria Math" panose="02040503050406030204" pitchFamily="18" charset="0"/>
                                    <a:ea typeface="+mn-ea"/>
                                  </a:rPr>
                                  <m:t>𝑃𝑈</m:t>
                                </m:r>
                              </m:oMath>
                            </m:oMathPara>
                          </a14:m>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effectLst/>
                              <a:latin typeface="+mn-ea"/>
                              <a:ea typeface="+mn-ea"/>
                            </a:rPr>
                            <a:t> </a:t>
                          </a:r>
                          <a:endParaRPr lang="zh-CN" sz="1100" kern="100" dirty="0">
                            <a:effectLst/>
                            <a:latin typeface="+mn-ea"/>
                            <a:ea typeface="+mn-ea"/>
                          </a:endParaRPr>
                        </a:p>
                      </a:txBody>
                      <a:tcPr marL="47625" marR="47625" marT="0" marB="0" anchor="ctr">
                        <a:noFill/>
                      </a:tcPr>
                    </a:tc>
                    <a:tc>
                      <a:txBody>
                        <a:bodyPr/>
                        <a:lstStyle/>
                        <a:p>
                          <a:pPr indent="127000" algn="ctr">
                            <a:buNone/>
                          </a:pPr>
                          <a:r>
                            <a:rPr lang="en-GB" sz="1100" kern="0">
                              <a:solidFill>
                                <a:schemeClr val="dk1"/>
                              </a:solidFill>
                              <a:effectLst/>
                              <a:latin typeface="+mn-ea"/>
                              <a:ea typeface="+mn-ea"/>
                              <a:cs typeface="+mn-cs"/>
                            </a:rPr>
                            <a:t> </a:t>
                          </a:r>
                          <a:endParaRPr lang="zh-CN" sz="1100" kern="100" dirty="0">
                            <a:effectLst/>
                            <a:latin typeface="+mn-ea"/>
                            <a:ea typeface="+mn-ea"/>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-0.0184*</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a:solidFill>
                                <a:schemeClr val="dk1"/>
                              </a:solidFill>
                              <a:effectLst/>
                              <a:latin typeface="+mn-ea"/>
                              <a:ea typeface="+mn-ea"/>
                              <a:cs typeface="+mn-cs"/>
                            </a:rPr>
                            <a:t> </a:t>
                          </a:r>
                          <a:endParaRPr lang="zh-CN" altLang="en-US" sz="1100" kern="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extLst>
                      <a:ext uri="{0D108BD9-81ED-4DB2-BD59-A6C34878D82A}">
                        <a16:rowId xmlns:a16="http://schemas.microsoft.com/office/drawing/2014/main" val="2600063486"/>
                      </a:ext>
                    </a:extLst>
                  </a:tr>
                  <a:tr h="395576">
                    <a:tc>
                      <a:txBody>
                        <a:bodyPr/>
                        <a:lstStyle/>
                        <a:p>
                          <a:pPr indent="127000" algn="ctr">
                            <a:buNone/>
                          </a:pPr>
                          <a:r>
                            <a:rPr lang="en-GB" sz="1100" kern="0">
                              <a:solidFill>
                                <a:schemeClr val="tx1"/>
                              </a:solidFill>
                              <a:effectLst/>
                              <a:latin typeface="+mn-ea"/>
                              <a:ea typeface="+mn-ea"/>
                            </a:rPr>
                            <a:t> </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effectLst/>
                              <a:latin typeface="+mn-ea"/>
                              <a:ea typeface="+mn-ea"/>
                            </a:rPr>
                            <a:t> </a:t>
                          </a:r>
                          <a:endParaRPr lang="zh-CN" sz="1100" kern="100" dirty="0">
                            <a:effectLst/>
                            <a:latin typeface="+mn-ea"/>
                            <a:ea typeface="+mn-ea"/>
                          </a:endParaRPr>
                        </a:p>
                      </a:txBody>
                      <a:tcPr marL="47625" marR="47625" marT="0" marB="0" anchor="ctr">
                        <a:noFill/>
                      </a:tcPr>
                    </a:tc>
                    <a:tc>
                      <a:txBody>
                        <a:bodyPr/>
                        <a:lstStyle/>
                        <a:p>
                          <a:pPr indent="127000" algn="ctr">
                            <a:buNone/>
                          </a:pPr>
                          <a:r>
                            <a:rPr lang="en-GB" sz="1100" kern="0">
                              <a:solidFill>
                                <a:schemeClr val="dk1"/>
                              </a:solidFill>
                              <a:effectLst/>
                              <a:latin typeface="+mn-ea"/>
                              <a:ea typeface="+mn-ea"/>
                              <a:cs typeface="+mn-cs"/>
                            </a:rPr>
                            <a:t> </a:t>
                          </a:r>
                          <a:endParaRPr lang="zh-CN" sz="1100" kern="100">
                            <a:effectLst/>
                            <a:latin typeface="+mn-ea"/>
                            <a:ea typeface="+mn-ea"/>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(0.0094)</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extLst>
                      <a:ext uri="{0D108BD9-81ED-4DB2-BD59-A6C34878D82A}">
                        <a16:rowId xmlns:a16="http://schemas.microsoft.com/office/drawing/2014/main" val="1794009828"/>
                      </a:ext>
                    </a:extLst>
                  </a:tr>
                  <a:tr h="3955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ea typeface="+mn-ea"/>
                                  </a:rPr>
                                  <m:t>𝐶𝑜𝑛𝑡𝑟𝑜𝑙</m:t>
                                </m:r>
                              </m:oMath>
                            </m:oMathPara>
                          </a14:m>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a:solidFill>
                                <a:schemeClr val="tx1"/>
                              </a:solidFill>
                              <a:effectLst/>
                              <a:latin typeface="+mn-ea"/>
                              <a:ea typeface="+mn-ea"/>
                            </a:rPr>
                            <a:t>Yes</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extLst>
                      <a:ext uri="{0D108BD9-81ED-4DB2-BD59-A6C34878D82A}">
                        <a16:rowId xmlns:a16="http://schemas.microsoft.com/office/drawing/2014/main" val="2587051138"/>
                      </a:ext>
                    </a:extLst>
                  </a:tr>
                  <a:tr h="3955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ea typeface="+mn-ea"/>
                                  </a:rPr>
                                  <m:t>𝑌𝑒𝑎𝑟</m:t>
                                </m:r>
                                <m:r>
                                  <a:rPr lang="en-GB" sz="1100" kern="0" smtClean="0">
                                    <a:solidFill>
                                      <a:schemeClr val="tx1"/>
                                    </a:solidFill>
                                    <a:effectLst/>
                                    <a:latin typeface="Cambria Math" panose="02040503050406030204" pitchFamily="18" charset="0"/>
                                    <a:ea typeface="+mn-ea"/>
                                  </a:rPr>
                                  <m:t> </m:t>
                                </m:r>
                                <m:r>
                                  <a:rPr lang="en-GB" sz="1100" kern="0" smtClean="0">
                                    <a:solidFill>
                                      <a:schemeClr val="tx1"/>
                                    </a:solidFill>
                                    <a:effectLst/>
                                    <a:latin typeface="Cambria Math" panose="02040503050406030204" pitchFamily="18" charset="0"/>
                                    <a:ea typeface="+mn-ea"/>
                                  </a:rPr>
                                  <m:t>𝐹𝐸</m:t>
                                </m:r>
                              </m:oMath>
                            </m:oMathPara>
                          </a14:m>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a:solidFill>
                                <a:schemeClr val="tx1"/>
                              </a:solidFill>
                              <a:effectLst/>
                              <a:latin typeface="+mn-ea"/>
                              <a:ea typeface="+mn-ea"/>
                            </a:rPr>
                            <a:t>Yes</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a:solidFill>
                                <a:schemeClr val="tx1"/>
                              </a:solidFill>
                              <a:effectLst/>
                              <a:latin typeface="+mn-ea"/>
                              <a:ea typeface="+mn-ea"/>
                            </a:rPr>
                            <a:t>Yes</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extLst>
                      <a:ext uri="{0D108BD9-81ED-4DB2-BD59-A6C34878D82A}">
                        <a16:rowId xmlns:a16="http://schemas.microsoft.com/office/drawing/2014/main" val="2595949022"/>
                      </a:ext>
                    </a:extLst>
                  </a:tr>
                  <a:tr h="3955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ea typeface="+mn-ea"/>
                                  </a:rPr>
                                  <m:t>𝐹𝑖𝑟𝑚</m:t>
                                </m:r>
                                <m:r>
                                  <a:rPr lang="en-GB" sz="1100" kern="0" smtClean="0">
                                    <a:solidFill>
                                      <a:schemeClr val="tx1"/>
                                    </a:solidFill>
                                    <a:effectLst/>
                                    <a:latin typeface="Cambria Math" panose="02040503050406030204" pitchFamily="18" charset="0"/>
                                    <a:ea typeface="+mn-ea"/>
                                  </a:rPr>
                                  <m:t> </m:t>
                                </m:r>
                                <m:r>
                                  <a:rPr lang="en-GB" sz="1100" kern="0" smtClean="0">
                                    <a:solidFill>
                                      <a:schemeClr val="tx1"/>
                                    </a:solidFill>
                                    <a:effectLst/>
                                    <a:latin typeface="Cambria Math" panose="02040503050406030204" pitchFamily="18" charset="0"/>
                                    <a:ea typeface="+mn-ea"/>
                                  </a:rPr>
                                  <m:t>𝐹𝐸</m:t>
                                </m:r>
                              </m:oMath>
                            </m:oMathPara>
                          </a14:m>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a:solidFill>
                                <a:schemeClr val="tx1"/>
                              </a:solidFill>
                              <a:effectLst/>
                              <a:latin typeface="+mn-ea"/>
                              <a:ea typeface="+mn-ea"/>
                            </a:rPr>
                            <a:t>Yes</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a:solidFill>
                                <a:schemeClr val="tx1"/>
                              </a:solidFill>
                              <a:effectLst/>
                              <a:latin typeface="+mn-ea"/>
                              <a:ea typeface="+mn-ea"/>
                            </a:rPr>
                            <a:t>Yes</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extLst>
                      <a:ext uri="{0D108BD9-81ED-4DB2-BD59-A6C34878D82A}">
                        <a16:rowId xmlns:a16="http://schemas.microsoft.com/office/drawing/2014/main" val="2251911788"/>
                      </a:ext>
                    </a:extLst>
                  </a:tr>
                  <a:tr h="3955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0" smtClean="0">
                                    <a:solidFill>
                                      <a:schemeClr val="tx1"/>
                                    </a:solidFill>
                                    <a:effectLst/>
                                    <a:latin typeface="Cambria Math" panose="02040503050406030204" pitchFamily="18" charset="0"/>
                                    <a:ea typeface="+mn-ea"/>
                                  </a:rPr>
                                  <m:t>𝑂𝑏𝑠𝑒𝑟𝑣𝑎𝑡𝑖𝑜𝑛𝑠</m:t>
                                </m:r>
                              </m:oMath>
                            </m:oMathPara>
                          </a14:m>
                          <a:endParaRPr lang="zh-CN" sz="1100" kern="100">
                            <a:solidFill>
                              <a:schemeClr val="tx1"/>
                            </a:solidFill>
                            <a:effectLst/>
                            <a:latin typeface="+mn-ea"/>
                            <a:ea typeface="+mn-ea"/>
                          </a:endParaRPr>
                        </a:p>
                      </a:txBody>
                      <a:tcPr marL="23467" marR="23467" marT="0" marB="0" anchor="ctr">
                        <a:lnB w="12700" cap="flat" cmpd="sng" algn="ctr">
                          <a:noFill/>
                          <a:prstDash val="solid"/>
                          <a:round/>
                          <a:headEnd type="none" w="med" len="med"/>
                          <a:tailEnd type="none" w="med" len="med"/>
                        </a:lnB>
                        <a:noFill/>
                      </a:tcPr>
                    </a:tc>
                    <a:tc>
                      <a:txBody>
                        <a:bodyPr/>
                        <a:lstStyle/>
                        <a:p>
                          <a:pPr indent="127000" algn="ctr">
                            <a:buNone/>
                          </a:pPr>
                          <a:r>
                            <a:rPr lang="en-GB" altLang="zh-CN" sz="1100" kern="0" dirty="0">
                              <a:solidFill>
                                <a:schemeClr val="dk1"/>
                              </a:solidFill>
                              <a:effectLst/>
                              <a:latin typeface="+mn-ea"/>
                              <a:ea typeface="+mn-ea"/>
                              <a:cs typeface="+mn-cs"/>
                            </a:rPr>
                            <a:t>32,251</a:t>
                          </a:r>
                          <a:endParaRPr lang="zh-CN" altLang="en-US" sz="1100" kern="0" dirty="0">
                            <a:solidFill>
                              <a:schemeClr val="dk1"/>
                            </a:solidFill>
                            <a:effectLst/>
                            <a:latin typeface="+mn-ea"/>
                            <a:ea typeface="+mn-ea"/>
                            <a:cs typeface="+mn-cs"/>
                          </a:endParaRPr>
                        </a:p>
                      </a:txBody>
                      <a:tcPr marL="23467" marR="23467" marT="0" marB="0" anchor="ctr">
                        <a:lnB w="12700" cap="flat" cmpd="sng" algn="ctr">
                          <a:noFill/>
                          <a:prstDash val="solid"/>
                          <a:round/>
                          <a:headEnd type="none" w="med" len="med"/>
                          <a:tailEnd type="none" w="med" len="med"/>
                        </a:lnB>
                        <a:noFill/>
                      </a:tcPr>
                    </a:tc>
                    <a:tc>
                      <a:txBody>
                        <a:bodyPr/>
                        <a:lstStyle/>
                        <a:p>
                          <a:pPr indent="127000" algn="ctr">
                            <a:buNone/>
                          </a:pPr>
                          <a:r>
                            <a:rPr lang="en-GB" sz="1100" kern="0">
                              <a:solidFill>
                                <a:schemeClr val="dk1"/>
                              </a:solidFill>
                              <a:effectLst/>
                              <a:latin typeface="+mn-ea"/>
                              <a:ea typeface="+mn-ea"/>
                              <a:cs typeface="+mn-cs"/>
                            </a:rPr>
                            <a:t>32,251</a:t>
                          </a:r>
                          <a:endParaRPr lang="zh-CN" sz="1100" kern="100">
                            <a:solidFill>
                              <a:schemeClr val="tx1"/>
                            </a:solidFill>
                            <a:effectLst/>
                            <a:latin typeface="+mn-ea"/>
                            <a:ea typeface="+mn-ea"/>
                          </a:endParaRPr>
                        </a:p>
                      </a:txBody>
                      <a:tcPr marL="47625" marR="47625" marT="0" marB="0" anchor="ctr">
                        <a:lnB w="12700" cap="flat" cmpd="sng" algn="ctr">
                          <a:no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32,251</a:t>
                          </a:r>
                          <a:endParaRPr lang="zh-CN" altLang="en-US" sz="1100" kern="0" dirty="0">
                            <a:solidFill>
                              <a:schemeClr val="dk1"/>
                            </a:solidFill>
                            <a:effectLst/>
                            <a:latin typeface="+mn-ea"/>
                            <a:ea typeface="+mn-ea"/>
                            <a:cs typeface="+mn-cs"/>
                          </a:endParaRPr>
                        </a:p>
                      </a:txBody>
                      <a:tcPr marL="47625" marR="47625" marT="0" marB="0" anchor="ctr">
                        <a:lnB w="12700" cap="flat" cmpd="sng" algn="ctr">
                          <a:noFill/>
                          <a:prstDash val="solid"/>
                          <a:round/>
                          <a:headEnd type="none" w="med" len="med"/>
                          <a:tailEnd type="none" w="med" len="med"/>
                        </a:lnB>
                        <a:noFill/>
                      </a:tcPr>
                    </a:tc>
                    <a:tc>
                      <a:txBody>
                        <a:bodyPr/>
                        <a:lstStyle/>
                        <a:p>
                          <a:pPr indent="127000" algn="ctr">
                            <a:buNone/>
                          </a:pPr>
                          <a:r>
                            <a:rPr lang="en-GB" sz="1100" kern="0">
                              <a:solidFill>
                                <a:schemeClr val="dk1"/>
                              </a:solidFill>
                              <a:effectLst/>
                              <a:latin typeface="+mn-ea"/>
                              <a:ea typeface="+mn-ea"/>
                              <a:cs typeface="+mn-cs"/>
                            </a:rPr>
                            <a:t>11,421</a:t>
                          </a:r>
                          <a:endParaRPr lang="zh-CN" altLang="en-US" sz="1100" kern="0">
                            <a:solidFill>
                              <a:schemeClr val="dk1"/>
                            </a:solidFill>
                            <a:effectLst/>
                            <a:latin typeface="+mn-ea"/>
                            <a:ea typeface="+mn-ea"/>
                            <a:cs typeface="+mn-cs"/>
                          </a:endParaRPr>
                        </a:p>
                      </a:txBody>
                      <a:tcPr marL="47625" marR="47625" marT="0" marB="0" anchor="ctr">
                        <a:lnB w="12700" cap="flat" cmpd="sng" algn="ctr">
                          <a:no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36,536</a:t>
                          </a:r>
                          <a:endParaRPr lang="zh-CN" altLang="en-US" sz="1100" kern="0" dirty="0">
                            <a:solidFill>
                              <a:schemeClr val="dk1"/>
                            </a:solidFill>
                            <a:effectLst/>
                            <a:latin typeface="+mn-ea"/>
                            <a:ea typeface="+mn-ea"/>
                            <a:cs typeface="+mn-cs"/>
                          </a:endParaRPr>
                        </a:p>
                      </a:txBody>
                      <a:tcPr marL="47625" marR="47625" marT="0" marB="0" anchor="ctr">
                        <a:lnB w="12700" cap="flat" cmpd="sng" algn="ctr">
                          <a:no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36,468</a:t>
                          </a:r>
                          <a:endParaRPr lang="zh-CN" altLang="en-US" sz="1100" kern="0" dirty="0">
                            <a:solidFill>
                              <a:schemeClr val="dk1"/>
                            </a:solidFill>
                            <a:effectLst/>
                            <a:latin typeface="+mn-ea"/>
                            <a:ea typeface="+mn-ea"/>
                            <a:cs typeface="+mn-cs"/>
                          </a:endParaRPr>
                        </a:p>
                      </a:txBody>
                      <a:tcPr marL="47625" marR="47625" marT="0" marB="0" anchor="ctr">
                        <a:lnB w="12700" cap="flat" cmpd="sng" algn="ctr">
                          <a:noFill/>
                          <a:prstDash val="solid"/>
                          <a:round/>
                          <a:headEnd type="none" w="med" len="med"/>
                          <a:tailEnd type="none" w="med" len="med"/>
                        </a:lnB>
                        <a:noFill/>
                      </a:tcPr>
                    </a:tc>
                    <a:extLst>
                      <a:ext uri="{0D108BD9-81ED-4DB2-BD59-A6C34878D82A}">
                        <a16:rowId xmlns:a16="http://schemas.microsoft.com/office/drawing/2014/main" val="418536865"/>
                      </a:ext>
                    </a:extLst>
                  </a:tr>
                  <a:tr h="395576">
                    <a:tc>
                      <a:txBody>
                        <a:bodyPr/>
                        <a:lstStyle/>
                        <a:p>
                          <a:pPr indent="127000" algn="ctr">
                            <a:buNone/>
                          </a:pPr>
                          <a14:m>
                            <m:oMathPara xmlns:m="http://schemas.openxmlformats.org/officeDocument/2006/math">
                              <m:oMathParaPr>
                                <m:jc m:val="centerGroup"/>
                              </m:oMathParaPr>
                              <m:oMath xmlns:m="http://schemas.openxmlformats.org/officeDocument/2006/math">
                                <m:sSup>
                                  <m:sSupPr>
                                    <m:ctrlPr>
                                      <a:rPr lang="zh-CN" sz="1100" i="1" kern="0" smtClean="0">
                                        <a:solidFill>
                                          <a:schemeClr val="tx1"/>
                                        </a:solidFill>
                                        <a:effectLst/>
                                        <a:latin typeface="Cambria Math" panose="02040503050406030204" pitchFamily="18" charset="0"/>
                                        <a:ea typeface="+mn-ea"/>
                                      </a:rPr>
                                    </m:ctrlPr>
                                  </m:sSupPr>
                                  <m:e>
                                    <m:r>
                                      <a:rPr lang="en-GB" sz="1100" kern="0">
                                        <a:solidFill>
                                          <a:schemeClr val="tx1"/>
                                        </a:solidFill>
                                        <a:effectLst/>
                                        <a:latin typeface="Cambria Math" panose="02040503050406030204" pitchFamily="18" charset="0"/>
                                        <a:ea typeface="+mn-ea"/>
                                      </a:rPr>
                                      <m:t>𝑅</m:t>
                                    </m:r>
                                  </m:e>
                                  <m:sup>
                                    <m:r>
                                      <a:rPr lang="en-GB" sz="1100" kern="0">
                                        <a:solidFill>
                                          <a:schemeClr val="tx1"/>
                                        </a:solidFill>
                                        <a:effectLst/>
                                        <a:latin typeface="Cambria Math" panose="02040503050406030204" pitchFamily="18" charset="0"/>
                                        <a:ea typeface="+mn-ea"/>
                                      </a:rPr>
                                      <m:t>2</m:t>
                                    </m:r>
                                  </m:sup>
                                </m:sSup>
                                <m:r>
                                  <a:rPr lang="en-GB" sz="1100" kern="0">
                                    <a:solidFill>
                                      <a:schemeClr val="tx1"/>
                                    </a:solidFill>
                                    <a:effectLst/>
                                    <a:latin typeface="Cambria Math" panose="02040503050406030204" pitchFamily="18" charset="0"/>
                                    <a:ea typeface="+mn-ea"/>
                                  </a:rPr>
                                  <m:t>_</m:t>
                                </m:r>
                                <m:r>
                                  <a:rPr lang="en-GB" sz="1100" kern="0">
                                    <a:solidFill>
                                      <a:schemeClr val="tx1"/>
                                    </a:solidFill>
                                    <a:effectLst/>
                                    <a:latin typeface="Cambria Math" panose="02040503050406030204" pitchFamily="18" charset="0"/>
                                    <a:ea typeface="+mn-ea"/>
                                  </a:rPr>
                                  <m:t>𝑎𝑑𝑗𝑢𝑠𝑡𝑒𝑑</m:t>
                                </m:r>
                              </m:oMath>
                            </m:oMathPara>
                          </a14:m>
                          <a:endParaRPr lang="zh-CN" sz="1100" kern="100" dirty="0">
                            <a:solidFill>
                              <a:schemeClr val="tx1"/>
                            </a:solidFill>
                            <a:effectLst/>
                            <a:latin typeface="+mn-ea"/>
                            <a:ea typeface="+mn-ea"/>
                          </a:endParaRPr>
                        </a:p>
                      </a:txBody>
                      <a:tcPr marL="23467" marR="23467"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altLang="zh-CN" sz="1100" kern="0" dirty="0">
                              <a:solidFill>
                                <a:schemeClr val="dk1"/>
                              </a:solidFill>
                              <a:effectLst/>
                              <a:latin typeface="+mn-ea"/>
                              <a:ea typeface="+mn-ea"/>
                              <a:cs typeface="+mn-cs"/>
                            </a:rPr>
                            <a:t>0.3932</a:t>
                          </a:r>
                          <a:endParaRPr lang="zh-CN" altLang="en-US" sz="1100" kern="0" dirty="0">
                            <a:solidFill>
                              <a:schemeClr val="dk1"/>
                            </a:solidFill>
                            <a:effectLst/>
                            <a:latin typeface="+mn-ea"/>
                            <a:ea typeface="+mn-ea"/>
                            <a:cs typeface="+mn-cs"/>
                          </a:endParaRPr>
                        </a:p>
                      </a:txBody>
                      <a:tcPr marL="23467" marR="23467"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0.7288</a:t>
                          </a:r>
                          <a:endParaRPr lang="zh-CN" sz="1100" kern="100" dirty="0">
                            <a:solidFill>
                              <a:schemeClr val="tx1"/>
                            </a:solidFill>
                            <a:effectLst/>
                            <a:latin typeface="+mn-ea"/>
                            <a:ea typeface="+mn-ea"/>
                          </a:endParaRPr>
                        </a:p>
                      </a:txBody>
                      <a:tcPr marL="47625" marR="47625"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0.3383</a:t>
                          </a:r>
                          <a:endParaRPr lang="zh-CN" altLang="en-US" sz="1100" kern="0" dirty="0">
                            <a:solidFill>
                              <a:schemeClr val="dk1"/>
                            </a:solidFill>
                            <a:effectLst/>
                            <a:latin typeface="+mn-ea"/>
                            <a:ea typeface="+mn-ea"/>
                            <a:cs typeface="+mn-cs"/>
                          </a:endParaRPr>
                        </a:p>
                      </a:txBody>
                      <a:tcPr marL="47625" marR="47625"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0.1947</a:t>
                          </a:r>
                          <a:endParaRPr lang="zh-CN" altLang="en-US" sz="1100" kern="0" dirty="0">
                            <a:solidFill>
                              <a:schemeClr val="dk1"/>
                            </a:solidFill>
                            <a:effectLst/>
                            <a:latin typeface="+mn-ea"/>
                            <a:ea typeface="+mn-ea"/>
                            <a:cs typeface="+mn-cs"/>
                          </a:endParaRPr>
                        </a:p>
                      </a:txBody>
                      <a:tcPr marL="47625" marR="47625"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0.4198</a:t>
                          </a:r>
                          <a:endParaRPr lang="zh-CN" altLang="en-US" sz="1100" kern="0" dirty="0">
                            <a:solidFill>
                              <a:schemeClr val="dk1"/>
                            </a:solidFill>
                            <a:effectLst/>
                            <a:latin typeface="+mn-ea"/>
                            <a:ea typeface="+mn-ea"/>
                            <a:cs typeface="+mn-cs"/>
                          </a:endParaRPr>
                        </a:p>
                      </a:txBody>
                      <a:tcPr marL="47625" marR="47625"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0.4188</a:t>
                          </a:r>
                          <a:endParaRPr lang="zh-CN" altLang="en-US" sz="1100" kern="0" dirty="0">
                            <a:solidFill>
                              <a:schemeClr val="dk1"/>
                            </a:solidFill>
                            <a:effectLst/>
                            <a:latin typeface="+mn-ea"/>
                            <a:ea typeface="+mn-ea"/>
                            <a:cs typeface="+mn-cs"/>
                          </a:endParaRPr>
                        </a:p>
                      </a:txBody>
                      <a:tcPr marL="47625" marR="47625"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4427803"/>
                      </a:ext>
                    </a:extLst>
                  </a:tr>
                </a:tbl>
              </a:graphicData>
            </a:graphic>
          </p:graphicFrame>
        </mc:Choice>
        <mc:Fallback xmlns="">
          <p:graphicFrame>
            <p:nvGraphicFramePr>
              <p:cNvPr id="5" name="内容占位符 4">
                <a:extLst>
                  <a:ext uri="{FF2B5EF4-FFF2-40B4-BE49-F238E27FC236}">
                    <a16:creationId xmlns:a16="http://schemas.microsoft.com/office/drawing/2014/main" id="{C161252D-BFE0-B03F-E147-064E5B19193A}"/>
                  </a:ext>
                </a:extLst>
              </p:cNvPr>
              <p:cNvGraphicFramePr>
                <a:graphicFrameLocks noGrp="1"/>
              </p:cNvGraphicFramePr>
              <p:nvPr>
                <p:ph sz="half" idx="2"/>
                <p:extLst>
                  <p:ext uri="{D42A27DB-BD31-4B8C-83A1-F6EECF244321}">
                    <p14:modId xmlns:p14="http://schemas.microsoft.com/office/powerpoint/2010/main" val="2176012950"/>
                  </p:ext>
                </p:extLst>
              </p:nvPr>
            </p:nvGraphicFramePr>
            <p:xfrm>
              <a:off x="5598368" y="1825625"/>
              <a:ext cx="6593633" cy="4119172"/>
            </p:xfrm>
            <a:graphic>
              <a:graphicData uri="http://schemas.openxmlformats.org/drawingml/2006/table">
                <a:tbl>
                  <a:tblPr firstRow="1" firstCol="1" bandRow="1">
                    <a:tableStyleId>{5C22544A-7EE6-4342-B048-85BDC9FD1C3A}</a:tableStyleId>
                  </a:tblPr>
                  <a:tblGrid>
                    <a:gridCol w="998375">
                      <a:extLst>
                        <a:ext uri="{9D8B030D-6E8A-4147-A177-3AD203B41FA5}">
                          <a16:colId xmlns:a16="http://schemas.microsoft.com/office/drawing/2014/main" val="2442036572"/>
                        </a:ext>
                      </a:extLst>
                    </a:gridCol>
                    <a:gridCol w="974458">
                      <a:extLst>
                        <a:ext uri="{9D8B030D-6E8A-4147-A177-3AD203B41FA5}">
                          <a16:colId xmlns:a16="http://schemas.microsoft.com/office/drawing/2014/main" val="2595390544"/>
                        </a:ext>
                      </a:extLst>
                    </a:gridCol>
                    <a:gridCol w="1070676">
                      <a:extLst>
                        <a:ext uri="{9D8B030D-6E8A-4147-A177-3AD203B41FA5}">
                          <a16:colId xmlns:a16="http://schemas.microsoft.com/office/drawing/2014/main" val="1962878830"/>
                        </a:ext>
                      </a:extLst>
                    </a:gridCol>
                    <a:gridCol w="847356">
                      <a:extLst>
                        <a:ext uri="{9D8B030D-6E8A-4147-A177-3AD203B41FA5}">
                          <a16:colId xmlns:a16="http://schemas.microsoft.com/office/drawing/2014/main" val="1645105099"/>
                        </a:ext>
                      </a:extLst>
                    </a:gridCol>
                    <a:gridCol w="811763">
                      <a:extLst>
                        <a:ext uri="{9D8B030D-6E8A-4147-A177-3AD203B41FA5}">
                          <a16:colId xmlns:a16="http://schemas.microsoft.com/office/drawing/2014/main" val="2002791556"/>
                        </a:ext>
                      </a:extLst>
                    </a:gridCol>
                    <a:gridCol w="1003474">
                      <a:extLst>
                        <a:ext uri="{9D8B030D-6E8A-4147-A177-3AD203B41FA5}">
                          <a16:colId xmlns:a16="http://schemas.microsoft.com/office/drawing/2014/main" val="927507535"/>
                        </a:ext>
                      </a:extLst>
                    </a:gridCol>
                    <a:gridCol w="887531">
                      <a:extLst>
                        <a:ext uri="{9D8B030D-6E8A-4147-A177-3AD203B41FA5}">
                          <a16:colId xmlns:a16="http://schemas.microsoft.com/office/drawing/2014/main" val="3217726209"/>
                        </a:ext>
                      </a:extLst>
                    </a:gridCol>
                  </a:tblGrid>
                  <a:tr h="279494">
                    <a:tc rowSpan="2">
                      <a:txBody>
                        <a:bodyPr/>
                        <a:lstStyle/>
                        <a:p>
                          <a:pPr indent="127000" algn="ctr">
                            <a:buNone/>
                          </a:pPr>
                          <a:r>
                            <a:rPr lang="zh-CN" sz="1100" kern="0" dirty="0">
                              <a:solidFill>
                                <a:schemeClr val="tx1"/>
                              </a:solidFill>
                              <a:effectLst/>
                              <a:latin typeface="+mn-ea"/>
                              <a:ea typeface="+mn-ea"/>
                            </a:rPr>
                            <a:t>变量</a:t>
                          </a:r>
                          <a:endParaRPr lang="zh-CN" sz="1100" kern="100" dirty="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tx1"/>
                              </a:solidFill>
                              <a:effectLst/>
                              <a:latin typeface="+mn-ea"/>
                              <a:ea typeface="+mn-ea"/>
                            </a:rPr>
                            <a:t>(1)</a:t>
                          </a:r>
                          <a:endParaRPr lang="zh-CN" sz="1100" kern="100" dirty="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solidFill>
                                <a:schemeClr val="tx1"/>
                              </a:solidFill>
                              <a:effectLst/>
                              <a:latin typeface="+mn-ea"/>
                              <a:ea typeface="+mn-ea"/>
                            </a:rPr>
                            <a:t>(2)</a:t>
                          </a:r>
                          <a:endParaRPr lang="zh-CN" sz="1100" kern="100" dirty="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solidFill>
                                <a:schemeClr val="tx1"/>
                              </a:solidFill>
                              <a:effectLst/>
                              <a:latin typeface="+mn-ea"/>
                              <a:ea typeface="+mn-ea"/>
                            </a:rPr>
                            <a:t>(3)</a:t>
                          </a:r>
                          <a:endParaRPr lang="zh-CN" sz="1100" kern="100" dirty="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solidFill>
                                <a:schemeClr val="tx1"/>
                              </a:solidFill>
                              <a:effectLst/>
                              <a:latin typeface="+mn-ea"/>
                              <a:ea typeface="+mn-ea"/>
                            </a:rPr>
                            <a:t>(4)</a:t>
                          </a:r>
                          <a:endParaRPr lang="zh-CN" sz="1100" kern="100" dirty="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kern="0">
                              <a:solidFill>
                                <a:schemeClr val="tx1"/>
                              </a:solidFill>
                              <a:effectLst/>
                              <a:latin typeface="+mn-ea"/>
                              <a:ea typeface="+mn-ea"/>
                            </a:rPr>
                            <a:t>(5)</a:t>
                          </a:r>
                          <a:endParaRPr lang="zh-CN" sz="1100" kern="10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kern="0">
                              <a:solidFill>
                                <a:schemeClr val="tx1"/>
                              </a:solidFill>
                              <a:effectLst/>
                              <a:latin typeface="+mn-ea"/>
                              <a:ea typeface="+mn-ea"/>
                            </a:rPr>
                            <a:t>(6)</a:t>
                          </a:r>
                          <a:endParaRPr lang="zh-CN" sz="1100" kern="100">
                            <a:solidFill>
                              <a:schemeClr val="tx1"/>
                            </a:solidFill>
                            <a:effectLst/>
                            <a:latin typeface="+mn-ea"/>
                            <a:ea typeface="+mn-ea"/>
                          </a:endParaRPr>
                        </a:p>
                      </a:txBody>
                      <a:tcPr marL="23467" marR="23467"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041363689"/>
                      </a:ext>
                    </a:extLst>
                  </a:tr>
                  <a:tr h="279494">
                    <a:tc vMerge="1">
                      <a:txBody>
                        <a:bodyPr/>
                        <a:lstStyle/>
                        <a:p>
                          <a:endParaRPr lang="zh-CN" altLang="en-US"/>
                        </a:p>
                      </a:txBody>
                      <a:tcPr/>
                    </a:tc>
                    <a:tc gridSpan="3">
                      <a:txBody>
                        <a:bodyPr/>
                        <a:lstStyle/>
                        <a:p>
                          <a:endParaRPr lang="zh-CN"/>
                        </a:p>
                      </a:txBody>
                      <a:tcPr marL="23467" marR="23467" marT="0" marB="0" anchor="ctr">
                        <a:lnB w="6350" cap="flat" cmpd="sng" algn="ctr">
                          <a:solidFill>
                            <a:schemeClr val="tx1"/>
                          </a:solidFill>
                          <a:prstDash val="solid"/>
                          <a:round/>
                          <a:headEnd type="none" w="med" len="med"/>
                          <a:tailEnd type="none" w="med" len="med"/>
                        </a:lnB>
                        <a:blipFill>
                          <a:blip r:embed="rId2"/>
                          <a:stretch>
                            <a:fillRect l="-34737" t="-102174" r="-94316" b="-1276087"/>
                          </a:stretch>
                        </a:blipFill>
                      </a:tcPr>
                    </a:tc>
                    <a:tc hMerge="1">
                      <a:txBody>
                        <a:bodyPr/>
                        <a:lstStyle/>
                        <a:p>
                          <a:endParaRPr lang="zh-CN" altLang="en-US"/>
                        </a:p>
                      </a:txBody>
                      <a:tcPr/>
                    </a:tc>
                    <a:tc hMerge="1">
                      <a:txBody>
                        <a:bodyPr/>
                        <a:lstStyle/>
                        <a:p>
                          <a:endParaRPr lang="zh-CN" altLang="en-US"/>
                        </a:p>
                      </a:txBody>
                      <a:tcPr/>
                    </a:tc>
                    <a:tc>
                      <a:txBody>
                        <a:bodyPr/>
                        <a:lstStyle/>
                        <a:p>
                          <a:endParaRPr lang="zh-CN"/>
                        </a:p>
                      </a:txBody>
                      <a:tcPr marL="23467" marR="23467" marT="0" marB="0" anchor="ctr">
                        <a:lnB w="6350" cap="flat" cmpd="sng" algn="ctr">
                          <a:solidFill>
                            <a:schemeClr val="tx1"/>
                          </a:solidFill>
                          <a:prstDash val="solid"/>
                          <a:round/>
                          <a:headEnd type="none" w="med" len="med"/>
                          <a:tailEnd type="none" w="med" len="med"/>
                        </a:lnB>
                        <a:blipFill>
                          <a:blip r:embed="rId2"/>
                          <a:stretch>
                            <a:fillRect l="-481203" t="-102174" r="-236842" b="-1276087"/>
                          </a:stretch>
                        </a:blipFill>
                      </a:tcPr>
                    </a:tc>
                    <a:tc gridSpan="2">
                      <a:txBody>
                        <a:bodyPr/>
                        <a:lstStyle/>
                        <a:p>
                          <a:endParaRPr lang="zh-CN"/>
                        </a:p>
                      </a:txBody>
                      <a:tcPr marL="23467" marR="23467" marT="0" marB="0" anchor="ctr">
                        <a:lnB w="6350" cap="flat" cmpd="sng" algn="ctr">
                          <a:solidFill>
                            <a:schemeClr val="tx1"/>
                          </a:solidFill>
                          <a:prstDash val="solid"/>
                          <a:round/>
                          <a:headEnd type="none" w="med" len="med"/>
                          <a:tailEnd type="none" w="med" len="med"/>
                        </a:lnB>
                        <a:blipFill>
                          <a:blip r:embed="rId2"/>
                          <a:stretch>
                            <a:fillRect l="-248553" t="-102174" r="-1286" b="-1276087"/>
                          </a:stretch>
                        </a:blipFill>
                      </a:tcPr>
                    </a:tc>
                    <a:tc hMerge="1">
                      <a:txBody>
                        <a:bodyPr/>
                        <a:lstStyle/>
                        <a:p>
                          <a:endParaRPr lang="zh-CN" altLang="en-US"/>
                        </a:p>
                      </a:txBody>
                      <a:tcPr/>
                    </a:tc>
                    <a:extLst>
                      <a:ext uri="{0D108BD9-81ED-4DB2-BD59-A6C34878D82A}">
                        <a16:rowId xmlns:a16="http://schemas.microsoft.com/office/drawing/2014/main" val="265707178"/>
                      </a:ext>
                    </a:extLst>
                  </a:tr>
                  <a:tr h="395576">
                    <a:tc>
                      <a:txBody>
                        <a:bodyPr/>
                        <a:lstStyle/>
                        <a:p>
                          <a:endParaRPr lang="zh-CN"/>
                        </a:p>
                      </a:txBody>
                      <a:tcPr marL="23467" marR="23467" marT="0" marB="0" anchor="ctr">
                        <a:lnT w="6350" cap="flat" cmpd="sng" algn="ctr">
                          <a:solidFill>
                            <a:schemeClr val="tx1"/>
                          </a:solidFill>
                          <a:prstDash val="solid"/>
                          <a:round/>
                          <a:headEnd type="none" w="med" len="med"/>
                          <a:tailEnd type="none" w="med" len="med"/>
                        </a:lnT>
                        <a:blipFill>
                          <a:blip r:embed="rId2"/>
                          <a:stretch>
                            <a:fillRect l="-610" t="-143077" r="-562805" b="-803077"/>
                          </a:stretch>
                        </a:blipFill>
                      </a:tcPr>
                    </a:tc>
                    <a:tc>
                      <a:txBody>
                        <a:bodyPr/>
                        <a:lstStyle/>
                        <a:p>
                          <a:pPr indent="127000" algn="ctr">
                            <a:buNone/>
                          </a:pPr>
                          <a:r>
                            <a:rPr lang="en-GB" sz="1100" kern="0" dirty="0">
                              <a:effectLst/>
                              <a:latin typeface="+mn-ea"/>
                              <a:ea typeface="+mn-ea"/>
                            </a:rPr>
                            <a:t>-0.0060***</a:t>
                          </a:r>
                          <a:endParaRPr lang="zh-CN" sz="1100" kern="100" dirty="0">
                            <a:effectLst/>
                            <a:latin typeface="+mn-ea"/>
                            <a:ea typeface="+mn-ea"/>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a:solidFill>
                                <a:schemeClr val="dk1"/>
                              </a:solidFill>
                              <a:effectLst/>
                              <a:latin typeface="+mn-ea"/>
                              <a:ea typeface="+mn-ea"/>
                              <a:cs typeface="+mn-cs"/>
                            </a:rPr>
                            <a:t>-0.0010***</a:t>
                          </a:r>
                          <a:endParaRPr lang="zh-CN" sz="1100" kern="100" dirty="0">
                            <a:effectLst/>
                            <a:latin typeface="+mn-ea"/>
                            <a:ea typeface="+mn-ea"/>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solidFill>
                                <a:schemeClr val="dk1"/>
                              </a:solidFill>
                              <a:effectLst/>
                              <a:latin typeface="+mn-ea"/>
                              <a:ea typeface="+mn-ea"/>
                              <a:cs typeface="+mn-cs"/>
                            </a:rPr>
                            <a:t>-0.0402**</a:t>
                          </a:r>
                          <a:endParaRPr lang="zh-CN" altLang="en-US" sz="1100" kern="0" dirty="0">
                            <a:solidFill>
                              <a:schemeClr val="dk1"/>
                            </a:solidFill>
                            <a:effectLst/>
                            <a:latin typeface="+mn-ea"/>
                            <a:ea typeface="+mn-ea"/>
                            <a:cs typeface="+mn-cs"/>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a:solidFill>
                                <a:schemeClr val="dk1"/>
                              </a:solidFill>
                              <a:effectLst/>
                              <a:latin typeface="+mn-ea"/>
                              <a:ea typeface="+mn-ea"/>
                              <a:cs typeface="+mn-cs"/>
                            </a:rPr>
                            <a:t>-0.0621***</a:t>
                          </a:r>
                          <a:endParaRPr lang="zh-CN" altLang="en-US" sz="1100" kern="0">
                            <a:solidFill>
                              <a:schemeClr val="dk1"/>
                            </a:solidFill>
                            <a:effectLst/>
                            <a:latin typeface="+mn-ea"/>
                            <a:ea typeface="+mn-ea"/>
                            <a:cs typeface="+mn-cs"/>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100" kern="0">
                              <a:solidFill>
                                <a:schemeClr val="dk1"/>
                              </a:solidFill>
                              <a:effectLst/>
                              <a:latin typeface="+mn-ea"/>
                              <a:ea typeface="+mn-ea"/>
                              <a:cs typeface="+mn-cs"/>
                            </a:rPr>
                            <a:t>-0.0024*</a:t>
                          </a:r>
                          <a:endParaRPr lang="zh-CN" altLang="en-US" sz="1100" kern="0">
                            <a:solidFill>
                              <a:schemeClr val="dk1"/>
                            </a:solidFill>
                            <a:effectLst/>
                            <a:latin typeface="+mn-ea"/>
                            <a:ea typeface="+mn-ea"/>
                            <a:cs typeface="+mn-cs"/>
                          </a:endParaRPr>
                        </a:p>
                      </a:txBody>
                      <a:tcPr marL="47625" marR="47625" marT="0" marB="0"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368258765"/>
                      </a:ext>
                    </a:extLst>
                  </a:tr>
                  <a:tr h="395576">
                    <a:tc>
                      <a:txBody>
                        <a:bodyPr/>
                        <a:lstStyle/>
                        <a:p>
                          <a:pPr indent="127000" algn="ctr">
                            <a:buNone/>
                          </a:pPr>
                          <a:r>
                            <a:rPr lang="en-GB" sz="1100" kern="0">
                              <a:solidFill>
                                <a:schemeClr val="tx1"/>
                              </a:solidFill>
                              <a:effectLst/>
                              <a:latin typeface="+mn-ea"/>
                              <a:ea typeface="+mn-ea"/>
                            </a:rPr>
                            <a:t> </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effectLst/>
                              <a:latin typeface="+mn-ea"/>
                              <a:ea typeface="+mn-ea"/>
                            </a:rPr>
                            <a:t>(0.0022)</a:t>
                          </a:r>
                          <a:endParaRPr lang="zh-CN" sz="1100" kern="100" dirty="0">
                            <a:effectLst/>
                            <a:latin typeface="+mn-ea"/>
                            <a:ea typeface="+mn-ea"/>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(0.0003)</a:t>
                          </a:r>
                          <a:endParaRPr lang="zh-CN" sz="1100" kern="100" dirty="0">
                            <a:effectLst/>
                            <a:latin typeface="+mn-ea"/>
                            <a:ea typeface="+mn-ea"/>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(0.0204)</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(0.0222)</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(0.0013)</a:t>
                          </a:r>
                          <a:endParaRPr lang="zh-CN" altLang="en-US" sz="1100" kern="0" dirty="0">
                            <a:solidFill>
                              <a:schemeClr val="dk1"/>
                            </a:solidFill>
                            <a:effectLst/>
                            <a:latin typeface="+mn-ea"/>
                            <a:ea typeface="+mn-ea"/>
                            <a:cs typeface="+mn-cs"/>
                          </a:endParaRPr>
                        </a:p>
                      </a:txBody>
                      <a:tcPr marL="47625" marR="47625" marT="0" marB="0" anchor="ctr">
                        <a:noFill/>
                      </a:tcPr>
                    </a:tc>
                    <a:extLst>
                      <a:ext uri="{0D108BD9-81ED-4DB2-BD59-A6C34878D82A}">
                        <a16:rowId xmlns:a16="http://schemas.microsoft.com/office/drawing/2014/main" val="2819678916"/>
                      </a:ext>
                    </a:extLst>
                  </a:tr>
                  <a:tr h="395576">
                    <a:tc>
                      <a:txBody>
                        <a:bodyPr/>
                        <a:lstStyle/>
                        <a:p>
                          <a:endParaRPr lang="zh-CN"/>
                        </a:p>
                      </a:txBody>
                      <a:tcPr marL="23467" marR="23467" marT="0" marB="0" anchor="ctr">
                        <a:blipFill>
                          <a:blip r:embed="rId2"/>
                          <a:stretch>
                            <a:fillRect l="-610" t="-343077" r="-562805" b="-603077"/>
                          </a:stretch>
                        </a:blipFill>
                      </a:tcPr>
                    </a:tc>
                    <a:tc>
                      <a:txBody>
                        <a:bodyPr/>
                        <a:lstStyle/>
                        <a:p>
                          <a:pPr indent="127000" algn="ctr">
                            <a:buNone/>
                          </a:pPr>
                          <a:r>
                            <a:rPr lang="en-GB" sz="1100" kern="0" dirty="0">
                              <a:effectLst/>
                              <a:latin typeface="+mn-ea"/>
                              <a:ea typeface="+mn-ea"/>
                            </a:rPr>
                            <a:t> </a:t>
                          </a:r>
                          <a:endParaRPr lang="zh-CN" sz="1100" kern="100" dirty="0">
                            <a:effectLst/>
                            <a:latin typeface="+mn-ea"/>
                            <a:ea typeface="+mn-ea"/>
                          </a:endParaRPr>
                        </a:p>
                      </a:txBody>
                      <a:tcPr marL="47625" marR="47625" marT="0" marB="0" anchor="ctr">
                        <a:noFill/>
                      </a:tcPr>
                    </a:tc>
                    <a:tc>
                      <a:txBody>
                        <a:bodyPr/>
                        <a:lstStyle/>
                        <a:p>
                          <a:pPr indent="127000" algn="ctr">
                            <a:buNone/>
                          </a:pPr>
                          <a:r>
                            <a:rPr lang="en-GB" sz="1100" kern="0">
                              <a:solidFill>
                                <a:schemeClr val="dk1"/>
                              </a:solidFill>
                              <a:effectLst/>
                              <a:latin typeface="+mn-ea"/>
                              <a:ea typeface="+mn-ea"/>
                              <a:cs typeface="+mn-cs"/>
                            </a:rPr>
                            <a:t> </a:t>
                          </a:r>
                          <a:endParaRPr lang="zh-CN" sz="1100" kern="100" dirty="0">
                            <a:effectLst/>
                            <a:latin typeface="+mn-ea"/>
                            <a:ea typeface="+mn-ea"/>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-0.0184*</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a:solidFill>
                                <a:schemeClr val="dk1"/>
                              </a:solidFill>
                              <a:effectLst/>
                              <a:latin typeface="+mn-ea"/>
                              <a:ea typeface="+mn-ea"/>
                              <a:cs typeface="+mn-cs"/>
                            </a:rPr>
                            <a:t> </a:t>
                          </a:r>
                          <a:endParaRPr lang="zh-CN" altLang="en-US" sz="1100" kern="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extLst>
                      <a:ext uri="{0D108BD9-81ED-4DB2-BD59-A6C34878D82A}">
                        <a16:rowId xmlns:a16="http://schemas.microsoft.com/office/drawing/2014/main" val="2600063486"/>
                      </a:ext>
                    </a:extLst>
                  </a:tr>
                  <a:tr h="395576">
                    <a:tc>
                      <a:txBody>
                        <a:bodyPr/>
                        <a:lstStyle/>
                        <a:p>
                          <a:pPr indent="127000" algn="ctr">
                            <a:buNone/>
                          </a:pPr>
                          <a:r>
                            <a:rPr lang="en-GB" sz="1100" kern="0">
                              <a:solidFill>
                                <a:schemeClr val="tx1"/>
                              </a:solidFill>
                              <a:effectLst/>
                              <a:latin typeface="+mn-ea"/>
                              <a:ea typeface="+mn-ea"/>
                            </a:rPr>
                            <a:t> </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effectLst/>
                              <a:latin typeface="+mn-ea"/>
                              <a:ea typeface="+mn-ea"/>
                            </a:rPr>
                            <a:t> </a:t>
                          </a:r>
                          <a:endParaRPr lang="zh-CN" sz="1100" kern="100" dirty="0">
                            <a:effectLst/>
                            <a:latin typeface="+mn-ea"/>
                            <a:ea typeface="+mn-ea"/>
                          </a:endParaRPr>
                        </a:p>
                      </a:txBody>
                      <a:tcPr marL="47625" marR="47625" marT="0" marB="0" anchor="ctr">
                        <a:noFill/>
                      </a:tcPr>
                    </a:tc>
                    <a:tc>
                      <a:txBody>
                        <a:bodyPr/>
                        <a:lstStyle/>
                        <a:p>
                          <a:pPr indent="127000" algn="ctr">
                            <a:buNone/>
                          </a:pPr>
                          <a:r>
                            <a:rPr lang="en-GB" sz="1100" kern="0">
                              <a:solidFill>
                                <a:schemeClr val="dk1"/>
                              </a:solidFill>
                              <a:effectLst/>
                              <a:latin typeface="+mn-ea"/>
                              <a:ea typeface="+mn-ea"/>
                              <a:cs typeface="+mn-cs"/>
                            </a:rPr>
                            <a:t> </a:t>
                          </a:r>
                          <a:endParaRPr lang="zh-CN" sz="1100" kern="100">
                            <a:effectLst/>
                            <a:latin typeface="+mn-ea"/>
                            <a:ea typeface="+mn-ea"/>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(0.0094)</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tc>
                      <a:txBody>
                        <a:bodyPr/>
                        <a:lstStyle/>
                        <a:p>
                          <a:pPr indent="127000" algn="ctr">
                            <a:buNone/>
                          </a:pPr>
                          <a:r>
                            <a:rPr lang="en-GB" sz="1100" kern="0" dirty="0">
                              <a:solidFill>
                                <a:schemeClr val="dk1"/>
                              </a:solidFill>
                              <a:effectLst/>
                              <a:latin typeface="+mn-ea"/>
                              <a:ea typeface="+mn-ea"/>
                              <a:cs typeface="+mn-cs"/>
                            </a:rPr>
                            <a:t> </a:t>
                          </a:r>
                          <a:endParaRPr lang="zh-CN" altLang="en-US" sz="1100" kern="0" dirty="0">
                            <a:solidFill>
                              <a:schemeClr val="dk1"/>
                            </a:solidFill>
                            <a:effectLst/>
                            <a:latin typeface="+mn-ea"/>
                            <a:ea typeface="+mn-ea"/>
                            <a:cs typeface="+mn-cs"/>
                          </a:endParaRPr>
                        </a:p>
                      </a:txBody>
                      <a:tcPr marL="47625" marR="47625" marT="0" marB="0" anchor="ctr">
                        <a:noFill/>
                      </a:tcPr>
                    </a:tc>
                    <a:extLst>
                      <a:ext uri="{0D108BD9-81ED-4DB2-BD59-A6C34878D82A}">
                        <a16:rowId xmlns:a16="http://schemas.microsoft.com/office/drawing/2014/main" val="1794009828"/>
                      </a:ext>
                    </a:extLst>
                  </a:tr>
                  <a:tr h="395576">
                    <a:tc>
                      <a:txBody>
                        <a:bodyPr/>
                        <a:lstStyle/>
                        <a:p>
                          <a:endParaRPr lang="zh-CN"/>
                        </a:p>
                      </a:txBody>
                      <a:tcPr marL="23467" marR="23467" marT="0" marB="0" anchor="ctr">
                        <a:blipFill>
                          <a:blip r:embed="rId2"/>
                          <a:stretch>
                            <a:fillRect l="-610" t="-543077" r="-562805" b="-403077"/>
                          </a:stretch>
                        </a:blipFill>
                      </a:tcPr>
                    </a:tc>
                    <a:tc>
                      <a:txBody>
                        <a:bodyPr/>
                        <a:lstStyle/>
                        <a:p>
                          <a:pPr indent="127000" algn="ctr">
                            <a:buNone/>
                          </a:pPr>
                          <a:r>
                            <a:rPr lang="en-GB" sz="1100" kern="10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a:solidFill>
                                <a:schemeClr val="tx1"/>
                              </a:solidFill>
                              <a:effectLst/>
                              <a:latin typeface="+mn-ea"/>
                              <a:ea typeface="+mn-ea"/>
                            </a:rPr>
                            <a:t>Yes</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10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extLst>
                      <a:ext uri="{0D108BD9-81ED-4DB2-BD59-A6C34878D82A}">
                        <a16:rowId xmlns:a16="http://schemas.microsoft.com/office/drawing/2014/main" val="2587051138"/>
                      </a:ext>
                    </a:extLst>
                  </a:tr>
                  <a:tr h="395576">
                    <a:tc>
                      <a:txBody>
                        <a:bodyPr/>
                        <a:lstStyle/>
                        <a:p>
                          <a:endParaRPr lang="zh-CN"/>
                        </a:p>
                      </a:txBody>
                      <a:tcPr marL="23467" marR="23467" marT="0" marB="0" anchor="ctr">
                        <a:blipFill>
                          <a:blip r:embed="rId2"/>
                          <a:stretch>
                            <a:fillRect l="-610" t="-643077" r="-562805" b="-303077"/>
                          </a:stretch>
                        </a:blip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a:solidFill>
                                <a:schemeClr val="tx1"/>
                              </a:solidFill>
                              <a:effectLst/>
                              <a:latin typeface="+mn-ea"/>
                              <a:ea typeface="+mn-ea"/>
                            </a:rPr>
                            <a:t>Yes</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a:solidFill>
                                <a:schemeClr val="tx1"/>
                              </a:solidFill>
                              <a:effectLst/>
                              <a:latin typeface="+mn-ea"/>
                              <a:ea typeface="+mn-ea"/>
                            </a:rPr>
                            <a:t>Yes</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extLst>
                      <a:ext uri="{0D108BD9-81ED-4DB2-BD59-A6C34878D82A}">
                        <a16:rowId xmlns:a16="http://schemas.microsoft.com/office/drawing/2014/main" val="2595949022"/>
                      </a:ext>
                    </a:extLst>
                  </a:tr>
                  <a:tr h="395576">
                    <a:tc>
                      <a:txBody>
                        <a:bodyPr/>
                        <a:lstStyle/>
                        <a:p>
                          <a:endParaRPr lang="zh-CN"/>
                        </a:p>
                      </a:txBody>
                      <a:tcPr marL="23467" marR="23467" marT="0" marB="0" anchor="ctr">
                        <a:blipFill>
                          <a:blip r:embed="rId2"/>
                          <a:stretch>
                            <a:fillRect l="-610" t="-743077" r="-562805" b="-203077"/>
                          </a:stretch>
                        </a:blip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a:solidFill>
                                <a:schemeClr val="tx1"/>
                              </a:solidFill>
                              <a:effectLst/>
                              <a:latin typeface="+mn-ea"/>
                              <a:ea typeface="+mn-ea"/>
                            </a:rPr>
                            <a:t>Yes</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a:solidFill>
                                <a:schemeClr val="tx1"/>
                              </a:solidFill>
                              <a:effectLst/>
                              <a:latin typeface="+mn-ea"/>
                              <a:ea typeface="+mn-ea"/>
                            </a:rPr>
                            <a:t>Yes</a:t>
                          </a:r>
                          <a:endParaRPr lang="zh-CN" sz="1100" kern="10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tc>
                      <a:txBody>
                        <a:bodyPr/>
                        <a:lstStyle/>
                        <a:p>
                          <a:pPr indent="127000" algn="ctr">
                            <a:buNone/>
                          </a:pPr>
                          <a:r>
                            <a:rPr lang="en-GB" sz="1100" kern="0" dirty="0">
                              <a:solidFill>
                                <a:schemeClr val="tx1"/>
                              </a:solidFill>
                              <a:effectLst/>
                              <a:latin typeface="+mn-ea"/>
                              <a:ea typeface="+mn-ea"/>
                            </a:rPr>
                            <a:t>Yes</a:t>
                          </a:r>
                          <a:endParaRPr lang="zh-CN" sz="1100" kern="100" dirty="0">
                            <a:solidFill>
                              <a:schemeClr val="tx1"/>
                            </a:solidFill>
                            <a:effectLst/>
                            <a:latin typeface="+mn-ea"/>
                            <a:ea typeface="+mn-ea"/>
                          </a:endParaRPr>
                        </a:p>
                      </a:txBody>
                      <a:tcPr marL="23467" marR="23467" marT="0" marB="0" anchor="ctr">
                        <a:noFill/>
                      </a:tcPr>
                    </a:tc>
                    <a:extLst>
                      <a:ext uri="{0D108BD9-81ED-4DB2-BD59-A6C34878D82A}">
                        <a16:rowId xmlns:a16="http://schemas.microsoft.com/office/drawing/2014/main" val="2251911788"/>
                      </a:ext>
                    </a:extLst>
                  </a:tr>
                  <a:tr h="395576">
                    <a:tc>
                      <a:txBody>
                        <a:bodyPr/>
                        <a:lstStyle/>
                        <a:p>
                          <a:endParaRPr lang="zh-CN"/>
                        </a:p>
                      </a:txBody>
                      <a:tcPr marL="23467" marR="23467" marT="0" marB="0" anchor="ctr">
                        <a:lnB w="12700" cap="flat" cmpd="sng" algn="ctr">
                          <a:noFill/>
                          <a:prstDash val="solid"/>
                          <a:round/>
                          <a:headEnd type="none" w="med" len="med"/>
                          <a:tailEnd type="none" w="med" len="med"/>
                        </a:lnB>
                        <a:blipFill>
                          <a:blip r:embed="rId2"/>
                          <a:stretch>
                            <a:fillRect l="-610" t="-843077" r="-562805" b="-103077"/>
                          </a:stretch>
                        </a:blipFill>
                      </a:tcPr>
                    </a:tc>
                    <a:tc>
                      <a:txBody>
                        <a:bodyPr/>
                        <a:lstStyle/>
                        <a:p>
                          <a:pPr indent="127000" algn="ctr">
                            <a:buNone/>
                          </a:pPr>
                          <a:r>
                            <a:rPr lang="en-GB" altLang="zh-CN" sz="1100" kern="0" dirty="0">
                              <a:solidFill>
                                <a:schemeClr val="dk1"/>
                              </a:solidFill>
                              <a:effectLst/>
                              <a:latin typeface="+mn-ea"/>
                              <a:ea typeface="+mn-ea"/>
                              <a:cs typeface="+mn-cs"/>
                            </a:rPr>
                            <a:t>32,251</a:t>
                          </a:r>
                          <a:endParaRPr lang="zh-CN" altLang="en-US" sz="1100" kern="0" dirty="0">
                            <a:solidFill>
                              <a:schemeClr val="dk1"/>
                            </a:solidFill>
                            <a:effectLst/>
                            <a:latin typeface="+mn-ea"/>
                            <a:ea typeface="+mn-ea"/>
                            <a:cs typeface="+mn-cs"/>
                          </a:endParaRPr>
                        </a:p>
                      </a:txBody>
                      <a:tcPr marL="23467" marR="23467" marT="0" marB="0" anchor="ctr">
                        <a:lnB w="12700" cap="flat" cmpd="sng" algn="ctr">
                          <a:noFill/>
                          <a:prstDash val="solid"/>
                          <a:round/>
                          <a:headEnd type="none" w="med" len="med"/>
                          <a:tailEnd type="none" w="med" len="med"/>
                        </a:lnB>
                        <a:noFill/>
                      </a:tcPr>
                    </a:tc>
                    <a:tc>
                      <a:txBody>
                        <a:bodyPr/>
                        <a:lstStyle/>
                        <a:p>
                          <a:pPr indent="127000" algn="ctr">
                            <a:buNone/>
                          </a:pPr>
                          <a:r>
                            <a:rPr lang="en-GB" sz="1100" kern="0">
                              <a:solidFill>
                                <a:schemeClr val="dk1"/>
                              </a:solidFill>
                              <a:effectLst/>
                              <a:latin typeface="+mn-ea"/>
                              <a:ea typeface="+mn-ea"/>
                              <a:cs typeface="+mn-cs"/>
                            </a:rPr>
                            <a:t>32,251</a:t>
                          </a:r>
                          <a:endParaRPr lang="zh-CN" sz="1100" kern="100">
                            <a:solidFill>
                              <a:schemeClr val="tx1"/>
                            </a:solidFill>
                            <a:effectLst/>
                            <a:latin typeface="+mn-ea"/>
                            <a:ea typeface="+mn-ea"/>
                          </a:endParaRPr>
                        </a:p>
                      </a:txBody>
                      <a:tcPr marL="47625" marR="47625" marT="0" marB="0" anchor="ctr">
                        <a:lnB w="12700" cap="flat" cmpd="sng" algn="ctr">
                          <a:no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32,251</a:t>
                          </a:r>
                          <a:endParaRPr lang="zh-CN" altLang="en-US" sz="1100" kern="0" dirty="0">
                            <a:solidFill>
                              <a:schemeClr val="dk1"/>
                            </a:solidFill>
                            <a:effectLst/>
                            <a:latin typeface="+mn-ea"/>
                            <a:ea typeface="+mn-ea"/>
                            <a:cs typeface="+mn-cs"/>
                          </a:endParaRPr>
                        </a:p>
                      </a:txBody>
                      <a:tcPr marL="47625" marR="47625" marT="0" marB="0" anchor="ctr">
                        <a:lnB w="12700" cap="flat" cmpd="sng" algn="ctr">
                          <a:noFill/>
                          <a:prstDash val="solid"/>
                          <a:round/>
                          <a:headEnd type="none" w="med" len="med"/>
                          <a:tailEnd type="none" w="med" len="med"/>
                        </a:lnB>
                        <a:noFill/>
                      </a:tcPr>
                    </a:tc>
                    <a:tc>
                      <a:txBody>
                        <a:bodyPr/>
                        <a:lstStyle/>
                        <a:p>
                          <a:pPr indent="127000" algn="ctr">
                            <a:buNone/>
                          </a:pPr>
                          <a:r>
                            <a:rPr lang="en-GB" sz="1100" kern="0">
                              <a:solidFill>
                                <a:schemeClr val="dk1"/>
                              </a:solidFill>
                              <a:effectLst/>
                              <a:latin typeface="+mn-ea"/>
                              <a:ea typeface="+mn-ea"/>
                              <a:cs typeface="+mn-cs"/>
                            </a:rPr>
                            <a:t>11,421</a:t>
                          </a:r>
                          <a:endParaRPr lang="zh-CN" altLang="en-US" sz="1100" kern="0">
                            <a:solidFill>
                              <a:schemeClr val="dk1"/>
                            </a:solidFill>
                            <a:effectLst/>
                            <a:latin typeface="+mn-ea"/>
                            <a:ea typeface="+mn-ea"/>
                            <a:cs typeface="+mn-cs"/>
                          </a:endParaRPr>
                        </a:p>
                      </a:txBody>
                      <a:tcPr marL="47625" marR="47625" marT="0" marB="0" anchor="ctr">
                        <a:lnB w="12700" cap="flat" cmpd="sng" algn="ctr">
                          <a:no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36,536</a:t>
                          </a:r>
                          <a:endParaRPr lang="zh-CN" altLang="en-US" sz="1100" kern="0" dirty="0">
                            <a:solidFill>
                              <a:schemeClr val="dk1"/>
                            </a:solidFill>
                            <a:effectLst/>
                            <a:latin typeface="+mn-ea"/>
                            <a:ea typeface="+mn-ea"/>
                            <a:cs typeface="+mn-cs"/>
                          </a:endParaRPr>
                        </a:p>
                      </a:txBody>
                      <a:tcPr marL="47625" marR="47625" marT="0" marB="0" anchor="ctr">
                        <a:lnB w="12700" cap="flat" cmpd="sng" algn="ctr">
                          <a:no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36,468</a:t>
                          </a:r>
                          <a:endParaRPr lang="zh-CN" altLang="en-US" sz="1100" kern="0" dirty="0">
                            <a:solidFill>
                              <a:schemeClr val="dk1"/>
                            </a:solidFill>
                            <a:effectLst/>
                            <a:latin typeface="+mn-ea"/>
                            <a:ea typeface="+mn-ea"/>
                            <a:cs typeface="+mn-cs"/>
                          </a:endParaRPr>
                        </a:p>
                      </a:txBody>
                      <a:tcPr marL="47625" marR="47625" marT="0" marB="0" anchor="ctr">
                        <a:lnB w="12700" cap="flat" cmpd="sng" algn="ctr">
                          <a:noFill/>
                          <a:prstDash val="solid"/>
                          <a:round/>
                          <a:headEnd type="none" w="med" len="med"/>
                          <a:tailEnd type="none" w="med" len="med"/>
                        </a:lnB>
                        <a:noFill/>
                      </a:tcPr>
                    </a:tc>
                    <a:extLst>
                      <a:ext uri="{0D108BD9-81ED-4DB2-BD59-A6C34878D82A}">
                        <a16:rowId xmlns:a16="http://schemas.microsoft.com/office/drawing/2014/main" val="418536865"/>
                      </a:ext>
                    </a:extLst>
                  </a:tr>
                  <a:tr h="395576">
                    <a:tc>
                      <a:txBody>
                        <a:bodyPr/>
                        <a:lstStyle/>
                        <a:p>
                          <a:endParaRPr lang="zh-CN"/>
                        </a:p>
                      </a:txBody>
                      <a:tcPr marL="23467" marR="23467"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0" t="-943077" r="-562805" b="-3077"/>
                          </a:stretch>
                        </a:blipFill>
                      </a:tcPr>
                    </a:tc>
                    <a:tc>
                      <a:txBody>
                        <a:bodyPr/>
                        <a:lstStyle/>
                        <a:p>
                          <a:pPr indent="127000" algn="ctr">
                            <a:buNone/>
                          </a:pPr>
                          <a:r>
                            <a:rPr lang="en-GB" altLang="zh-CN" sz="1100" kern="0" dirty="0">
                              <a:solidFill>
                                <a:schemeClr val="dk1"/>
                              </a:solidFill>
                              <a:effectLst/>
                              <a:latin typeface="+mn-ea"/>
                              <a:ea typeface="+mn-ea"/>
                              <a:cs typeface="+mn-cs"/>
                            </a:rPr>
                            <a:t>0.3932</a:t>
                          </a:r>
                          <a:endParaRPr lang="zh-CN" altLang="en-US" sz="1100" kern="0" dirty="0">
                            <a:solidFill>
                              <a:schemeClr val="dk1"/>
                            </a:solidFill>
                            <a:effectLst/>
                            <a:latin typeface="+mn-ea"/>
                            <a:ea typeface="+mn-ea"/>
                            <a:cs typeface="+mn-cs"/>
                          </a:endParaRPr>
                        </a:p>
                      </a:txBody>
                      <a:tcPr marL="23467" marR="23467"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0.7288</a:t>
                          </a:r>
                          <a:endParaRPr lang="zh-CN" sz="1100" kern="100" dirty="0">
                            <a:solidFill>
                              <a:schemeClr val="tx1"/>
                            </a:solidFill>
                            <a:effectLst/>
                            <a:latin typeface="+mn-ea"/>
                            <a:ea typeface="+mn-ea"/>
                          </a:endParaRPr>
                        </a:p>
                      </a:txBody>
                      <a:tcPr marL="47625" marR="47625"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0.3383</a:t>
                          </a:r>
                          <a:endParaRPr lang="zh-CN" altLang="en-US" sz="1100" kern="0" dirty="0">
                            <a:solidFill>
                              <a:schemeClr val="dk1"/>
                            </a:solidFill>
                            <a:effectLst/>
                            <a:latin typeface="+mn-ea"/>
                            <a:ea typeface="+mn-ea"/>
                            <a:cs typeface="+mn-cs"/>
                          </a:endParaRPr>
                        </a:p>
                      </a:txBody>
                      <a:tcPr marL="47625" marR="47625"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0.1947</a:t>
                          </a:r>
                          <a:endParaRPr lang="zh-CN" altLang="en-US" sz="1100" kern="0" dirty="0">
                            <a:solidFill>
                              <a:schemeClr val="dk1"/>
                            </a:solidFill>
                            <a:effectLst/>
                            <a:latin typeface="+mn-ea"/>
                            <a:ea typeface="+mn-ea"/>
                            <a:cs typeface="+mn-cs"/>
                          </a:endParaRPr>
                        </a:p>
                      </a:txBody>
                      <a:tcPr marL="47625" marR="47625"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0.4198</a:t>
                          </a:r>
                          <a:endParaRPr lang="zh-CN" altLang="en-US" sz="1100" kern="0" dirty="0">
                            <a:solidFill>
                              <a:schemeClr val="dk1"/>
                            </a:solidFill>
                            <a:effectLst/>
                            <a:latin typeface="+mn-ea"/>
                            <a:ea typeface="+mn-ea"/>
                            <a:cs typeface="+mn-cs"/>
                          </a:endParaRPr>
                        </a:p>
                      </a:txBody>
                      <a:tcPr marL="47625" marR="47625"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buNone/>
                          </a:pPr>
                          <a:r>
                            <a:rPr lang="en-GB" sz="1100" kern="0" dirty="0">
                              <a:solidFill>
                                <a:schemeClr val="dk1"/>
                              </a:solidFill>
                              <a:effectLst/>
                              <a:latin typeface="+mn-ea"/>
                              <a:ea typeface="+mn-ea"/>
                              <a:cs typeface="+mn-cs"/>
                            </a:rPr>
                            <a:t>0.4188</a:t>
                          </a:r>
                          <a:endParaRPr lang="zh-CN" altLang="en-US" sz="1100" kern="0" dirty="0">
                            <a:solidFill>
                              <a:schemeClr val="dk1"/>
                            </a:solidFill>
                            <a:effectLst/>
                            <a:latin typeface="+mn-ea"/>
                            <a:ea typeface="+mn-ea"/>
                            <a:cs typeface="+mn-cs"/>
                          </a:endParaRPr>
                        </a:p>
                      </a:txBody>
                      <a:tcPr marL="47625" marR="47625" marT="0" marB="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4427803"/>
                      </a:ext>
                    </a:extLst>
                  </a:tr>
                </a:tbl>
              </a:graphicData>
            </a:graphic>
          </p:graphicFrame>
        </mc:Fallback>
      </mc:AlternateContent>
      <p:sp>
        <p:nvSpPr>
          <p:cNvPr id="6" name="文本框 5">
            <a:extLst>
              <a:ext uri="{FF2B5EF4-FFF2-40B4-BE49-F238E27FC236}">
                <a16:creationId xmlns:a16="http://schemas.microsoft.com/office/drawing/2014/main" id="{37ECBE50-5099-8EA8-C5F9-D5A9938CF10A}"/>
              </a:ext>
            </a:extLst>
          </p:cNvPr>
          <p:cNvSpPr txBox="1"/>
          <p:nvPr/>
        </p:nvSpPr>
        <p:spPr>
          <a:xfrm>
            <a:off x="8457681" y="1529772"/>
            <a:ext cx="1396536" cy="276999"/>
          </a:xfrm>
          <a:prstGeom prst="rect">
            <a:avLst/>
          </a:prstGeom>
          <a:noFill/>
        </p:spPr>
        <p:txBody>
          <a:bodyPr wrap="none" rtlCol="0">
            <a:spAutoFit/>
          </a:bodyPr>
          <a:lstStyle/>
          <a:p>
            <a:r>
              <a:rPr lang="zh-CN" altLang="en-US" sz="1200" b="1" dirty="0"/>
              <a:t>表</a:t>
            </a:r>
            <a:r>
              <a:rPr lang="en-US" altLang="zh-CN" sz="1200" b="1" dirty="0"/>
              <a:t>6 </a:t>
            </a:r>
            <a:r>
              <a:rPr lang="zh-CN" altLang="en-US" sz="1200" b="1" dirty="0"/>
              <a:t>作用机制检验</a:t>
            </a:r>
          </a:p>
        </p:txBody>
      </p:sp>
    </p:spTree>
    <p:extLst>
      <p:ext uri="{BB962C8B-B14F-4D97-AF65-F5344CB8AC3E}">
        <p14:creationId xmlns:p14="http://schemas.microsoft.com/office/powerpoint/2010/main" val="3335408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5ED92E-55BD-E704-77BE-023F38B28477}"/>
              </a:ext>
            </a:extLst>
          </p:cNvPr>
          <p:cNvSpPr>
            <a:spLocks noGrp="1"/>
          </p:cNvSpPr>
          <p:nvPr>
            <p:ph type="title"/>
          </p:nvPr>
        </p:nvSpPr>
        <p:spPr/>
        <p:txBody>
          <a:bodyPr vert="horz" lIns="91440" tIns="45720" rIns="91440" bIns="45720" rtlCol="0" anchor="ctr">
            <a:normAutofit/>
          </a:bodyPr>
          <a:lstStyle/>
          <a:p>
            <a:r>
              <a:rPr lang="zh-CN" altLang="en-US" sz="2800" dirty="0"/>
              <a:t>实证结果分析</a:t>
            </a:r>
          </a:p>
        </p:txBody>
      </p:sp>
      <p:sp>
        <p:nvSpPr>
          <p:cNvPr id="3" name="内容占位符 2">
            <a:extLst>
              <a:ext uri="{FF2B5EF4-FFF2-40B4-BE49-F238E27FC236}">
                <a16:creationId xmlns:a16="http://schemas.microsoft.com/office/drawing/2014/main" id="{2C9E432A-6683-3D22-354D-ED77B27F25CC}"/>
              </a:ext>
            </a:extLst>
          </p:cNvPr>
          <p:cNvSpPr>
            <a:spLocks noGrp="1"/>
          </p:cNvSpPr>
          <p:nvPr>
            <p:ph sz="half" idx="1"/>
          </p:nvPr>
        </p:nvSpPr>
        <p:spPr/>
        <p:txBody>
          <a:bodyPr>
            <a:normAutofit/>
          </a:bodyPr>
          <a:lstStyle/>
          <a:p>
            <a:pPr marL="0" indent="0">
              <a:lnSpc>
                <a:spcPct val="100000"/>
              </a:lnSpc>
              <a:buNone/>
            </a:pPr>
            <a:r>
              <a:rPr lang="zh-CN" altLang="en-US" sz="2400" dirty="0"/>
              <a:t>异质性分析</a:t>
            </a:r>
            <a:endParaRPr lang="en-US" altLang="zh-CN" sz="2400" dirty="0"/>
          </a:p>
          <a:p>
            <a:pPr lvl="1">
              <a:lnSpc>
                <a:spcPct val="100000"/>
              </a:lnSpc>
            </a:pPr>
            <a:r>
              <a:rPr lang="zh-CN" altLang="en-US" sz="2000" dirty="0"/>
              <a:t>企业层面</a:t>
            </a:r>
            <a:endParaRPr lang="en-US" altLang="zh-CN" sz="2000" dirty="0"/>
          </a:p>
          <a:p>
            <a:pPr lvl="2">
              <a:lnSpc>
                <a:spcPct val="100000"/>
              </a:lnSpc>
            </a:pPr>
            <a:r>
              <a:rPr lang="zh-CN" altLang="en-US" sz="1600" dirty="0"/>
              <a:t>成长速度更高的企业在追求投资效益最大化的情况下，投资策略会更加激进；管理层在扩张压力下易过度追求规模增长而忽视资本配置效率，盲目扩大产能或频繁进行并购，导致投资规模超出最优水平，引发过度投资问题。</a:t>
            </a:r>
          </a:p>
        </p:txBody>
      </p:sp>
      <mc:AlternateContent xmlns:mc="http://schemas.openxmlformats.org/markup-compatibility/2006" xmlns:a14="http://schemas.microsoft.com/office/drawing/2010/main">
        <mc:Choice Requires="a14">
          <p:graphicFrame>
            <p:nvGraphicFramePr>
              <p:cNvPr id="9" name="内容占位符 8">
                <a:extLst>
                  <a:ext uri="{FF2B5EF4-FFF2-40B4-BE49-F238E27FC236}">
                    <a16:creationId xmlns:a16="http://schemas.microsoft.com/office/drawing/2014/main" id="{65362B6A-B613-CDD2-1153-E8446979030A}"/>
                  </a:ext>
                </a:extLst>
              </p:cNvPr>
              <p:cNvGraphicFramePr>
                <a:graphicFrameLocks noGrp="1"/>
              </p:cNvGraphicFramePr>
              <p:nvPr>
                <p:ph sz="half" idx="2"/>
                <p:extLst>
                  <p:ext uri="{D42A27DB-BD31-4B8C-83A1-F6EECF244321}">
                    <p14:modId xmlns:p14="http://schemas.microsoft.com/office/powerpoint/2010/main" val="462958914"/>
                  </p:ext>
                </p:extLst>
              </p:nvPr>
            </p:nvGraphicFramePr>
            <p:xfrm>
              <a:off x="6172200" y="1825625"/>
              <a:ext cx="5181600" cy="3950024"/>
            </p:xfrm>
            <a:graphic>
              <a:graphicData uri="http://schemas.openxmlformats.org/drawingml/2006/table">
                <a:tbl>
                  <a:tblPr firstRow="1" firstCol="1" bandRow="1"/>
                  <a:tblGrid>
                    <a:gridCol w="1208314">
                      <a:extLst>
                        <a:ext uri="{9D8B030D-6E8A-4147-A177-3AD203B41FA5}">
                          <a16:colId xmlns:a16="http://schemas.microsoft.com/office/drawing/2014/main" val="729838723"/>
                        </a:ext>
                      </a:extLst>
                    </a:gridCol>
                    <a:gridCol w="1986643">
                      <a:extLst>
                        <a:ext uri="{9D8B030D-6E8A-4147-A177-3AD203B41FA5}">
                          <a16:colId xmlns:a16="http://schemas.microsoft.com/office/drawing/2014/main" val="3155651751"/>
                        </a:ext>
                      </a:extLst>
                    </a:gridCol>
                    <a:gridCol w="1986643">
                      <a:extLst>
                        <a:ext uri="{9D8B030D-6E8A-4147-A177-3AD203B41FA5}">
                          <a16:colId xmlns:a16="http://schemas.microsoft.com/office/drawing/2014/main" val="2829408746"/>
                        </a:ext>
                      </a:extLst>
                    </a:gridCol>
                  </a:tblGrid>
                  <a:tr h="303848">
                    <a:tc rowSpan="2">
                      <a:txBody>
                        <a:bodyPr/>
                        <a:lstStyle/>
                        <a:p>
                          <a:pPr indent="127000" algn="ctr">
                            <a:buNone/>
                          </a:pPr>
                          <a:r>
                            <a:rPr lang="zh-CN" sz="1400" b="1" kern="100" dirty="0">
                              <a:effectLst/>
                              <a:latin typeface="+mn-ea"/>
                              <a:ea typeface="+mn-ea"/>
                            </a:rPr>
                            <a:t>变量</a:t>
                          </a:r>
                        </a:p>
                      </a:txBody>
                      <a:tcPr marL="23467" marR="23467"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100" dirty="0">
                              <a:effectLst/>
                              <a:latin typeface="+mn-ea"/>
                              <a:ea typeface="+mn-ea"/>
                            </a:rPr>
                            <a:t>(1)</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(2)</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514935838"/>
                      </a:ext>
                    </a:extLst>
                  </a:tr>
                  <a:tr h="303848">
                    <a:tc vMerge="1">
                      <a:txBody>
                        <a:bodyPr/>
                        <a:lstStyle/>
                        <a:p>
                          <a:endParaRPr lang="zh-CN" altLang="en-US"/>
                        </a:p>
                      </a:txBody>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400" i="1" kern="0">
                                    <a:effectLst/>
                                    <a:latin typeface="Cambria Math" panose="02040503050406030204" pitchFamily="18" charset="0"/>
                                    <a:ea typeface="+mn-ea"/>
                                  </a:rPr>
                                  <m:t>𝑂𝑣𝑒𝑟𝐼𝑛𝑣</m:t>
                                </m:r>
                                <m:r>
                                  <a:rPr lang="en-GB" sz="1400" i="1" kern="0">
                                    <a:effectLst/>
                                    <a:latin typeface="Cambria Math" panose="02040503050406030204" pitchFamily="18" charset="0"/>
                                    <a:ea typeface="+mn-ea"/>
                                  </a:rPr>
                                  <m:t>_</m:t>
                                </m:r>
                                <m:r>
                                  <a:rPr lang="en-GB" sz="1400" i="1" kern="0">
                                    <a:effectLst/>
                                    <a:latin typeface="Cambria Math" panose="02040503050406030204" pitchFamily="18" charset="0"/>
                                    <a:ea typeface="+mn-ea"/>
                                  </a:rPr>
                                  <m:t>𝑒</m:t>
                                </m:r>
                              </m:oMath>
                            </m:oMathPara>
                          </a14:m>
                          <a:endParaRPr lang="zh-CN" sz="1400" kern="100" dirty="0">
                            <a:effectLst/>
                            <a:latin typeface="+mn-ea"/>
                            <a:ea typeface="+mn-ea"/>
                          </a:endParaRPr>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14:m>
                            <m:oMathPara xmlns:m="http://schemas.openxmlformats.org/officeDocument/2006/math">
                              <m:oMathParaPr>
                                <m:jc m:val="centerGroup"/>
                              </m:oMathParaPr>
                              <m:oMath xmlns:m="http://schemas.openxmlformats.org/officeDocument/2006/math">
                                <m:r>
                                  <a:rPr lang="en-GB" sz="1400" i="1" kern="0">
                                    <a:effectLst/>
                                    <a:latin typeface="Cambria Math" panose="02040503050406030204" pitchFamily="18" charset="0"/>
                                    <a:ea typeface="+mn-ea"/>
                                  </a:rPr>
                                  <m:t>𝐼𝑛𝑣</m:t>
                                </m:r>
                                <m:r>
                                  <a:rPr lang="en-GB" sz="1400" i="1" kern="0">
                                    <a:effectLst/>
                                    <a:latin typeface="Cambria Math" panose="02040503050406030204" pitchFamily="18" charset="0"/>
                                    <a:ea typeface="+mn-ea"/>
                                  </a:rPr>
                                  <m:t>_</m:t>
                                </m:r>
                                <m:r>
                                  <a:rPr lang="en-GB" sz="1400" i="1" kern="0">
                                    <a:effectLst/>
                                    <a:latin typeface="Cambria Math" panose="02040503050406030204" pitchFamily="18" charset="0"/>
                                    <a:ea typeface="+mn-ea"/>
                                  </a:rPr>
                                  <m:t>𝑒</m:t>
                                </m:r>
                              </m:oMath>
                            </m:oMathPara>
                          </a14:m>
                          <a:endParaRPr lang="zh-CN" sz="1400" kern="100" dirty="0">
                            <a:effectLst/>
                            <a:latin typeface="+mn-ea"/>
                            <a:ea typeface="+mn-ea"/>
                          </a:endParaRPr>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7419288"/>
                      </a:ext>
                    </a:extLst>
                  </a:tr>
                  <a:tr h="303848">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100">
                                    <a:effectLst/>
                                    <a:latin typeface="Cambria Math" panose="02040503050406030204" pitchFamily="18" charset="0"/>
                                    <a:ea typeface="+mn-ea"/>
                                  </a:rPr>
                                  <m:t>𝐴</m:t>
                                </m:r>
                                <m:sSub>
                                  <m:sSubPr>
                                    <m:ctrlPr>
                                      <a:rPr lang="zh-CN" sz="1200" i="1" kern="100">
                                        <a:effectLst/>
                                        <a:latin typeface="Cambria Math" panose="02040503050406030204" pitchFamily="18" charset="0"/>
                                        <a:ea typeface="+mn-ea"/>
                                      </a:rPr>
                                    </m:ctrlPr>
                                  </m:sSubPr>
                                  <m:e>
                                    <m:r>
                                      <a:rPr lang="en-GB" sz="1200" i="1" kern="100">
                                        <a:effectLst/>
                                        <a:latin typeface="Cambria Math" panose="02040503050406030204" pitchFamily="18" charset="0"/>
                                        <a:ea typeface="+mn-ea"/>
                                      </a:rPr>
                                      <m:t>𝐼</m:t>
                                    </m:r>
                                  </m:e>
                                  <m:sub>
                                    <m:r>
                                      <a:rPr lang="en-GB" sz="1200" i="1" kern="100">
                                        <a:effectLst/>
                                        <a:latin typeface="Cambria Math" panose="02040503050406030204" pitchFamily="18" charset="0"/>
                                        <a:ea typeface="+mn-ea"/>
                                      </a:rPr>
                                      <m:t>𝑢𝑡𝑖𝑙𝑖𝑧𝑒</m:t>
                                    </m:r>
                                  </m:sub>
                                </m:sSub>
                              </m:oMath>
                            </m:oMathPara>
                          </a14:m>
                          <a:endParaRPr lang="zh-CN" sz="12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-0.0030*</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-0.0021***</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41328901"/>
                      </a:ext>
                    </a:extLst>
                  </a:tr>
                  <a:tr h="303848">
                    <a:tc>
                      <a:txBody>
                        <a:bodyPr/>
                        <a:lstStyle/>
                        <a:p>
                          <a:pPr indent="127000" algn="ctr">
                            <a:buNone/>
                          </a:pPr>
                          <a:r>
                            <a:rPr lang="en-GB" sz="1200" kern="100" dirty="0">
                              <a:effectLst/>
                              <a:latin typeface="+mn-ea"/>
                              <a:ea typeface="+mn-ea"/>
                            </a:rPr>
                            <a:t> </a:t>
                          </a:r>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(0.0016)</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(0.0007)</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945627388"/>
                      </a:ext>
                    </a:extLst>
                  </a:tr>
                  <a:tr h="303848">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100">
                                    <a:effectLst/>
                                    <a:latin typeface="Cambria Math" panose="02040503050406030204" pitchFamily="18" charset="0"/>
                                    <a:ea typeface="+mn-ea"/>
                                  </a:rPr>
                                  <m:t>𝐺</m:t>
                                </m:r>
                                <m:sSub>
                                  <m:sSubPr>
                                    <m:ctrlPr>
                                      <a:rPr lang="zh-CN" sz="1200" i="1" kern="100">
                                        <a:effectLst/>
                                        <a:latin typeface="Cambria Math" panose="02040503050406030204" pitchFamily="18" charset="0"/>
                                        <a:ea typeface="+mn-ea"/>
                                      </a:rPr>
                                    </m:ctrlPr>
                                  </m:sSubPr>
                                  <m:e>
                                    <m:r>
                                      <a:rPr lang="en-GB" sz="1200" i="1" kern="100">
                                        <a:effectLst/>
                                        <a:latin typeface="Cambria Math" panose="02040503050406030204" pitchFamily="18" charset="0"/>
                                        <a:ea typeface="+mn-ea"/>
                                      </a:rPr>
                                      <m:t>𝑟</m:t>
                                    </m:r>
                                  </m:e>
                                  <m:sub>
                                    <m:r>
                                      <a:rPr lang="en-GB" sz="1200" i="1" kern="100">
                                        <a:effectLst/>
                                        <a:latin typeface="Cambria Math" panose="02040503050406030204" pitchFamily="18" charset="0"/>
                                        <a:ea typeface="+mn-ea"/>
                                      </a:rPr>
                                      <m:t>𝐻</m:t>
                                    </m:r>
                                  </m:sub>
                                </m:sSub>
                              </m:oMath>
                            </m:oMathPara>
                          </a14:m>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0.0179***</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0.0082***</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3941700080"/>
                      </a:ext>
                    </a:extLst>
                  </a:tr>
                  <a:tr h="303848">
                    <a:tc>
                      <a:txBody>
                        <a:bodyPr/>
                        <a:lstStyle/>
                        <a:p>
                          <a:pPr indent="127000" algn="ctr">
                            <a:buNone/>
                          </a:pPr>
                          <a:r>
                            <a:rPr lang="en-GB" sz="1200" kern="100" dirty="0">
                              <a:effectLst/>
                              <a:latin typeface="+mn-ea"/>
                              <a:ea typeface="+mn-ea"/>
                            </a:rPr>
                            <a:t> </a:t>
                          </a:r>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(0.0014)</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(0.0006)</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2785541480"/>
                      </a:ext>
                    </a:extLst>
                  </a:tr>
                  <a:tr h="303848">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100">
                                    <a:effectLst/>
                                    <a:latin typeface="Cambria Math" panose="02040503050406030204" pitchFamily="18" charset="0"/>
                                    <a:ea typeface="+mn-ea"/>
                                  </a:rPr>
                                  <m:t>𝐺</m:t>
                                </m:r>
                                <m:sSub>
                                  <m:sSubPr>
                                    <m:ctrlPr>
                                      <a:rPr lang="zh-CN" sz="1200" i="1" kern="100">
                                        <a:effectLst/>
                                        <a:latin typeface="Cambria Math" panose="02040503050406030204" pitchFamily="18" charset="0"/>
                                        <a:ea typeface="+mn-ea"/>
                                      </a:rPr>
                                    </m:ctrlPr>
                                  </m:sSubPr>
                                  <m:e>
                                    <m:r>
                                      <a:rPr lang="en-GB" sz="1200" i="1" kern="100">
                                        <a:effectLst/>
                                        <a:latin typeface="Cambria Math" panose="02040503050406030204" pitchFamily="18" charset="0"/>
                                        <a:ea typeface="+mn-ea"/>
                                      </a:rPr>
                                      <m:t>𝑟</m:t>
                                    </m:r>
                                  </m:e>
                                  <m:sub>
                                    <m:r>
                                      <a:rPr lang="en-GB" sz="1200" i="1" kern="100">
                                        <a:effectLst/>
                                        <a:latin typeface="Cambria Math" panose="02040503050406030204" pitchFamily="18" charset="0"/>
                                        <a:ea typeface="+mn-ea"/>
                                      </a:rPr>
                                      <m:t>𝐻</m:t>
                                    </m:r>
                                  </m:sub>
                                </m:sSub>
                                <m:r>
                                  <a:rPr lang="en-GB" sz="1200" i="1" kern="100">
                                    <a:effectLst/>
                                    <a:latin typeface="Cambria Math" panose="02040503050406030204" pitchFamily="18" charset="0"/>
                                    <a:ea typeface="+mn-ea"/>
                                  </a:rPr>
                                  <m:t>×</m:t>
                                </m:r>
                                <m:r>
                                  <a:rPr lang="en-GB" sz="1200" i="1" kern="100">
                                    <a:effectLst/>
                                    <a:latin typeface="Cambria Math" panose="02040503050406030204" pitchFamily="18" charset="0"/>
                                    <a:ea typeface="+mn-ea"/>
                                  </a:rPr>
                                  <m:t>𝐴</m:t>
                                </m:r>
                                <m:sSub>
                                  <m:sSubPr>
                                    <m:ctrlPr>
                                      <a:rPr lang="zh-CN" sz="1200" i="1" kern="100">
                                        <a:effectLst/>
                                        <a:latin typeface="Cambria Math" panose="02040503050406030204" pitchFamily="18" charset="0"/>
                                        <a:ea typeface="+mn-ea"/>
                                      </a:rPr>
                                    </m:ctrlPr>
                                  </m:sSubPr>
                                  <m:e>
                                    <m:r>
                                      <a:rPr lang="en-GB" sz="1200" i="1" kern="100">
                                        <a:effectLst/>
                                        <a:latin typeface="Cambria Math" panose="02040503050406030204" pitchFamily="18" charset="0"/>
                                        <a:ea typeface="+mn-ea"/>
                                      </a:rPr>
                                      <m:t>𝐼</m:t>
                                    </m:r>
                                  </m:e>
                                  <m:sub>
                                    <m:r>
                                      <a:rPr lang="en-GB" sz="1200" i="1" kern="100">
                                        <a:effectLst/>
                                        <a:latin typeface="Cambria Math" panose="02040503050406030204" pitchFamily="18" charset="0"/>
                                        <a:ea typeface="+mn-ea"/>
                                      </a:rPr>
                                      <m:t>𝑢𝑡𝑖𝑙𝑖𝑧𝑒</m:t>
                                    </m:r>
                                  </m:sub>
                                </m:sSub>
                              </m:oMath>
                            </m:oMathPara>
                          </a14:m>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-0.0073***</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-0.0022***</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2614328692"/>
                      </a:ext>
                    </a:extLst>
                  </a:tr>
                  <a:tr h="303848">
                    <a:tc>
                      <a:txBody>
                        <a:bodyPr/>
                        <a:lstStyle/>
                        <a:p>
                          <a:pPr indent="127000" algn="ctr">
                            <a:buNone/>
                          </a:pPr>
                          <a:r>
                            <a:rPr lang="en-GB" sz="1200" kern="100" dirty="0">
                              <a:effectLst/>
                              <a:latin typeface="+mn-ea"/>
                              <a:ea typeface="+mn-ea"/>
                            </a:rPr>
                            <a:t> </a:t>
                          </a:r>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(0.0018)</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(0.0007)</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143552382"/>
                      </a:ext>
                    </a:extLst>
                  </a:tr>
                  <a:tr h="303848">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100">
                                    <a:effectLst/>
                                    <a:latin typeface="Cambria Math" panose="02040503050406030204" pitchFamily="18" charset="0"/>
                                    <a:ea typeface="+mn-ea"/>
                                  </a:rPr>
                                  <m:t>𝐶𝑜𝑛𝑡𝑟𝑜𝑙</m:t>
                                </m:r>
                              </m:oMath>
                            </m:oMathPara>
                          </a14:m>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100" dirty="0">
                              <a:effectLst/>
                              <a:latin typeface="Times New Roman" panose="02020603050405020304" pitchFamily="18" charset="0"/>
                              <a:ea typeface="宋体" panose="02010600030101010101" pitchFamily="2" charset="-122"/>
                            </a:rPr>
                            <a:t>Yes</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3660917090"/>
                      </a:ext>
                    </a:extLst>
                  </a:tr>
                  <a:tr h="303848">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100">
                                    <a:effectLst/>
                                    <a:latin typeface="Cambria Math" panose="02040503050406030204" pitchFamily="18" charset="0"/>
                                    <a:ea typeface="+mn-ea"/>
                                  </a:rPr>
                                  <m:t>𝑌𝑒𝑎𝑟</m:t>
                                </m:r>
                                <m:r>
                                  <a:rPr lang="en-GB" sz="1200" i="1" kern="100">
                                    <a:effectLst/>
                                    <a:latin typeface="Cambria Math" panose="02040503050406030204" pitchFamily="18" charset="0"/>
                                    <a:ea typeface="+mn-ea"/>
                                  </a:rPr>
                                  <m:t> </m:t>
                                </m:r>
                                <m:r>
                                  <a:rPr lang="en-GB" sz="1200" i="1" kern="100">
                                    <a:effectLst/>
                                    <a:latin typeface="Cambria Math" panose="02040503050406030204" pitchFamily="18" charset="0"/>
                                    <a:ea typeface="+mn-ea"/>
                                  </a:rPr>
                                  <m:t>𝐹𝐸</m:t>
                                </m:r>
                              </m:oMath>
                            </m:oMathPara>
                          </a14:m>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100" dirty="0">
                              <a:effectLst/>
                              <a:latin typeface="Times New Roman" panose="02020603050405020304" pitchFamily="18" charset="0"/>
                              <a:ea typeface="宋体" panose="02010600030101010101" pitchFamily="2" charset="-122"/>
                            </a:rPr>
                            <a:t>Yes</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32794926"/>
                      </a:ext>
                    </a:extLst>
                  </a:tr>
                  <a:tr h="303848">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100">
                                    <a:effectLst/>
                                    <a:latin typeface="Cambria Math" panose="02040503050406030204" pitchFamily="18" charset="0"/>
                                    <a:ea typeface="+mn-ea"/>
                                  </a:rPr>
                                  <m:t>𝐹𝑖𝑟𝑚</m:t>
                                </m:r>
                                <m:r>
                                  <a:rPr lang="en-GB" sz="1200" i="1" kern="100">
                                    <a:effectLst/>
                                    <a:latin typeface="Cambria Math" panose="02040503050406030204" pitchFamily="18" charset="0"/>
                                    <a:ea typeface="+mn-ea"/>
                                  </a:rPr>
                                  <m:t> </m:t>
                                </m:r>
                                <m:r>
                                  <a:rPr lang="en-GB" sz="1200" i="1" kern="100">
                                    <a:effectLst/>
                                    <a:latin typeface="Cambria Math" panose="02040503050406030204" pitchFamily="18" charset="0"/>
                                    <a:ea typeface="+mn-ea"/>
                                  </a:rPr>
                                  <m:t>𝐹𝐸</m:t>
                                </m:r>
                              </m:oMath>
                            </m:oMathPara>
                          </a14:m>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100" dirty="0">
                              <a:effectLst/>
                              <a:latin typeface="Times New Roman" panose="02020603050405020304" pitchFamily="18" charset="0"/>
                              <a:ea typeface="宋体" panose="02010600030101010101" pitchFamily="2" charset="-122"/>
                            </a:rPr>
                            <a:t>Yes</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3028583548"/>
                      </a:ext>
                    </a:extLst>
                  </a:tr>
                  <a:tr h="303848">
                    <a:tc>
                      <a:txBody>
                        <a:bodyPr/>
                        <a:lstStyle/>
                        <a:p>
                          <a:pPr indent="127000" algn="ctr">
                            <a:buNone/>
                          </a:pPr>
                          <a14:m>
                            <m:oMathPara xmlns:m="http://schemas.openxmlformats.org/officeDocument/2006/math">
                              <m:oMathParaPr>
                                <m:jc m:val="centerGroup"/>
                              </m:oMathParaPr>
                              <m:oMath xmlns:m="http://schemas.openxmlformats.org/officeDocument/2006/math">
                                <m:r>
                                  <a:rPr lang="en-GB" sz="1200" i="1" kern="100">
                                    <a:effectLst/>
                                    <a:latin typeface="Cambria Math" panose="02040503050406030204" pitchFamily="18" charset="0"/>
                                    <a:ea typeface="+mn-ea"/>
                                  </a:rPr>
                                  <m:t>𝑂𝑏𝑠𝑒𝑟𝑣𝑎𝑡𝑖𝑜𝑛𝑠</m:t>
                                </m:r>
                              </m:oMath>
                            </m:oMathPara>
                          </a14:m>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14,144</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100" dirty="0">
                              <a:effectLst/>
                              <a:latin typeface="Times New Roman" panose="02020603050405020304" pitchFamily="18" charset="0"/>
                              <a:ea typeface="宋体" panose="02010600030101010101" pitchFamily="2" charset="-122"/>
                            </a:rPr>
                            <a:t>40,107</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3450727058"/>
                      </a:ext>
                    </a:extLst>
                  </a:tr>
                  <a:tr h="303848">
                    <a:tc>
                      <a:txBody>
                        <a:bodyPr/>
                        <a:lstStyle/>
                        <a:p>
                          <a:pPr indent="127000" algn="ctr">
                            <a:buNone/>
                          </a:pPr>
                          <a14:m>
                            <m:oMathPara xmlns:m="http://schemas.openxmlformats.org/officeDocument/2006/math">
                              <m:oMathParaPr>
                                <m:jc m:val="centerGroup"/>
                              </m:oMathParaPr>
                              <m:oMath xmlns:m="http://schemas.openxmlformats.org/officeDocument/2006/math">
                                <m:sSup>
                                  <m:sSupPr>
                                    <m:ctrlPr>
                                      <a:rPr lang="zh-CN" sz="1200" i="1" kern="0">
                                        <a:effectLst/>
                                        <a:latin typeface="Cambria Math" panose="02040503050406030204" pitchFamily="18" charset="0"/>
                                        <a:ea typeface="+mn-ea"/>
                                      </a:rPr>
                                    </m:ctrlPr>
                                  </m:sSupPr>
                                  <m:e>
                                    <m:r>
                                      <a:rPr lang="en-GB" sz="1200" i="1" kern="0">
                                        <a:effectLst/>
                                        <a:latin typeface="Cambria Math" panose="02040503050406030204" pitchFamily="18" charset="0"/>
                                        <a:ea typeface="+mn-ea"/>
                                      </a:rPr>
                                      <m:t>𝑅</m:t>
                                    </m:r>
                                  </m:e>
                                  <m:sup>
                                    <m:r>
                                      <a:rPr lang="en-GB" sz="1200" i="1" kern="0">
                                        <a:effectLst/>
                                        <a:latin typeface="Cambria Math" panose="02040503050406030204" pitchFamily="18" charset="0"/>
                                        <a:ea typeface="+mn-ea"/>
                                      </a:rPr>
                                      <m:t>2</m:t>
                                    </m:r>
                                  </m:sup>
                                </m:sSup>
                                <m:r>
                                  <a:rPr lang="en-GB" sz="1200" i="1" kern="0">
                                    <a:effectLst/>
                                    <a:latin typeface="Cambria Math" panose="02040503050406030204" pitchFamily="18" charset="0"/>
                                    <a:ea typeface="+mn-ea"/>
                                    <a:cs typeface="Cambria Math" panose="02040503050406030204" pitchFamily="18" charset="0"/>
                                  </a:rPr>
                                  <m:t>_</m:t>
                                </m:r>
                                <m:r>
                                  <a:rPr lang="en-GB" sz="1200" i="1" kern="0">
                                    <a:effectLst/>
                                    <a:latin typeface="Cambria Math" panose="02040503050406030204" pitchFamily="18" charset="0"/>
                                    <a:ea typeface="+mn-ea"/>
                                    <a:cs typeface="Cambria Math" panose="02040503050406030204" pitchFamily="18" charset="0"/>
                                  </a:rPr>
                                  <m:t>𝑎𝑑𝑗𝑢𝑠𝑡𝑒𝑑</m:t>
                                </m:r>
                              </m:oMath>
                            </m:oMathPara>
                          </a14:m>
                          <a:endParaRPr lang="zh-CN" sz="1200" kern="100" dirty="0">
                            <a:effectLst/>
                            <a:latin typeface="+mn-ea"/>
                            <a:ea typeface="+mn-ea"/>
                          </a:endParaRPr>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0.2517</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0.2007</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9900201"/>
                      </a:ext>
                    </a:extLst>
                  </a:tr>
                </a:tbl>
              </a:graphicData>
            </a:graphic>
          </p:graphicFrame>
        </mc:Choice>
        <mc:Fallback xmlns="">
          <p:graphicFrame>
            <p:nvGraphicFramePr>
              <p:cNvPr id="9" name="内容占位符 8">
                <a:extLst>
                  <a:ext uri="{FF2B5EF4-FFF2-40B4-BE49-F238E27FC236}">
                    <a16:creationId xmlns:a16="http://schemas.microsoft.com/office/drawing/2014/main" id="{65362B6A-B613-CDD2-1153-E8446979030A}"/>
                  </a:ext>
                </a:extLst>
              </p:cNvPr>
              <p:cNvGraphicFramePr>
                <a:graphicFrameLocks noGrp="1"/>
              </p:cNvGraphicFramePr>
              <p:nvPr>
                <p:ph sz="half" idx="2"/>
                <p:extLst>
                  <p:ext uri="{D42A27DB-BD31-4B8C-83A1-F6EECF244321}">
                    <p14:modId xmlns:p14="http://schemas.microsoft.com/office/powerpoint/2010/main" val="462958914"/>
                  </p:ext>
                </p:extLst>
              </p:nvPr>
            </p:nvGraphicFramePr>
            <p:xfrm>
              <a:off x="6172200" y="1825625"/>
              <a:ext cx="5181600" cy="3950024"/>
            </p:xfrm>
            <a:graphic>
              <a:graphicData uri="http://schemas.openxmlformats.org/drawingml/2006/table">
                <a:tbl>
                  <a:tblPr firstRow="1" firstCol="1" bandRow="1"/>
                  <a:tblGrid>
                    <a:gridCol w="1208314">
                      <a:extLst>
                        <a:ext uri="{9D8B030D-6E8A-4147-A177-3AD203B41FA5}">
                          <a16:colId xmlns:a16="http://schemas.microsoft.com/office/drawing/2014/main" val="729838723"/>
                        </a:ext>
                      </a:extLst>
                    </a:gridCol>
                    <a:gridCol w="1986643">
                      <a:extLst>
                        <a:ext uri="{9D8B030D-6E8A-4147-A177-3AD203B41FA5}">
                          <a16:colId xmlns:a16="http://schemas.microsoft.com/office/drawing/2014/main" val="3155651751"/>
                        </a:ext>
                      </a:extLst>
                    </a:gridCol>
                    <a:gridCol w="1986643">
                      <a:extLst>
                        <a:ext uri="{9D8B030D-6E8A-4147-A177-3AD203B41FA5}">
                          <a16:colId xmlns:a16="http://schemas.microsoft.com/office/drawing/2014/main" val="2829408746"/>
                        </a:ext>
                      </a:extLst>
                    </a:gridCol>
                  </a:tblGrid>
                  <a:tr h="303848">
                    <a:tc rowSpan="2">
                      <a:txBody>
                        <a:bodyPr/>
                        <a:lstStyle/>
                        <a:p>
                          <a:pPr indent="127000" algn="ctr">
                            <a:buNone/>
                          </a:pPr>
                          <a:r>
                            <a:rPr lang="zh-CN" sz="1400" b="1" kern="100" dirty="0">
                              <a:effectLst/>
                              <a:latin typeface="+mn-ea"/>
                              <a:ea typeface="+mn-ea"/>
                            </a:rPr>
                            <a:t>变量</a:t>
                          </a:r>
                        </a:p>
                      </a:txBody>
                      <a:tcPr marL="23467" marR="23467"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100" dirty="0">
                              <a:effectLst/>
                              <a:latin typeface="+mn-ea"/>
                              <a:ea typeface="+mn-ea"/>
                            </a:rPr>
                            <a:t>(1)</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(2)</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514935838"/>
                      </a:ext>
                    </a:extLst>
                  </a:tr>
                  <a:tr h="303848">
                    <a:tc vMerge="1">
                      <a:txBody>
                        <a:bodyPr/>
                        <a:lstStyle/>
                        <a:p>
                          <a:endParaRPr lang="zh-CN" altLang="en-US"/>
                        </a:p>
                      </a:txBody>
                      <a:tcPr/>
                    </a:tc>
                    <a:tc>
                      <a:txBody>
                        <a:bodyPr/>
                        <a:lstStyle/>
                        <a:p>
                          <a:endParaRPr lang="zh-CN"/>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blipFill>
                          <a:blip r:embed="rId2"/>
                          <a:stretch>
                            <a:fillRect l="-60550" t="-102000" r="-100000" b="-1118000"/>
                          </a:stretch>
                        </a:blipFill>
                      </a:tcPr>
                    </a:tc>
                    <a:tc>
                      <a:txBody>
                        <a:bodyPr/>
                        <a:lstStyle/>
                        <a:p>
                          <a:endParaRPr lang="zh-CN"/>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blipFill>
                          <a:blip r:embed="rId2"/>
                          <a:stretch>
                            <a:fillRect l="-161043" t="-102000" r="-307" b="-1118000"/>
                          </a:stretch>
                        </a:blipFill>
                      </a:tcPr>
                    </a:tc>
                    <a:extLst>
                      <a:ext uri="{0D108BD9-81ED-4DB2-BD59-A6C34878D82A}">
                        <a16:rowId xmlns:a16="http://schemas.microsoft.com/office/drawing/2014/main" val="3687419288"/>
                      </a:ext>
                    </a:extLst>
                  </a:tr>
                  <a:tr h="303848">
                    <a:tc>
                      <a:txBody>
                        <a:bodyPr/>
                        <a:lstStyle/>
                        <a:p>
                          <a:endParaRPr lang="zh-CN"/>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blipFill>
                          <a:blip r:embed="rId2"/>
                          <a:stretch>
                            <a:fillRect t="-202000" r="-330303" b="-1018000"/>
                          </a:stretch>
                        </a:blip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-0.0030*</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-0.0021***</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41328901"/>
                      </a:ext>
                    </a:extLst>
                  </a:tr>
                  <a:tr h="303848">
                    <a:tc>
                      <a:txBody>
                        <a:bodyPr/>
                        <a:lstStyle/>
                        <a:p>
                          <a:pPr indent="127000" algn="ctr">
                            <a:buNone/>
                          </a:pPr>
                          <a:r>
                            <a:rPr lang="en-GB" sz="1200" kern="100" dirty="0">
                              <a:effectLst/>
                              <a:latin typeface="+mn-ea"/>
                              <a:ea typeface="+mn-ea"/>
                            </a:rPr>
                            <a:t> </a:t>
                          </a:r>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(0.0016)</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(0.0007)</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945627388"/>
                      </a:ext>
                    </a:extLst>
                  </a:tr>
                  <a:tr h="303848">
                    <a:tc>
                      <a:txBody>
                        <a:bodyPr/>
                        <a:lstStyle/>
                        <a:p>
                          <a:endParaRPr lang="zh-CN"/>
                        </a:p>
                      </a:txBody>
                      <a:tcPr marL="23467" marR="23467" marT="0" marB="0" anchor="ctr">
                        <a:lnL>
                          <a:noFill/>
                        </a:lnL>
                        <a:lnR>
                          <a:noFill/>
                        </a:lnR>
                        <a:lnT>
                          <a:noFill/>
                        </a:lnT>
                        <a:lnB>
                          <a:noFill/>
                        </a:lnB>
                        <a:blipFill>
                          <a:blip r:embed="rId2"/>
                          <a:stretch>
                            <a:fillRect t="-402000" r="-330303" b="-818000"/>
                          </a:stretch>
                        </a:blip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0.0179***</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0.0082***</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3941700080"/>
                      </a:ext>
                    </a:extLst>
                  </a:tr>
                  <a:tr h="303848">
                    <a:tc>
                      <a:txBody>
                        <a:bodyPr/>
                        <a:lstStyle/>
                        <a:p>
                          <a:pPr indent="127000" algn="ctr">
                            <a:buNone/>
                          </a:pPr>
                          <a:r>
                            <a:rPr lang="en-GB" sz="1200" kern="100" dirty="0">
                              <a:effectLst/>
                              <a:latin typeface="+mn-ea"/>
                              <a:ea typeface="+mn-ea"/>
                            </a:rPr>
                            <a:t> </a:t>
                          </a:r>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(0.0014)</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(0.0006)</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2785541480"/>
                      </a:ext>
                    </a:extLst>
                  </a:tr>
                  <a:tr h="303848">
                    <a:tc>
                      <a:txBody>
                        <a:bodyPr/>
                        <a:lstStyle/>
                        <a:p>
                          <a:endParaRPr lang="zh-CN"/>
                        </a:p>
                      </a:txBody>
                      <a:tcPr marL="23467" marR="23467" marT="0" marB="0" anchor="ctr">
                        <a:lnL>
                          <a:noFill/>
                        </a:lnL>
                        <a:lnR>
                          <a:noFill/>
                        </a:lnR>
                        <a:lnT>
                          <a:noFill/>
                        </a:lnT>
                        <a:lnB>
                          <a:noFill/>
                        </a:lnB>
                        <a:blipFill>
                          <a:blip r:embed="rId2"/>
                          <a:stretch>
                            <a:fillRect t="-614286" r="-330303" b="-632653"/>
                          </a:stretch>
                        </a:blip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-0.0073***</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-0.0022***</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2614328692"/>
                      </a:ext>
                    </a:extLst>
                  </a:tr>
                  <a:tr h="303848">
                    <a:tc>
                      <a:txBody>
                        <a:bodyPr/>
                        <a:lstStyle/>
                        <a:p>
                          <a:pPr indent="127000" algn="ctr">
                            <a:buNone/>
                          </a:pPr>
                          <a:r>
                            <a:rPr lang="en-GB" sz="1200" kern="100" dirty="0">
                              <a:effectLst/>
                              <a:latin typeface="+mn-ea"/>
                              <a:ea typeface="+mn-ea"/>
                            </a:rPr>
                            <a:t> </a:t>
                          </a:r>
                          <a:endParaRPr lang="zh-CN" sz="12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(0.0018)</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(0.0007)</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143552382"/>
                      </a:ext>
                    </a:extLst>
                  </a:tr>
                  <a:tr h="303848">
                    <a:tc>
                      <a:txBody>
                        <a:bodyPr/>
                        <a:lstStyle/>
                        <a:p>
                          <a:endParaRPr lang="zh-CN"/>
                        </a:p>
                      </a:txBody>
                      <a:tcPr marL="23467" marR="23467" marT="0" marB="0" anchor="ctr">
                        <a:lnL>
                          <a:noFill/>
                        </a:lnL>
                        <a:lnR>
                          <a:noFill/>
                        </a:lnR>
                        <a:lnT>
                          <a:noFill/>
                        </a:lnT>
                        <a:lnB>
                          <a:noFill/>
                        </a:lnB>
                        <a:blipFill>
                          <a:blip r:embed="rId2"/>
                          <a:stretch>
                            <a:fillRect t="-800000" r="-330303" b="-420000"/>
                          </a:stretch>
                        </a:blip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100" dirty="0">
                              <a:effectLst/>
                              <a:latin typeface="Times New Roman" panose="02020603050405020304" pitchFamily="18" charset="0"/>
                              <a:ea typeface="宋体" panose="02010600030101010101" pitchFamily="2" charset="-122"/>
                            </a:rPr>
                            <a:t>Yes</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3660917090"/>
                      </a:ext>
                    </a:extLst>
                  </a:tr>
                  <a:tr h="303848">
                    <a:tc>
                      <a:txBody>
                        <a:bodyPr/>
                        <a:lstStyle/>
                        <a:p>
                          <a:endParaRPr lang="zh-CN"/>
                        </a:p>
                      </a:txBody>
                      <a:tcPr marL="23467" marR="23467" marT="0" marB="0" anchor="ctr">
                        <a:lnL>
                          <a:noFill/>
                        </a:lnL>
                        <a:lnR>
                          <a:noFill/>
                        </a:lnR>
                        <a:lnT>
                          <a:noFill/>
                        </a:lnT>
                        <a:lnB>
                          <a:noFill/>
                        </a:lnB>
                        <a:blipFill>
                          <a:blip r:embed="rId2"/>
                          <a:stretch>
                            <a:fillRect t="-900000" r="-330303" b="-320000"/>
                          </a:stretch>
                        </a:blip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100" dirty="0">
                              <a:effectLst/>
                              <a:latin typeface="Times New Roman" panose="02020603050405020304" pitchFamily="18" charset="0"/>
                              <a:ea typeface="宋体" panose="02010600030101010101" pitchFamily="2" charset="-122"/>
                            </a:rPr>
                            <a:t>Yes</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32794926"/>
                      </a:ext>
                    </a:extLst>
                  </a:tr>
                  <a:tr h="303848">
                    <a:tc>
                      <a:txBody>
                        <a:bodyPr/>
                        <a:lstStyle/>
                        <a:p>
                          <a:endParaRPr lang="zh-CN"/>
                        </a:p>
                      </a:txBody>
                      <a:tcPr marL="23467" marR="23467" marT="0" marB="0" anchor="ctr">
                        <a:lnL>
                          <a:noFill/>
                        </a:lnL>
                        <a:lnR>
                          <a:noFill/>
                        </a:lnR>
                        <a:lnT>
                          <a:noFill/>
                        </a:lnT>
                        <a:lnB>
                          <a:noFill/>
                        </a:lnB>
                        <a:blipFill>
                          <a:blip r:embed="rId2"/>
                          <a:stretch>
                            <a:fillRect t="-1000000" r="-330303" b="-220000"/>
                          </a:stretch>
                        </a:blip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100" dirty="0">
                              <a:effectLst/>
                              <a:latin typeface="Times New Roman" panose="02020603050405020304" pitchFamily="18" charset="0"/>
                              <a:ea typeface="宋体" panose="02010600030101010101" pitchFamily="2" charset="-122"/>
                            </a:rPr>
                            <a:t>Yes</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3028583548"/>
                      </a:ext>
                    </a:extLst>
                  </a:tr>
                  <a:tr h="303848">
                    <a:tc>
                      <a:txBody>
                        <a:bodyPr/>
                        <a:lstStyle/>
                        <a:p>
                          <a:endParaRPr lang="zh-CN"/>
                        </a:p>
                      </a:txBody>
                      <a:tcPr marL="23467" marR="23467" marT="0" marB="0" anchor="ctr">
                        <a:lnL>
                          <a:noFill/>
                        </a:lnL>
                        <a:lnR>
                          <a:noFill/>
                        </a:lnR>
                        <a:lnT>
                          <a:noFill/>
                        </a:lnT>
                        <a:lnB>
                          <a:noFill/>
                        </a:lnB>
                        <a:blipFill>
                          <a:blip r:embed="rId2"/>
                          <a:stretch>
                            <a:fillRect t="-1100000" r="-330303" b="-120000"/>
                          </a:stretch>
                        </a:blip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14,144</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tc>
                      <a:txBody>
                        <a:bodyPr/>
                        <a:lstStyle/>
                        <a:p>
                          <a:pPr indent="127000" algn="ctr">
                            <a:buNone/>
                          </a:pPr>
                          <a:r>
                            <a:rPr lang="en-GB" sz="1400" kern="100" dirty="0">
                              <a:effectLst/>
                              <a:latin typeface="Times New Roman" panose="02020603050405020304" pitchFamily="18" charset="0"/>
                              <a:ea typeface="宋体" panose="02010600030101010101" pitchFamily="2" charset="-122"/>
                            </a:rPr>
                            <a:t>40,107</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a:noFill/>
                        </a:lnB>
                        <a:noFill/>
                      </a:tcPr>
                    </a:tc>
                    <a:extLst>
                      <a:ext uri="{0D108BD9-81ED-4DB2-BD59-A6C34878D82A}">
                        <a16:rowId xmlns:a16="http://schemas.microsoft.com/office/drawing/2014/main" val="3450727058"/>
                      </a:ext>
                    </a:extLst>
                  </a:tr>
                  <a:tr h="303848">
                    <a:tc>
                      <a:txBody>
                        <a:bodyPr/>
                        <a:lstStyle/>
                        <a:p>
                          <a:endParaRPr lang="zh-CN"/>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blipFill>
                          <a:blip r:embed="rId2"/>
                          <a:stretch>
                            <a:fillRect t="-1200000" r="-330303" b="-20000"/>
                          </a:stretch>
                        </a:blip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0.2517</a:t>
                          </a:r>
                          <a:endParaRPr lang="zh-CN" sz="1400" kern="10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0.2007</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9900201"/>
                      </a:ext>
                    </a:extLst>
                  </a:tr>
                </a:tbl>
              </a:graphicData>
            </a:graphic>
          </p:graphicFrame>
        </mc:Fallback>
      </mc:AlternateContent>
      <p:sp>
        <p:nvSpPr>
          <p:cNvPr id="10" name="文本框 9">
            <a:extLst>
              <a:ext uri="{FF2B5EF4-FFF2-40B4-BE49-F238E27FC236}">
                <a16:creationId xmlns:a16="http://schemas.microsoft.com/office/drawing/2014/main" id="{C0FF6551-A786-774B-3DDD-E4A578C076F2}"/>
              </a:ext>
            </a:extLst>
          </p:cNvPr>
          <p:cNvSpPr txBox="1"/>
          <p:nvPr/>
        </p:nvSpPr>
        <p:spPr>
          <a:xfrm>
            <a:off x="8457681" y="1529772"/>
            <a:ext cx="1242648" cy="276999"/>
          </a:xfrm>
          <a:prstGeom prst="rect">
            <a:avLst/>
          </a:prstGeom>
          <a:noFill/>
        </p:spPr>
        <p:txBody>
          <a:bodyPr wrap="none" rtlCol="0">
            <a:spAutoFit/>
          </a:bodyPr>
          <a:lstStyle/>
          <a:p>
            <a:r>
              <a:rPr lang="zh-CN" altLang="en-US" sz="1200" b="1" dirty="0"/>
              <a:t>表</a:t>
            </a:r>
            <a:r>
              <a:rPr lang="en-US" altLang="zh-CN" sz="1200" b="1" dirty="0"/>
              <a:t>7 </a:t>
            </a:r>
            <a:r>
              <a:rPr lang="zh-CN" altLang="en-US" sz="1200" b="1" dirty="0"/>
              <a:t>企业异质性</a:t>
            </a:r>
          </a:p>
        </p:txBody>
      </p:sp>
    </p:spTree>
    <p:extLst>
      <p:ext uri="{BB962C8B-B14F-4D97-AF65-F5344CB8AC3E}">
        <p14:creationId xmlns:p14="http://schemas.microsoft.com/office/powerpoint/2010/main" val="2673130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E9BD7-6660-AFBD-06FC-FAB906FBC0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0B0A27-3728-B1CA-A101-CE7A52C83E9E}"/>
              </a:ext>
            </a:extLst>
          </p:cNvPr>
          <p:cNvSpPr>
            <a:spLocks noGrp="1"/>
          </p:cNvSpPr>
          <p:nvPr>
            <p:ph type="title"/>
          </p:nvPr>
        </p:nvSpPr>
        <p:spPr/>
        <p:txBody>
          <a:bodyPr vert="horz" lIns="91440" tIns="45720" rIns="91440" bIns="45720" rtlCol="0" anchor="ctr">
            <a:normAutofit/>
          </a:bodyPr>
          <a:lstStyle/>
          <a:p>
            <a:r>
              <a:rPr lang="zh-CN" altLang="en-US" sz="2800" dirty="0"/>
              <a:t>实证结果分析</a:t>
            </a:r>
          </a:p>
        </p:txBody>
      </p:sp>
      <p:sp>
        <p:nvSpPr>
          <p:cNvPr id="3" name="内容占位符 2">
            <a:extLst>
              <a:ext uri="{FF2B5EF4-FFF2-40B4-BE49-F238E27FC236}">
                <a16:creationId xmlns:a16="http://schemas.microsoft.com/office/drawing/2014/main" id="{76B8D4E0-AE40-D874-AF47-A47D9F30F382}"/>
              </a:ext>
            </a:extLst>
          </p:cNvPr>
          <p:cNvSpPr>
            <a:spLocks noGrp="1"/>
          </p:cNvSpPr>
          <p:nvPr>
            <p:ph sz="half" idx="1"/>
          </p:nvPr>
        </p:nvSpPr>
        <p:spPr/>
        <p:txBody>
          <a:bodyPr>
            <a:normAutofit/>
          </a:bodyPr>
          <a:lstStyle/>
          <a:p>
            <a:pPr marL="0" indent="0">
              <a:lnSpc>
                <a:spcPct val="100000"/>
              </a:lnSpc>
              <a:buNone/>
            </a:pPr>
            <a:r>
              <a:rPr lang="zh-CN" altLang="en-US" sz="2400" dirty="0"/>
              <a:t>异质性分析</a:t>
            </a:r>
            <a:endParaRPr lang="en-US" altLang="zh-CN" sz="2400" dirty="0"/>
          </a:p>
          <a:p>
            <a:pPr lvl="1">
              <a:lnSpc>
                <a:spcPct val="100000"/>
              </a:lnSpc>
            </a:pPr>
            <a:r>
              <a:rPr lang="zh-CN" altLang="en-US" sz="2000" dirty="0"/>
              <a:t>行业层面</a:t>
            </a:r>
            <a:endParaRPr lang="en-US" altLang="zh-CN" sz="2000" dirty="0"/>
          </a:p>
        </p:txBody>
      </p:sp>
      <mc:AlternateContent xmlns:mc="http://schemas.openxmlformats.org/markup-compatibility/2006" xmlns:a14="http://schemas.microsoft.com/office/drawing/2010/main">
        <mc:Choice Requires="a14">
          <p:graphicFrame>
            <p:nvGraphicFramePr>
              <p:cNvPr id="5" name="内容占位符 4">
                <a:extLst>
                  <a:ext uri="{FF2B5EF4-FFF2-40B4-BE49-F238E27FC236}">
                    <a16:creationId xmlns:a16="http://schemas.microsoft.com/office/drawing/2014/main" id="{97FF0C1E-68D6-68A7-0B95-A03EA2F829AF}"/>
                  </a:ext>
                </a:extLst>
              </p:cNvPr>
              <p:cNvGraphicFramePr>
                <a:graphicFrameLocks noGrp="1"/>
              </p:cNvGraphicFramePr>
              <p:nvPr>
                <p:ph sz="half" idx="2"/>
                <p:extLst>
                  <p:ext uri="{D42A27DB-BD31-4B8C-83A1-F6EECF244321}">
                    <p14:modId xmlns:p14="http://schemas.microsoft.com/office/powerpoint/2010/main" val="3178948199"/>
                  </p:ext>
                </p:extLst>
              </p:nvPr>
            </p:nvGraphicFramePr>
            <p:xfrm>
              <a:off x="6321490" y="1806771"/>
              <a:ext cx="5181600" cy="3777740"/>
            </p:xfrm>
            <a:graphic>
              <a:graphicData uri="http://schemas.openxmlformats.org/drawingml/2006/table">
                <a:tbl>
                  <a:tblPr firstRow="1" firstCol="1" bandRow="1">
                    <a:tableStyleId>{5C22544A-7EE6-4342-B048-85BDC9FD1C3A}</a:tableStyleId>
                  </a:tblPr>
                  <a:tblGrid>
                    <a:gridCol w="1391778">
                      <a:extLst>
                        <a:ext uri="{9D8B030D-6E8A-4147-A177-3AD203B41FA5}">
                          <a16:colId xmlns:a16="http://schemas.microsoft.com/office/drawing/2014/main" val="2124581094"/>
                        </a:ext>
                      </a:extLst>
                    </a:gridCol>
                    <a:gridCol w="1391778">
                      <a:extLst>
                        <a:ext uri="{9D8B030D-6E8A-4147-A177-3AD203B41FA5}">
                          <a16:colId xmlns:a16="http://schemas.microsoft.com/office/drawing/2014/main" val="365047336"/>
                        </a:ext>
                      </a:extLst>
                    </a:gridCol>
                    <a:gridCol w="1392814">
                      <a:extLst>
                        <a:ext uri="{9D8B030D-6E8A-4147-A177-3AD203B41FA5}">
                          <a16:colId xmlns:a16="http://schemas.microsoft.com/office/drawing/2014/main" val="3413700698"/>
                        </a:ext>
                      </a:extLst>
                    </a:gridCol>
                    <a:gridCol w="1005230">
                      <a:extLst>
                        <a:ext uri="{9D8B030D-6E8A-4147-A177-3AD203B41FA5}">
                          <a16:colId xmlns:a16="http://schemas.microsoft.com/office/drawing/2014/main" val="3636051615"/>
                        </a:ext>
                      </a:extLst>
                    </a:gridCol>
                  </a:tblGrid>
                  <a:tr h="260334">
                    <a:tc rowSpan="2">
                      <a:txBody>
                        <a:bodyPr/>
                        <a:lstStyle/>
                        <a:p>
                          <a:pPr indent="127000" algn="ctr">
                            <a:buNone/>
                          </a:pPr>
                          <a:r>
                            <a:rPr lang="zh-CN" sz="1100" kern="100" dirty="0">
                              <a:solidFill>
                                <a:schemeClr val="tx1"/>
                              </a:solidFill>
                              <a:effectLst/>
                            </a:rPr>
                            <a:t>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b="0" kern="100" dirty="0">
                              <a:solidFill>
                                <a:schemeClr val="tx1"/>
                              </a:solidFill>
                              <a:effectLst/>
                            </a:rPr>
                            <a:t>(1)</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b="0" kern="100" dirty="0">
                              <a:solidFill>
                                <a:schemeClr val="tx1"/>
                              </a:solidFill>
                              <a:effectLst/>
                            </a:rPr>
                            <a:t>(2)</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b="0" kern="100" dirty="0">
                              <a:solidFill>
                                <a:schemeClr val="tx1"/>
                              </a:solidFill>
                              <a:effectLst/>
                            </a:rPr>
                            <a:t>(3)</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39941888"/>
                      </a:ext>
                    </a:extLst>
                  </a:tr>
                  <a:tr h="260334">
                    <a:tc vMerge="1">
                      <a:txBody>
                        <a:bodyPr/>
                        <a:lstStyle/>
                        <a:p>
                          <a:endParaRPr lang="zh-CN" altLang="en-US"/>
                        </a:p>
                      </a:txBody>
                      <a:tcPr/>
                    </a:tc>
                    <a:tc>
                      <a:txBody>
                        <a:bodyPr/>
                        <a:lstStyle/>
                        <a:p>
                          <a:pPr indent="127000" algn="ctr">
                            <a:buNone/>
                          </a:pPr>
                          <a:r>
                            <a:rPr lang="zh-CN" altLang="en-US" sz="1100" b="0" kern="100" dirty="0">
                              <a:solidFill>
                                <a:schemeClr val="tx1"/>
                              </a:solidFill>
                              <a:effectLst/>
                              <a:latin typeface="+mn-lt"/>
                              <a:ea typeface="+mn-ea"/>
                              <a:cs typeface="+mn-cs"/>
                            </a:rPr>
                            <a:t>技术密集型</a:t>
                          </a:r>
                        </a:p>
                      </a:txBody>
                      <a:tcPr marL="47625" marR="47625"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r>
                            <a:rPr lang="zh-CN" altLang="en-US" sz="1100" b="0" kern="100" dirty="0">
                              <a:solidFill>
                                <a:schemeClr val="tx1"/>
                              </a:solidFill>
                              <a:effectLst/>
                              <a:latin typeface="+mn-lt"/>
                              <a:ea typeface="+mn-ea"/>
                              <a:cs typeface="+mn-cs"/>
                            </a:rPr>
                            <a:t>劳动密集型</a:t>
                          </a:r>
                        </a:p>
                      </a:txBody>
                      <a:tcPr marL="47625" marR="47625"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r>
                            <a:rPr lang="zh-CN" altLang="en-US" sz="1100" b="0" kern="100" dirty="0">
                              <a:solidFill>
                                <a:schemeClr val="tx1"/>
                              </a:solidFill>
                              <a:effectLst/>
                              <a:latin typeface="+mn-lt"/>
                              <a:ea typeface="+mn-ea"/>
                              <a:cs typeface="+mn-cs"/>
                            </a:rPr>
                            <a:t>资本密集型</a:t>
                          </a:r>
                        </a:p>
                      </a:txBody>
                      <a:tcPr marL="47625" marR="47625" marT="0" marB="0" anchor="ctr">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3516540"/>
                      </a:ext>
                    </a:extLst>
                  </a:tr>
                  <a:tr h="46529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𝐴</m:t>
                                </m:r>
                                <m:sSub>
                                  <m:sSubPr>
                                    <m:ctrlPr>
                                      <a:rPr lang="zh-CN" sz="1100" i="1" kern="100">
                                        <a:solidFill>
                                          <a:schemeClr val="tx1"/>
                                        </a:solidFill>
                                        <a:effectLst/>
                                        <a:latin typeface="Cambria Math" panose="02040503050406030204" pitchFamily="18" charset="0"/>
                                      </a:rPr>
                                    </m:ctrlPr>
                                  </m:sSubPr>
                                  <m:e>
                                    <m:r>
                                      <a:rPr lang="en-GB" sz="1100" kern="100">
                                        <a:solidFill>
                                          <a:schemeClr val="tx1"/>
                                        </a:solidFill>
                                        <a:effectLst/>
                                        <a:latin typeface="Cambria Math" panose="02040503050406030204" pitchFamily="18" charset="0"/>
                                      </a:rPr>
                                      <m:t>𝐼</m:t>
                                    </m:r>
                                  </m:e>
                                  <m:sub>
                                    <m:r>
                                      <a:rPr lang="en-GB" sz="1100" kern="100">
                                        <a:solidFill>
                                          <a:schemeClr val="tx1"/>
                                        </a:solidFill>
                                        <a:effectLst/>
                                        <a:latin typeface="Cambria Math" panose="02040503050406030204" pitchFamily="18" charset="0"/>
                                      </a:rPr>
                                      <m:t>𝑢𝑡𝑖𝑙𝑖𝑧𝑒</m:t>
                                    </m:r>
                                  </m:sub>
                                </m:sSub>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-0.0039***</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-0.0036***</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-0.0037</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25096606"/>
                      </a:ext>
                    </a:extLst>
                  </a:tr>
                  <a:tr h="465296">
                    <a:tc>
                      <a:txBody>
                        <a:bodyPr/>
                        <a:lstStyle/>
                        <a:p>
                          <a:pPr indent="127000" algn="ctr">
                            <a:buNone/>
                          </a:pPr>
                          <a:r>
                            <a:rPr lang="en-GB" sz="1100" kern="100">
                              <a:solidFill>
                                <a:schemeClr val="tx1"/>
                              </a:solidFill>
                              <a:effectLst/>
                            </a:rPr>
                            <a:t> </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(0.0009)</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(0.0012)</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(0.0027)</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123046829"/>
                      </a:ext>
                    </a:extLst>
                  </a:tr>
                  <a:tr h="46529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𝐶𝑜𝑛𝑡𝑟𝑜𝑙</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2452948094"/>
                      </a:ext>
                    </a:extLst>
                  </a:tr>
                  <a:tr h="46529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𝑌𝑒𝑎𝑟</m:t>
                                </m:r>
                                <m:r>
                                  <a:rPr lang="en-GB" sz="1100" kern="100" smtClean="0">
                                    <a:solidFill>
                                      <a:schemeClr val="tx1"/>
                                    </a:solidFill>
                                    <a:effectLst/>
                                    <a:latin typeface="Cambria Math" panose="02040503050406030204" pitchFamily="18" charset="0"/>
                                  </a:rPr>
                                  <m:t> </m:t>
                                </m:r>
                                <m:r>
                                  <a:rPr lang="en-GB" sz="1100" kern="100" smtClean="0">
                                    <a:solidFill>
                                      <a:schemeClr val="tx1"/>
                                    </a:solidFill>
                                    <a:effectLst/>
                                    <a:latin typeface="Cambria Math" panose="02040503050406030204" pitchFamily="18" charset="0"/>
                                  </a:rPr>
                                  <m:t>𝐹𝐸</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904810327"/>
                      </a:ext>
                    </a:extLst>
                  </a:tr>
                  <a:tr h="46529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𝐹𝑖𝑟𝑚</m:t>
                                </m:r>
                                <m:r>
                                  <a:rPr lang="en-GB" sz="1100" kern="100" smtClean="0">
                                    <a:solidFill>
                                      <a:schemeClr val="tx1"/>
                                    </a:solidFill>
                                    <a:effectLst/>
                                    <a:latin typeface="Cambria Math" panose="02040503050406030204" pitchFamily="18" charset="0"/>
                                  </a:rPr>
                                  <m:t> </m:t>
                                </m:r>
                                <m:r>
                                  <a:rPr lang="en-GB" sz="1100" kern="100" smtClean="0">
                                    <a:solidFill>
                                      <a:schemeClr val="tx1"/>
                                    </a:solidFill>
                                    <a:effectLst/>
                                    <a:latin typeface="Cambria Math" panose="02040503050406030204" pitchFamily="18" charset="0"/>
                                  </a:rPr>
                                  <m:t>𝐹𝐸</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417585375"/>
                      </a:ext>
                    </a:extLst>
                  </a:tr>
                  <a:tr h="46529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𝑂𝑏𝑠𝑒𝑟𝑣𝑎𝑡𝑖𝑜𝑛𝑠</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18,889</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13,797</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7,210</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4025073303"/>
                      </a:ext>
                    </a:extLst>
                  </a:tr>
                  <a:tr h="465296">
                    <a:tc>
                      <a:txBody>
                        <a:bodyPr/>
                        <a:lstStyle/>
                        <a:p>
                          <a:pPr indent="127000" algn="ctr">
                            <a:buNone/>
                          </a:pPr>
                          <a14:m>
                            <m:oMathPara xmlns:m="http://schemas.openxmlformats.org/officeDocument/2006/math">
                              <m:oMathParaPr>
                                <m:jc m:val="centerGroup"/>
                              </m:oMathParaPr>
                              <m:oMath xmlns:m="http://schemas.openxmlformats.org/officeDocument/2006/math">
                                <m:sSup>
                                  <m:sSupPr>
                                    <m:ctrlPr>
                                      <a:rPr lang="zh-CN" sz="1100" i="1" kern="0" smtClean="0">
                                        <a:solidFill>
                                          <a:schemeClr val="tx1"/>
                                        </a:solidFill>
                                        <a:effectLst/>
                                        <a:latin typeface="Cambria Math" panose="02040503050406030204" pitchFamily="18" charset="0"/>
                                      </a:rPr>
                                    </m:ctrlPr>
                                  </m:sSupPr>
                                  <m:e>
                                    <m:r>
                                      <a:rPr lang="en-GB" sz="1100" kern="0">
                                        <a:solidFill>
                                          <a:schemeClr val="tx1"/>
                                        </a:solidFill>
                                        <a:effectLst/>
                                        <a:latin typeface="Cambria Math" panose="02040503050406030204" pitchFamily="18" charset="0"/>
                                      </a:rPr>
                                      <m:t>𝑅</m:t>
                                    </m:r>
                                  </m:e>
                                  <m:sup>
                                    <m:r>
                                      <a:rPr lang="en-GB" sz="1100" kern="0">
                                        <a:solidFill>
                                          <a:schemeClr val="tx1"/>
                                        </a:solidFill>
                                        <a:effectLst/>
                                        <a:latin typeface="Cambria Math" panose="02040503050406030204" pitchFamily="18" charset="0"/>
                                      </a:rPr>
                                      <m:t>2</m:t>
                                    </m:r>
                                  </m:sup>
                                </m:sSup>
                                <m:r>
                                  <a:rPr lang="en-GB" sz="1100" kern="0">
                                    <a:solidFill>
                                      <a:schemeClr val="tx1"/>
                                    </a:solidFill>
                                    <a:effectLst/>
                                    <a:latin typeface="Cambria Math" panose="02040503050406030204" pitchFamily="18" charset="0"/>
                                  </a:rPr>
                                  <m:t>_</m:t>
                                </m:r>
                                <m:r>
                                  <a:rPr lang="en-GB" sz="1100" kern="0">
                                    <a:solidFill>
                                      <a:schemeClr val="tx1"/>
                                    </a:solidFill>
                                    <a:effectLst/>
                                    <a:latin typeface="Cambria Math" panose="02040503050406030204" pitchFamily="18" charset="0"/>
                                  </a:rPr>
                                  <m:t>𝑎𝑑𝑗𝑢𝑠𝑡𝑒𝑑</m:t>
                                </m:r>
                              </m:oMath>
                            </m:oMathPara>
                          </a14:m>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0.2016</a:t>
                          </a:r>
                          <a:endParaRPr lang="zh-CN" sz="12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0.2422</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0.2078</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2385451"/>
                      </a:ext>
                    </a:extLst>
                  </a:tr>
                </a:tbl>
              </a:graphicData>
            </a:graphic>
          </p:graphicFrame>
        </mc:Choice>
        <mc:Fallback xmlns="">
          <p:graphicFrame>
            <p:nvGraphicFramePr>
              <p:cNvPr id="5" name="内容占位符 4">
                <a:extLst>
                  <a:ext uri="{FF2B5EF4-FFF2-40B4-BE49-F238E27FC236}">
                    <a16:creationId xmlns:a16="http://schemas.microsoft.com/office/drawing/2014/main" id="{97FF0C1E-68D6-68A7-0B95-A03EA2F829AF}"/>
                  </a:ext>
                </a:extLst>
              </p:cNvPr>
              <p:cNvGraphicFramePr>
                <a:graphicFrameLocks noGrp="1"/>
              </p:cNvGraphicFramePr>
              <p:nvPr>
                <p:ph sz="half" idx="2"/>
                <p:extLst>
                  <p:ext uri="{D42A27DB-BD31-4B8C-83A1-F6EECF244321}">
                    <p14:modId xmlns:p14="http://schemas.microsoft.com/office/powerpoint/2010/main" val="3178948199"/>
                  </p:ext>
                </p:extLst>
              </p:nvPr>
            </p:nvGraphicFramePr>
            <p:xfrm>
              <a:off x="6321490" y="1806771"/>
              <a:ext cx="5181600" cy="3777740"/>
            </p:xfrm>
            <a:graphic>
              <a:graphicData uri="http://schemas.openxmlformats.org/drawingml/2006/table">
                <a:tbl>
                  <a:tblPr firstRow="1" firstCol="1" bandRow="1">
                    <a:tableStyleId>{5C22544A-7EE6-4342-B048-85BDC9FD1C3A}</a:tableStyleId>
                  </a:tblPr>
                  <a:tblGrid>
                    <a:gridCol w="1391778">
                      <a:extLst>
                        <a:ext uri="{9D8B030D-6E8A-4147-A177-3AD203B41FA5}">
                          <a16:colId xmlns:a16="http://schemas.microsoft.com/office/drawing/2014/main" val="2124581094"/>
                        </a:ext>
                      </a:extLst>
                    </a:gridCol>
                    <a:gridCol w="1391778">
                      <a:extLst>
                        <a:ext uri="{9D8B030D-6E8A-4147-A177-3AD203B41FA5}">
                          <a16:colId xmlns:a16="http://schemas.microsoft.com/office/drawing/2014/main" val="365047336"/>
                        </a:ext>
                      </a:extLst>
                    </a:gridCol>
                    <a:gridCol w="1392814">
                      <a:extLst>
                        <a:ext uri="{9D8B030D-6E8A-4147-A177-3AD203B41FA5}">
                          <a16:colId xmlns:a16="http://schemas.microsoft.com/office/drawing/2014/main" val="3413700698"/>
                        </a:ext>
                      </a:extLst>
                    </a:gridCol>
                    <a:gridCol w="1005230">
                      <a:extLst>
                        <a:ext uri="{9D8B030D-6E8A-4147-A177-3AD203B41FA5}">
                          <a16:colId xmlns:a16="http://schemas.microsoft.com/office/drawing/2014/main" val="3636051615"/>
                        </a:ext>
                      </a:extLst>
                    </a:gridCol>
                  </a:tblGrid>
                  <a:tr h="260334">
                    <a:tc rowSpan="2">
                      <a:txBody>
                        <a:bodyPr/>
                        <a:lstStyle/>
                        <a:p>
                          <a:pPr indent="127000" algn="ctr">
                            <a:buNone/>
                          </a:pPr>
                          <a:r>
                            <a:rPr lang="zh-CN" sz="1100" kern="100" dirty="0">
                              <a:solidFill>
                                <a:schemeClr val="tx1"/>
                              </a:solidFill>
                              <a:effectLst/>
                            </a:rPr>
                            <a:t>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b="0" kern="100" dirty="0">
                              <a:solidFill>
                                <a:schemeClr val="tx1"/>
                              </a:solidFill>
                              <a:effectLst/>
                            </a:rPr>
                            <a:t>(1)</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b="0" kern="100" dirty="0">
                              <a:solidFill>
                                <a:schemeClr val="tx1"/>
                              </a:solidFill>
                              <a:effectLst/>
                            </a:rPr>
                            <a:t>(2)</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b="0" kern="100" dirty="0">
                              <a:solidFill>
                                <a:schemeClr val="tx1"/>
                              </a:solidFill>
                              <a:effectLst/>
                            </a:rPr>
                            <a:t>(3)</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39941888"/>
                      </a:ext>
                    </a:extLst>
                  </a:tr>
                  <a:tr h="260334">
                    <a:tc vMerge="1">
                      <a:txBody>
                        <a:bodyPr/>
                        <a:lstStyle/>
                        <a:p>
                          <a:endParaRPr lang="zh-CN" altLang="en-US"/>
                        </a:p>
                      </a:txBody>
                      <a:tcPr/>
                    </a:tc>
                    <a:tc>
                      <a:txBody>
                        <a:bodyPr/>
                        <a:lstStyle/>
                        <a:p>
                          <a:pPr indent="127000" algn="ctr">
                            <a:buNone/>
                          </a:pPr>
                          <a:r>
                            <a:rPr lang="zh-CN" altLang="en-US" sz="1100" b="0" kern="100" dirty="0">
                              <a:solidFill>
                                <a:schemeClr val="tx1"/>
                              </a:solidFill>
                              <a:effectLst/>
                              <a:latin typeface="+mn-lt"/>
                              <a:ea typeface="+mn-ea"/>
                              <a:cs typeface="+mn-cs"/>
                            </a:rPr>
                            <a:t>技术密集型</a:t>
                          </a:r>
                        </a:p>
                      </a:txBody>
                      <a:tcPr marL="47625" marR="47625"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r>
                            <a:rPr lang="zh-CN" altLang="en-US" sz="1100" b="0" kern="100" dirty="0">
                              <a:solidFill>
                                <a:schemeClr val="tx1"/>
                              </a:solidFill>
                              <a:effectLst/>
                              <a:latin typeface="+mn-lt"/>
                              <a:ea typeface="+mn-ea"/>
                              <a:cs typeface="+mn-cs"/>
                            </a:rPr>
                            <a:t>劳动密集型</a:t>
                          </a:r>
                        </a:p>
                      </a:txBody>
                      <a:tcPr marL="47625" marR="47625"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r>
                            <a:rPr lang="zh-CN" altLang="en-US" sz="1100" b="0" kern="100" dirty="0">
                              <a:solidFill>
                                <a:schemeClr val="tx1"/>
                              </a:solidFill>
                              <a:effectLst/>
                              <a:latin typeface="+mn-lt"/>
                              <a:ea typeface="+mn-ea"/>
                              <a:cs typeface="+mn-cs"/>
                            </a:rPr>
                            <a:t>资本密集型</a:t>
                          </a:r>
                        </a:p>
                      </a:txBody>
                      <a:tcPr marL="47625" marR="47625" marT="0" marB="0" anchor="ctr">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3516540"/>
                      </a:ext>
                    </a:extLst>
                  </a:tr>
                  <a:tr h="465296">
                    <a:tc>
                      <a:txBody>
                        <a:bodyPr/>
                        <a:lstStyle/>
                        <a:p>
                          <a:endParaRPr lang="zh-CN"/>
                        </a:p>
                      </a:txBody>
                      <a:tcPr marL="23467" marR="23467" marT="0" marB="0" anchor="ctr">
                        <a:lnT w="6350" cap="flat" cmpd="sng" algn="ctr">
                          <a:solidFill>
                            <a:schemeClr val="tx1"/>
                          </a:solidFill>
                          <a:prstDash val="solid"/>
                          <a:round/>
                          <a:headEnd type="none" w="med" len="med"/>
                          <a:tailEnd type="none" w="med" len="med"/>
                        </a:lnT>
                        <a:blipFill>
                          <a:blip r:embed="rId2"/>
                          <a:stretch>
                            <a:fillRect l="-437" t="-114474" r="-273799" b="-606579"/>
                          </a:stretch>
                        </a:blip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-0.0039***</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-0.0036***</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-0.0037</a:t>
                          </a:r>
                          <a:endParaRPr lang="zh-CN" sz="12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25096606"/>
                      </a:ext>
                    </a:extLst>
                  </a:tr>
                  <a:tr h="465296">
                    <a:tc>
                      <a:txBody>
                        <a:bodyPr/>
                        <a:lstStyle/>
                        <a:p>
                          <a:pPr indent="127000" algn="ctr">
                            <a:buNone/>
                          </a:pPr>
                          <a:r>
                            <a:rPr lang="en-GB" sz="1100" kern="100">
                              <a:solidFill>
                                <a:schemeClr val="tx1"/>
                              </a:solidFill>
                              <a:effectLst/>
                            </a:rPr>
                            <a:t> </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(0.0009)</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(0.0012)</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(0.0027)</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123046829"/>
                      </a:ext>
                    </a:extLst>
                  </a:tr>
                  <a:tr h="465296">
                    <a:tc>
                      <a:txBody>
                        <a:bodyPr/>
                        <a:lstStyle/>
                        <a:p>
                          <a:endParaRPr lang="zh-CN"/>
                        </a:p>
                      </a:txBody>
                      <a:tcPr marL="23467" marR="23467" marT="0" marB="0" anchor="ctr">
                        <a:blipFill>
                          <a:blip r:embed="rId2"/>
                          <a:stretch>
                            <a:fillRect l="-437" t="-315789" r="-273799" b="-405263"/>
                          </a:stretch>
                        </a:blip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2452948094"/>
                      </a:ext>
                    </a:extLst>
                  </a:tr>
                  <a:tr h="465296">
                    <a:tc>
                      <a:txBody>
                        <a:bodyPr/>
                        <a:lstStyle/>
                        <a:p>
                          <a:endParaRPr lang="zh-CN"/>
                        </a:p>
                      </a:txBody>
                      <a:tcPr marL="23467" marR="23467" marT="0" marB="0" anchor="ctr">
                        <a:blipFill>
                          <a:blip r:embed="rId2"/>
                          <a:stretch>
                            <a:fillRect l="-437" t="-410390" r="-273799" b="-300000"/>
                          </a:stretch>
                        </a:blip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904810327"/>
                      </a:ext>
                    </a:extLst>
                  </a:tr>
                  <a:tr h="465296">
                    <a:tc>
                      <a:txBody>
                        <a:bodyPr/>
                        <a:lstStyle/>
                        <a:p>
                          <a:endParaRPr lang="zh-CN"/>
                        </a:p>
                      </a:txBody>
                      <a:tcPr marL="23467" marR="23467" marT="0" marB="0" anchor="ctr">
                        <a:blipFill>
                          <a:blip r:embed="rId2"/>
                          <a:stretch>
                            <a:fillRect l="-437" t="-517105" r="-273799" b="-203947"/>
                          </a:stretch>
                        </a:blip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dirty="0">
                              <a:effectLst/>
                              <a:latin typeface="Times New Roman" panose="02020603050405020304" pitchFamily="18" charset="0"/>
                              <a:ea typeface="宋体" panose="02010600030101010101" pitchFamily="2" charset="-122"/>
                            </a:rPr>
                            <a:t>Yes</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100">
                              <a:effectLst/>
                              <a:latin typeface="Times New Roman" panose="02020603050405020304" pitchFamily="18" charset="0"/>
                              <a:ea typeface="宋体" panose="02010600030101010101" pitchFamily="2" charset="-122"/>
                            </a:rPr>
                            <a:t>Yes</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417585375"/>
                      </a:ext>
                    </a:extLst>
                  </a:tr>
                  <a:tr h="465296">
                    <a:tc>
                      <a:txBody>
                        <a:bodyPr/>
                        <a:lstStyle/>
                        <a:p>
                          <a:endParaRPr lang="zh-CN"/>
                        </a:p>
                      </a:txBody>
                      <a:tcPr marL="23467" marR="23467" marT="0" marB="0" anchor="ctr">
                        <a:blipFill>
                          <a:blip r:embed="rId2"/>
                          <a:stretch>
                            <a:fillRect l="-437" t="-609091" r="-273799" b="-101299"/>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18,889</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13,797</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7,210</a:t>
                          </a:r>
                          <a:endParaRPr lang="zh-CN" sz="12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4025073303"/>
                      </a:ext>
                    </a:extLst>
                  </a:tr>
                  <a:tr h="465296">
                    <a:tc>
                      <a:txBody>
                        <a:bodyPr/>
                        <a:lstStyle/>
                        <a:p>
                          <a:endParaRPr lang="zh-CN"/>
                        </a:p>
                      </a:txBody>
                      <a:tcPr marL="23467" marR="23467" marT="0" marB="0" anchor="ctr">
                        <a:lnB w="12700" cap="flat" cmpd="sng" algn="ctr">
                          <a:solidFill>
                            <a:schemeClr val="tx1"/>
                          </a:solidFill>
                          <a:prstDash val="solid"/>
                          <a:round/>
                          <a:headEnd type="none" w="med" len="med"/>
                          <a:tailEnd type="none" w="med" len="med"/>
                        </a:lnB>
                        <a:blipFill>
                          <a:blip r:embed="rId2"/>
                          <a:stretch>
                            <a:fillRect l="-437" t="-718421" r="-273799" b="-2632"/>
                          </a:stretch>
                        </a:blipFill>
                      </a:tcPr>
                    </a:tc>
                    <a:tc>
                      <a:txBody>
                        <a:bodyPr/>
                        <a:lstStyle/>
                        <a:p>
                          <a:pPr indent="127000" algn="ctr">
                            <a:buNone/>
                          </a:pPr>
                          <a:r>
                            <a:rPr lang="en-GB" sz="1200" kern="0">
                              <a:effectLst/>
                              <a:latin typeface="Times New Roman" panose="02020603050405020304" pitchFamily="18" charset="0"/>
                              <a:ea typeface="宋体" panose="02010600030101010101" pitchFamily="2" charset="-122"/>
                            </a:rPr>
                            <a:t>0.2016</a:t>
                          </a:r>
                          <a:endParaRPr lang="zh-CN" sz="12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0.2422</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200" kern="0" dirty="0">
                              <a:effectLst/>
                              <a:latin typeface="Times New Roman" panose="02020603050405020304" pitchFamily="18" charset="0"/>
                              <a:ea typeface="宋体" panose="02010600030101010101" pitchFamily="2" charset="-122"/>
                            </a:rPr>
                            <a:t>0.2078</a:t>
                          </a:r>
                          <a:endParaRPr lang="zh-CN" sz="1200" kern="100" dirty="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2385451"/>
                      </a:ext>
                    </a:extLst>
                  </a:tr>
                </a:tbl>
              </a:graphicData>
            </a:graphic>
          </p:graphicFrame>
        </mc:Fallback>
      </mc:AlternateContent>
      <p:sp>
        <p:nvSpPr>
          <p:cNvPr id="4" name="文本框 3">
            <a:extLst>
              <a:ext uri="{FF2B5EF4-FFF2-40B4-BE49-F238E27FC236}">
                <a16:creationId xmlns:a16="http://schemas.microsoft.com/office/drawing/2014/main" id="{C1E232B3-92FF-0C6D-954A-96EB17899C26}"/>
              </a:ext>
            </a:extLst>
          </p:cNvPr>
          <p:cNvSpPr txBox="1"/>
          <p:nvPr/>
        </p:nvSpPr>
        <p:spPr>
          <a:xfrm>
            <a:off x="8457681" y="1529772"/>
            <a:ext cx="1242648" cy="276999"/>
          </a:xfrm>
          <a:prstGeom prst="rect">
            <a:avLst/>
          </a:prstGeom>
          <a:noFill/>
        </p:spPr>
        <p:txBody>
          <a:bodyPr wrap="none" rtlCol="0">
            <a:spAutoFit/>
          </a:bodyPr>
          <a:lstStyle/>
          <a:p>
            <a:r>
              <a:rPr lang="zh-CN" altLang="en-US" sz="1200" b="1" dirty="0"/>
              <a:t>表</a:t>
            </a:r>
            <a:r>
              <a:rPr lang="en-US" altLang="zh-CN" sz="1200" b="1" dirty="0"/>
              <a:t>8 </a:t>
            </a:r>
            <a:r>
              <a:rPr lang="zh-CN" altLang="en-US" sz="1200" b="1" dirty="0"/>
              <a:t>行业异质性</a:t>
            </a:r>
          </a:p>
        </p:txBody>
      </p:sp>
    </p:spTree>
    <p:extLst>
      <p:ext uri="{BB962C8B-B14F-4D97-AF65-F5344CB8AC3E}">
        <p14:creationId xmlns:p14="http://schemas.microsoft.com/office/powerpoint/2010/main" val="2477962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1DB4C-4416-1D78-0FE2-6518244ACDC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5F6E057-4055-E01C-1FA4-25CB7538853C}"/>
              </a:ext>
            </a:extLst>
          </p:cNvPr>
          <p:cNvSpPr>
            <a:spLocks noGrp="1"/>
          </p:cNvSpPr>
          <p:nvPr>
            <p:ph type="title"/>
          </p:nvPr>
        </p:nvSpPr>
        <p:spPr/>
        <p:txBody>
          <a:bodyPr vert="horz" lIns="91440" tIns="45720" rIns="91440" bIns="45720" rtlCol="0" anchor="ctr">
            <a:normAutofit/>
          </a:bodyPr>
          <a:lstStyle/>
          <a:p>
            <a:r>
              <a:rPr lang="zh-CN" altLang="en-US" sz="2800" dirty="0"/>
              <a:t>实证结果分析</a:t>
            </a:r>
          </a:p>
        </p:txBody>
      </p:sp>
      <p:sp>
        <p:nvSpPr>
          <p:cNvPr id="3" name="内容占位符 2">
            <a:extLst>
              <a:ext uri="{FF2B5EF4-FFF2-40B4-BE49-F238E27FC236}">
                <a16:creationId xmlns:a16="http://schemas.microsoft.com/office/drawing/2014/main" id="{9C890D10-5B3C-D8DA-67CE-4A987023F4A4}"/>
              </a:ext>
            </a:extLst>
          </p:cNvPr>
          <p:cNvSpPr>
            <a:spLocks noGrp="1"/>
          </p:cNvSpPr>
          <p:nvPr>
            <p:ph sz="half" idx="1"/>
          </p:nvPr>
        </p:nvSpPr>
        <p:spPr/>
        <p:txBody>
          <a:bodyPr>
            <a:normAutofit/>
          </a:bodyPr>
          <a:lstStyle/>
          <a:p>
            <a:pPr marL="0" indent="0">
              <a:buNone/>
            </a:pPr>
            <a:r>
              <a:rPr lang="zh-CN" altLang="en-US" sz="2400" dirty="0"/>
              <a:t>异质性分析</a:t>
            </a:r>
            <a:endParaRPr lang="en-US" altLang="zh-CN" sz="2400" dirty="0"/>
          </a:p>
          <a:p>
            <a:pPr lvl="1"/>
            <a:r>
              <a:rPr lang="zh-CN" altLang="en-US" sz="2000" dirty="0"/>
              <a:t>地区层面</a:t>
            </a:r>
            <a:endParaRPr lang="en-US" altLang="zh-CN" sz="2000" dirty="0"/>
          </a:p>
          <a:p>
            <a:pPr lvl="2"/>
            <a:r>
              <a:rPr lang="zh-CN" altLang="en-US" sz="1600" dirty="0"/>
              <a:t>不同地区的数字基础设施水平是支撑企业应用人工智能技术的关键。</a:t>
            </a:r>
          </a:p>
        </p:txBody>
      </p:sp>
      <mc:AlternateContent xmlns:mc="http://schemas.openxmlformats.org/markup-compatibility/2006" xmlns:a14="http://schemas.microsoft.com/office/drawing/2010/main">
        <mc:Choice Requires="a14">
          <p:graphicFrame>
            <p:nvGraphicFramePr>
              <p:cNvPr id="5" name="内容占位符 4">
                <a:extLst>
                  <a:ext uri="{FF2B5EF4-FFF2-40B4-BE49-F238E27FC236}">
                    <a16:creationId xmlns:a16="http://schemas.microsoft.com/office/drawing/2014/main" id="{869BC250-EE71-CD84-F154-9272EF5C720B}"/>
                  </a:ext>
                </a:extLst>
              </p:cNvPr>
              <p:cNvGraphicFramePr>
                <a:graphicFrameLocks noGrp="1"/>
              </p:cNvGraphicFramePr>
              <p:nvPr>
                <p:ph sz="half" idx="2"/>
                <p:extLst>
                  <p:ext uri="{D42A27DB-BD31-4B8C-83A1-F6EECF244321}">
                    <p14:modId xmlns:p14="http://schemas.microsoft.com/office/powerpoint/2010/main" val="2540519916"/>
                  </p:ext>
                </p:extLst>
              </p:nvPr>
            </p:nvGraphicFramePr>
            <p:xfrm>
              <a:off x="6172200" y="1825624"/>
              <a:ext cx="5181600" cy="3714210"/>
            </p:xfrm>
            <a:graphic>
              <a:graphicData uri="http://schemas.openxmlformats.org/drawingml/2006/table">
                <a:tbl>
                  <a:tblPr firstRow="1" firstCol="1" bandRow="1">
                    <a:tableStyleId>{5C22544A-7EE6-4342-B048-85BDC9FD1C3A}</a:tableStyleId>
                  </a:tblPr>
                  <a:tblGrid>
                    <a:gridCol w="1366906">
                      <a:extLst>
                        <a:ext uri="{9D8B030D-6E8A-4147-A177-3AD203B41FA5}">
                          <a16:colId xmlns:a16="http://schemas.microsoft.com/office/drawing/2014/main" val="1397583260"/>
                        </a:ext>
                      </a:extLst>
                    </a:gridCol>
                    <a:gridCol w="1366906">
                      <a:extLst>
                        <a:ext uri="{9D8B030D-6E8A-4147-A177-3AD203B41FA5}">
                          <a16:colId xmlns:a16="http://schemas.microsoft.com/office/drawing/2014/main" val="1029234969"/>
                        </a:ext>
                      </a:extLst>
                    </a:gridCol>
                    <a:gridCol w="1366906">
                      <a:extLst>
                        <a:ext uri="{9D8B030D-6E8A-4147-A177-3AD203B41FA5}">
                          <a16:colId xmlns:a16="http://schemas.microsoft.com/office/drawing/2014/main" val="1298982347"/>
                        </a:ext>
                      </a:extLst>
                    </a:gridCol>
                    <a:gridCol w="1080882">
                      <a:extLst>
                        <a:ext uri="{9D8B030D-6E8A-4147-A177-3AD203B41FA5}">
                          <a16:colId xmlns:a16="http://schemas.microsoft.com/office/drawing/2014/main" val="2444725799"/>
                        </a:ext>
                      </a:extLst>
                    </a:gridCol>
                  </a:tblGrid>
                  <a:tr h="314670">
                    <a:tc rowSpan="2">
                      <a:txBody>
                        <a:bodyPr/>
                        <a:lstStyle/>
                        <a:p>
                          <a:pPr indent="127000" algn="ctr">
                            <a:buNone/>
                          </a:pPr>
                          <a:r>
                            <a:rPr lang="zh-CN" sz="1100" kern="100" dirty="0">
                              <a:solidFill>
                                <a:schemeClr val="tx1"/>
                              </a:solidFill>
                              <a:effectLst/>
                            </a:rPr>
                            <a:t>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b="0" kern="100" dirty="0">
                              <a:solidFill>
                                <a:schemeClr val="tx1"/>
                              </a:solidFill>
                              <a:effectLst/>
                            </a:rPr>
                            <a:t>(1)</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b="0" kern="100" dirty="0">
                              <a:solidFill>
                                <a:schemeClr val="tx1"/>
                              </a:solidFill>
                              <a:effectLst/>
                            </a:rPr>
                            <a:t>(2)</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b="0" kern="100" dirty="0">
                              <a:solidFill>
                                <a:schemeClr val="tx1"/>
                              </a:solidFill>
                              <a:effectLst/>
                            </a:rPr>
                            <a:t>(3)</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917348938"/>
                      </a:ext>
                    </a:extLst>
                  </a:tr>
                  <a:tr h="164367">
                    <a:tc vMerge="1">
                      <a:txBody>
                        <a:bodyPr/>
                        <a:lstStyle/>
                        <a:p>
                          <a:endParaRPr lang="zh-CN" altLang="en-US"/>
                        </a:p>
                      </a:txBody>
                      <a:tcPr/>
                    </a:tc>
                    <a:tc>
                      <a:txBody>
                        <a:bodyPr/>
                        <a:lstStyle/>
                        <a:p>
                          <a:pPr indent="127000" algn="ctr">
                            <a:buNone/>
                          </a:pPr>
                          <a:r>
                            <a:rPr lang="zh-CN" sz="1100" kern="100" dirty="0">
                              <a:solidFill>
                                <a:schemeClr val="tx1"/>
                              </a:solidFill>
                              <a:effectLst/>
                            </a:rPr>
                            <a:t>东部</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dirty="0">
                              <a:solidFill>
                                <a:schemeClr val="tx1"/>
                              </a:solidFill>
                              <a:effectLst/>
                            </a:rPr>
                            <a:t>中部</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dirty="0">
                              <a:solidFill>
                                <a:schemeClr val="tx1"/>
                              </a:solidFill>
                              <a:effectLst/>
                            </a:rPr>
                            <a:t>西部</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4199457"/>
                      </a:ext>
                    </a:extLst>
                  </a:tr>
                  <a:tr h="461700">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𝐴</m:t>
                                </m:r>
                                <m:sSub>
                                  <m:sSubPr>
                                    <m:ctrlPr>
                                      <a:rPr lang="zh-CN" sz="1100" i="1" kern="100">
                                        <a:solidFill>
                                          <a:schemeClr val="tx1"/>
                                        </a:solidFill>
                                        <a:effectLst/>
                                        <a:latin typeface="Cambria Math" panose="02040503050406030204" pitchFamily="18" charset="0"/>
                                      </a:rPr>
                                    </m:ctrlPr>
                                  </m:sSubPr>
                                  <m:e>
                                    <m:r>
                                      <a:rPr lang="en-GB" sz="1100" kern="100">
                                        <a:solidFill>
                                          <a:schemeClr val="tx1"/>
                                        </a:solidFill>
                                        <a:effectLst/>
                                        <a:latin typeface="Cambria Math" panose="02040503050406030204" pitchFamily="18" charset="0"/>
                                      </a:rPr>
                                      <m:t>𝐼</m:t>
                                    </m:r>
                                  </m:e>
                                  <m:sub>
                                    <m:r>
                                      <a:rPr lang="en-GB" sz="1100" kern="100">
                                        <a:solidFill>
                                          <a:schemeClr val="tx1"/>
                                        </a:solidFill>
                                        <a:effectLst/>
                                        <a:latin typeface="Cambria Math" panose="02040503050406030204" pitchFamily="18" charset="0"/>
                                      </a:rPr>
                                      <m:t>𝑢𝑡𝑖𝑙𝑖𝑧𝑒</m:t>
                                    </m:r>
                                  </m:sub>
                                </m:sSub>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-0.0038***</a:t>
                          </a:r>
                          <a:endParaRPr lang="zh-CN" sz="14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-0.0010</a:t>
                          </a:r>
                          <a:endParaRPr lang="zh-CN" sz="14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-0.0015</a:t>
                          </a:r>
                          <a:endParaRPr lang="zh-CN" sz="14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27791713"/>
                      </a:ext>
                    </a:extLst>
                  </a:tr>
                  <a:tr h="461700">
                    <a:tc>
                      <a:txBody>
                        <a:bodyPr/>
                        <a:lstStyle/>
                        <a:p>
                          <a:pPr indent="127000" algn="ctr">
                            <a:buNone/>
                          </a:pPr>
                          <a:r>
                            <a:rPr lang="en-GB" sz="1100" kern="100">
                              <a:solidFill>
                                <a:schemeClr val="tx1"/>
                              </a:solidFill>
                              <a:effectLst/>
                            </a:rPr>
                            <a:t> </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(0.0008)</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(0.0017)</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(0.0022)</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564508044"/>
                      </a:ext>
                    </a:extLst>
                  </a:tr>
                  <a:tr h="461700">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𝐶𝑜𝑛𝑡𝑟𝑜𝑙</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239969045"/>
                      </a:ext>
                    </a:extLst>
                  </a:tr>
                  <a:tr h="461700">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𝑌𝑒𝑎𝑟</m:t>
                                </m:r>
                                <m:r>
                                  <a:rPr lang="en-GB" sz="1100" kern="100" smtClean="0">
                                    <a:solidFill>
                                      <a:schemeClr val="tx1"/>
                                    </a:solidFill>
                                    <a:effectLst/>
                                    <a:latin typeface="Cambria Math" panose="02040503050406030204" pitchFamily="18" charset="0"/>
                                  </a:rPr>
                                  <m:t> </m:t>
                                </m:r>
                                <m:r>
                                  <a:rPr lang="en-GB" sz="1100" kern="100" smtClean="0">
                                    <a:solidFill>
                                      <a:schemeClr val="tx1"/>
                                    </a:solidFill>
                                    <a:effectLst/>
                                    <a:latin typeface="Cambria Math" panose="02040503050406030204" pitchFamily="18" charset="0"/>
                                  </a:rPr>
                                  <m:t>𝐹𝐸</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551746679"/>
                      </a:ext>
                    </a:extLst>
                  </a:tr>
                  <a:tr h="461700">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𝐹𝑖𝑟𝑚</m:t>
                                </m:r>
                                <m:r>
                                  <a:rPr lang="en-GB" sz="1100" kern="100" smtClean="0">
                                    <a:solidFill>
                                      <a:schemeClr val="tx1"/>
                                    </a:solidFill>
                                    <a:effectLst/>
                                    <a:latin typeface="Cambria Math" panose="02040503050406030204" pitchFamily="18" charset="0"/>
                                  </a:rPr>
                                  <m:t> </m:t>
                                </m:r>
                                <m:r>
                                  <a:rPr lang="en-GB" sz="1100" kern="100" smtClean="0">
                                    <a:solidFill>
                                      <a:schemeClr val="tx1"/>
                                    </a:solidFill>
                                    <a:effectLst/>
                                    <a:latin typeface="Cambria Math" panose="02040503050406030204" pitchFamily="18" charset="0"/>
                                  </a:rPr>
                                  <m:t>𝐹𝐸</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2106051377"/>
                      </a:ext>
                    </a:extLst>
                  </a:tr>
                  <a:tr h="461700">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kern="100" smtClean="0">
                                    <a:solidFill>
                                      <a:schemeClr val="tx1"/>
                                    </a:solidFill>
                                    <a:effectLst/>
                                    <a:latin typeface="Cambria Math" panose="02040503050406030204" pitchFamily="18" charset="0"/>
                                  </a:rPr>
                                  <m:t>𝑂𝑏𝑠𝑒𝑟𝑣𝑎𝑡𝑖𝑜𝑛𝑠</m:t>
                                </m:r>
                              </m:oMath>
                            </m:oMathPara>
                          </a14:m>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28,389</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6,393</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5,104</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130417317"/>
                      </a:ext>
                    </a:extLst>
                  </a:tr>
                  <a:tr h="461700">
                    <a:tc>
                      <a:txBody>
                        <a:bodyPr/>
                        <a:lstStyle/>
                        <a:p>
                          <a:pPr indent="127000" algn="ctr">
                            <a:buNone/>
                          </a:pPr>
                          <a14:m>
                            <m:oMathPara xmlns:m="http://schemas.openxmlformats.org/officeDocument/2006/math">
                              <m:oMathParaPr>
                                <m:jc m:val="centerGroup"/>
                              </m:oMathParaPr>
                              <m:oMath xmlns:m="http://schemas.openxmlformats.org/officeDocument/2006/math">
                                <m:sSup>
                                  <m:sSupPr>
                                    <m:ctrlPr>
                                      <a:rPr lang="zh-CN" sz="1100" i="1" kern="0" smtClean="0">
                                        <a:solidFill>
                                          <a:schemeClr val="tx1"/>
                                        </a:solidFill>
                                        <a:effectLst/>
                                        <a:latin typeface="Cambria Math" panose="02040503050406030204" pitchFamily="18" charset="0"/>
                                      </a:rPr>
                                    </m:ctrlPr>
                                  </m:sSupPr>
                                  <m:e>
                                    <m:r>
                                      <a:rPr lang="en-GB" sz="1100" kern="0">
                                        <a:solidFill>
                                          <a:schemeClr val="tx1"/>
                                        </a:solidFill>
                                        <a:effectLst/>
                                        <a:latin typeface="Cambria Math" panose="02040503050406030204" pitchFamily="18" charset="0"/>
                                      </a:rPr>
                                      <m:t>𝑅</m:t>
                                    </m:r>
                                  </m:e>
                                  <m:sup>
                                    <m:r>
                                      <a:rPr lang="en-GB" sz="1100" kern="0">
                                        <a:solidFill>
                                          <a:schemeClr val="tx1"/>
                                        </a:solidFill>
                                        <a:effectLst/>
                                        <a:latin typeface="Cambria Math" panose="02040503050406030204" pitchFamily="18" charset="0"/>
                                      </a:rPr>
                                      <m:t>2</m:t>
                                    </m:r>
                                  </m:sup>
                                </m:sSup>
                                <m:r>
                                  <a:rPr lang="en-GB" sz="1100" kern="0">
                                    <a:solidFill>
                                      <a:schemeClr val="tx1"/>
                                    </a:solidFill>
                                    <a:effectLst/>
                                    <a:latin typeface="Cambria Math" panose="02040503050406030204" pitchFamily="18" charset="0"/>
                                  </a:rPr>
                                  <m:t>_</m:t>
                                </m:r>
                                <m:r>
                                  <a:rPr lang="en-GB" sz="1100" kern="0">
                                    <a:solidFill>
                                      <a:schemeClr val="tx1"/>
                                    </a:solidFill>
                                    <a:effectLst/>
                                    <a:latin typeface="Cambria Math" panose="02040503050406030204" pitchFamily="18" charset="0"/>
                                  </a:rPr>
                                  <m:t>𝑎𝑑𝑗𝑢𝑠𝑡𝑒𝑑</m:t>
                                </m:r>
                              </m:oMath>
                            </m:oMathPara>
                          </a14:m>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0.2042</a:t>
                          </a:r>
                          <a:endParaRPr lang="zh-CN" sz="14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0.2362</a:t>
                          </a:r>
                          <a:endParaRPr lang="zh-CN" sz="14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0.1635</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7251237"/>
                      </a:ext>
                    </a:extLst>
                  </a:tr>
                </a:tbl>
              </a:graphicData>
            </a:graphic>
          </p:graphicFrame>
        </mc:Choice>
        <mc:Fallback xmlns="">
          <p:graphicFrame>
            <p:nvGraphicFramePr>
              <p:cNvPr id="5" name="内容占位符 4">
                <a:extLst>
                  <a:ext uri="{FF2B5EF4-FFF2-40B4-BE49-F238E27FC236}">
                    <a16:creationId xmlns:a16="http://schemas.microsoft.com/office/drawing/2014/main" id="{869BC250-EE71-CD84-F154-9272EF5C720B}"/>
                  </a:ext>
                </a:extLst>
              </p:cNvPr>
              <p:cNvGraphicFramePr>
                <a:graphicFrameLocks noGrp="1"/>
              </p:cNvGraphicFramePr>
              <p:nvPr>
                <p:ph sz="half" idx="2"/>
                <p:extLst>
                  <p:ext uri="{D42A27DB-BD31-4B8C-83A1-F6EECF244321}">
                    <p14:modId xmlns:p14="http://schemas.microsoft.com/office/powerpoint/2010/main" val="2540519916"/>
                  </p:ext>
                </p:extLst>
              </p:nvPr>
            </p:nvGraphicFramePr>
            <p:xfrm>
              <a:off x="6172200" y="1825624"/>
              <a:ext cx="5181600" cy="3714210"/>
            </p:xfrm>
            <a:graphic>
              <a:graphicData uri="http://schemas.openxmlformats.org/drawingml/2006/table">
                <a:tbl>
                  <a:tblPr firstRow="1" firstCol="1" bandRow="1">
                    <a:tableStyleId>{5C22544A-7EE6-4342-B048-85BDC9FD1C3A}</a:tableStyleId>
                  </a:tblPr>
                  <a:tblGrid>
                    <a:gridCol w="1366906">
                      <a:extLst>
                        <a:ext uri="{9D8B030D-6E8A-4147-A177-3AD203B41FA5}">
                          <a16:colId xmlns:a16="http://schemas.microsoft.com/office/drawing/2014/main" val="1397583260"/>
                        </a:ext>
                      </a:extLst>
                    </a:gridCol>
                    <a:gridCol w="1366906">
                      <a:extLst>
                        <a:ext uri="{9D8B030D-6E8A-4147-A177-3AD203B41FA5}">
                          <a16:colId xmlns:a16="http://schemas.microsoft.com/office/drawing/2014/main" val="1029234969"/>
                        </a:ext>
                      </a:extLst>
                    </a:gridCol>
                    <a:gridCol w="1366906">
                      <a:extLst>
                        <a:ext uri="{9D8B030D-6E8A-4147-A177-3AD203B41FA5}">
                          <a16:colId xmlns:a16="http://schemas.microsoft.com/office/drawing/2014/main" val="1298982347"/>
                        </a:ext>
                      </a:extLst>
                    </a:gridCol>
                    <a:gridCol w="1080882">
                      <a:extLst>
                        <a:ext uri="{9D8B030D-6E8A-4147-A177-3AD203B41FA5}">
                          <a16:colId xmlns:a16="http://schemas.microsoft.com/office/drawing/2014/main" val="2444725799"/>
                        </a:ext>
                      </a:extLst>
                    </a:gridCol>
                  </a:tblGrid>
                  <a:tr h="314670">
                    <a:tc rowSpan="2">
                      <a:txBody>
                        <a:bodyPr/>
                        <a:lstStyle/>
                        <a:p>
                          <a:pPr indent="127000" algn="ctr">
                            <a:buNone/>
                          </a:pPr>
                          <a:r>
                            <a:rPr lang="zh-CN" sz="1100" kern="100" dirty="0">
                              <a:solidFill>
                                <a:schemeClr val="tx1"/>
                              </a:solidFill>
                              <a:effectLst/>
                            </a:rPr>
                            <a:t>变量</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b="0" kern="100" dirty="0">
                              <a:solidFill>
                                <a:schemeClr val="tx1"/>
                              </a:solidFill>
                              <a:effectLst/>
                            </a:rPr>
                            <a:t>(1)</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b="0" kern="100" dirty="0">
                              <a:solidFill>
                                <a:schemeClr val="tx1"/>
                              </a:solidFill>
                              <a:effectLst/>
                            </a:rPr>
                            <a:t>(2)</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tc>
                      <a:txBody>
                        <a:bodyPr/>
                        <a:lstStyle/>
                        <a:p>
                          <a:pPr indent="127000" algn="ctr">
                            <a:buNone/>
                          </a:pPr>
                          <a:r>
                            <a:rPr lang="en-GB" sz="1100" b="0" kern="100" dirty="0">
                              <a:solidFill>
                                <a:schemeClr val="tx1"/>
                              </a:solidFill>
                              <a:effectLst/>
                            </a:rPr>
                            <a:t>(3)</a:t>
                          </a:r>
                          <a:endParaRPr lang="zh-CN" sz="1100" b="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917348938"/>
                      </a:ext>
                    </a:extLst>
                  </a:tr>
                  <a:tr h="167640">
                    <a:tc vMerge="1">
                      <a:txBody>
                        <a:bodyPr/>
                        <a:lstStyle/>
                        <a:p>
                          <a:endParaRPr lang="zh-CN" altLang="en-US"/>
                        </a:p>
                      </a:txBody>
                      <a:tcPr/>
                    </a:tc>
                    <a:tc>
                      <a:txBody>
                        <a:bodyPr/>
                        <a:lstStyle/>
                        <a:p>
                          <a:pPr indent="127000" algn="ctr">
                            <a:buNone/>
                          </a:pPr>
                          <a:r>
                            <a:rPr lang="zh-CN" sz="1100" kern="100" dirty="0">
                              <a:solidFill>
                                <a:schemeClr val="tx1"/>
                              </a:solidFill>
                              <a:effectLst/>
                            </a:rPr>
                            <a:t>东部</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dirty="0">
                              <a:solidFill>
                                <a:schemeClr val="tx1"/>
                              </a:solidFill>
                              <a:effectLst/>
                            </a:rPr>
                            <a:t>中部</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B w="6350" cap="flat" cmpd="sng" algn="ctr">
                          <a:solidFill>
                            <a:schemeClr val="tx1"/>
                          </a:solidFill>
                          <a:prstDash val="solid"/>
                          <a:round/>
                          <a:headEnd type="none" w="med" len="med"/>
                          <a:tailEnd type="none" w="med" len="med"/>
                        </a:lnB>
                        <a:noFill/>
                      </a:tcPr>
                    </a:tc>
                    <a:tc>
                      <a:txBody>
                        <a:bodyPr/>
                        <a:lstStyle/>
                        <a:p>
                          <a:pPr indent="127000" algn="ctr">
                            <a:buNone/>
                          </a:pPr>
                          <a:r>
                            <a:rPr lang="zh-CN" sz="1100" kern="100" dirty="0">
                              <a:solidFill>
                                <a:schemeClr val="tx1"/>
                              </a:solidFill>
                              <a:effectLst/>
                            </a:rPr>
                            <a:t>西部</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23467" marR="23467" marT="0" marB="0" anchor="ctr">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4199457"/>
                      </a:ext>
                    </a:extLst>
                  </a:tr>
                  <a:tr h="461700">
                    <a:tc>
                      <a:txBody>
                        <a:bodyPr/>
                        <a:lstStyle/>
                        <a:p>
                          <a:endParaRPr lang="zh-CN"/>
                        </a:p>
                      </a:txBody>
                      <a:tcPr marL="23467" marR="23467" marT="0" marB="0" anchor="ctr">
                        <a:lnT w="6350" cap="flat" cmpd="sng" algn="ctr">
                          <a:solidFill>
                            <a:schemeClr val="tx1"/>
                          </a:solidFill>
                          <a:prstDash val="solid"/>
                          <a:round/>
                          <a:headEnd type="none" w="med" len="med"/>
                          <a:tailEnd type="none" w="med" len="med"/>
                        </a:lnT>
                        <a:blipFill>
                          <a:blip r:embed="rId2"/>
                          <a:stretch>
                            <a:fillRect l="-446" t="-105263" r="-281696" b="-601316"/>
                          </a:stretch>
                        </a:blip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-0.0038***</a:t>
                          </a:r>
                          <a:endParaRPr lang="zh-CN" sz="14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-0.0010</a:t>
                          </a:r>
                          <a:endParaRPr lang="zh-CN" sz="14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-0.0015</a:t>
                          </a:r>
                          <a:endParaRPr lang="zh-CN" sz="1400" kern="100">
                            <a:effectLst/>
                            <a:latin typeface="Times New Roman" panose="02020603050405020304" pitchFamily="18" charset="0"/>
                            <a:ea typeface="宋体" panose="02010600030101010101" pitchFamily="2" charset="-122"/>
                          </a:endParaRPr>
                        </a:p>
                      </a:txBody>
                      <a:tcPr marL="47625" marR="47625" marT="0" marB="0"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27791713"/>
                      </a:ext>
                    </a:extLst>
                  </a:tr>
                  <a:tr h="461700">
                    <a:tc>
                      <a:txBody>
                        <a:bodyPr/>
                        <a:lstStyle/>
                        <a:p>
                          <a:pPr indent="127000" algn="ctr">
                            <a:buNone/>
                          </a:pPr>
                          <a:r>
                            <a:rPr lang="en-GB" sz="1100" kern="100">
                              <a:solidFill>
                                <a:schemeClr val="tx1"/>
                              </a:solidFill>
                              <a:effectLst/>
                            </a:rPr>
                            <a:t> </a:t>
                          </a:r>
                          <a:endParaRPr lang="zh-CN" sz="1100" kern="100">
                            <a:solidFill>
                              <a:schemeClr val="tx1"/>
                            </a:solidFill>
                            <a:effectLst/>
                            <a:latin typeface="Times New Roman" panose="02020603050405020304" pitchFamily="18" charset="0"/>
                            <a:ea typeface="宋体" panose="02010600030101010101" pitchFamily="2" charset="-122"/>
                          </a:endParaRPr>
                        </a:p>
                      </a:txBody>
                      <a:tcPr marL="23467" marR="23467"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(0.0008)</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(0.0017)</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(0.0022)</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564508044"/>
                      </a:ext>
                    </a:extLst>
                  </a:tr>
                  <a:tr h="461700">
                    <a:tc>
                      <a:txBody>
                        <a:bodyPr/>
                        <a:lstStyle/>
                        <a:p>
                          <a:endParaRPr lang="zh-CN"/>
                        </a:p>
                      </a:txBody>
                      <a:tcPr marL="23467" marR="23467" marT="0" marB="0" anchor="ctr">
                        <a:blipFill>
                          <a:blip r:embed="rId2"/>
                          <a:stretch>
                            <a:fillRect l="-446" t="-305263" r="-281696" b="-401316"/>
                          </a:stretch>
                        </a:blip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239969045"/>
                      </a:ext>
                    </a:extLst>
                  </a:tr>
                  <a:tr h="461700">
                    <a:tc>
                      <a:txBody>
                        <a:bodyPr/>
                        <a:lstStyle/>
                        <a:p>
                          <a:endParaRPr lang="zh-CN"/>
                        </a:p>
                      </a:txBody>
                      <a:tcPr marL="23467" marR="23467" marT="0" marB="0" anchor="ctr">
                        <a:blipFill>
                          <a:blip r:embed="rId2"/>
                          <a:stretch>
                            <a:fillRect l="-446" t="-405263" r="-281696" b="-301316"/>
                          </a:stretch>
                        </a:blip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551746679"/>
                      </a:ext>
                    </a:extLst>
                  </a:tr>
                  <a:tr h="461700">
                    <a:tc>
                      <a:txBody>
                        <a:bodyPr/>
                        <a:lstStyle/>
                        <a:p>
                          <a:endParaRPr lang="zh-CN"/>
                        </a:p>
                      </a:txBody>
                      <a:tcPr marL="23467" marR="23467" marT="0" marB="0" anchor="ctr">
                        <a:blipFill>
                          <a:blip r:embed="rId2"/>
                          <a:stretch>
                            <a:fillRect l="-446" t="-512000" r="-281696" b="-205333"/>
                          </a:stretch>
                        </a:blip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100">
                              <a:effectLst/>
                              <a:latin typeface="Times New Roman" panose="02020603050405020304" pitchFamily="18" charset="0"/>
                              <a:ea typeface="宋体" panose="02010600030101010101" pitchFamily="2" charset="-122"/>
                            </a:rPr>
                            <a:t>Yes</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2106051377"/>
                      </a:ext>
                    </a:extLst>
                  </a:tr>
                  <a:tr h="461700">
                    <a:tc>
                      <a:txBody>
                        <a:bodyPr/>
                        <a:lstStyle/>
                        <a:p>
                          <a:endParaRPr lang="zh-CN"/>
                        </a:p>
                      </a:txBody>
                      <a:tcPr marL="23467" marR="23467" marT="0" marB="0" anchor="ctr">
                        <a:blipFill>
                          <a:blip r:embed="rId2"/>
                          <a:stretch>
                            <a:fillRect l="-446" t="-603947" r="-281696" b="-102632"/>
                          </a:stretch>
                        </a:blip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28,389</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6,393</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5,104</a:t>
                          </a:r>
                          <a:endParaRPr lang="zh-CN" sz="1400" kern="100">
                            <a:effectLst/>
                            <a:latin typeface="Times New Roman" panose="02020603050405020304" pitchFamily="18" charset="0"/>
                            <a:ea typeface="宋体" panose="02010600030101010101" pitchFamily="2" charset="-122"/>
                          </a:endParaRPr>
                        </a:p>
                      </a:txBody>
                      <a:tcPr marL="47625" marR="47625" marT="0" marB="0" anchor="ctr">
                        <a:noFill/>
                      </a:tcPr>
                    </a:tc>
                    <a:extLst>
                      <a:ext uri="{0D108BD9-81ED-4DB2-BD59-A6C34878D82A}">
                        <a16:rowId xmlns:a16="http://schemas.microsoft.com/office/drawing/2014/main" val="3130417317"/>
                      </a:ext>
                    </a:extLst>
                  </a:tr>
                  <a:tr h="461700">
                    <a:tc>
                      <a:txBody>
                        <a:bodyPr/>
                        <a:lstStyle/>
                        <a:p>
                          <a:endParaRPr lang="zh-CN"/>
                        </a:p>
                      </a:txBody>
                      <a:tcPr marL="23467" marR="23467" marT="0" marB="0" anchor="ctr">
                        <a:lnB w="12700" cap="flat" cmpd="sng" algn="ctr">
                          <a:solidFill>
                            <a:schemeClr val="tx1"/>
                          </a:solidFill>
                          <a:prstDash val="solid"/>
                          <a:round/>
                          <a:headEnd type="none" w="med" len="med"/>
                          <a:tailEnd type="none" w="med" len="med"/>
                        </a:lnB>
                        <a:blipFill>
                          <a:blip r:embed="rId2"/>
                          <a:stretch>
                            <a:fillRect l="-446" t="-703947" r="-281696" b="-2632"/>
                          </a:stretch>
                        </a:blip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0.2042</a:t>
                          </a:r>
                          <a:endParaRPr lang="zh-CN" sz="14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400" kern="0">
                              <a:effectLst/>
                              <a:latin typeface="Times New Roman" panose="02020603050405020304" pitchFamily="18" charset="0"/>
                              <a:ea typeface="宋体" panose="02010600030101010101" pitchFamily="2" charset="-122"/>
                            </a:rPr>
                            <a:t>0.2362</a:t>
                          </a:r>
                          <a:endParaRPr lang="zh-CN" sz="1400" kern="10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tc>
                      <a:txBody>
                        <a:bodyPr/>
                        <a:lstStyle/>
                        <a:p>
                          <a:pPr indent="127000" algn="ctr">
                            <a:buNone/>
                          </a:pPr>
                          <a:r>
                            <a:rPr lang="en-GB" sz="1400" kern="0" dirty="0">
                              <a:effectLst/>
                              <a:latin typeface="Times New Roman" panose="02020603050405020304" pitchFamily="18" charset="0"/>
                              <a:ea typeface="宋体" panose="02010600030101010101" pitchFamily="2" charset="-122"/>
                            </a:rPr>
                            <a:t>0.1635</a:t>
                          </a:r>
                          <a:endParaRPr lang="zh-CN" sz="1400" kern="100" dirty="0">
                            <a:effectLst/>
                            <a:latin typeface="Times New Roman" panose="02020603050405020304" pitchFamily="18" charset="0"/>
                            <a:ea typeface="宋体" panose="02010600030101010101" pitchFamily="2" charset="-122"/>
                          </a:endParaRPr>
                        </a:p>
                      </a:txBody>
                      <a:tcPr marL="47625" marR="47625"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7251237"/>
                      </a:ext>
                    </a:extLst>
                  </a:tr>
                </a:tbl>
              </a:graphicData>
            </a:graphic>
          </p:graphicFrame>
        </mc:Fallback>
      </mc:AlternateContent>
      <p:sp>
        <p:nvSpPr>
          <p:cNvPr id="4" name="文本框 3">
            <a:extLst>
              <a:ext uri="{FF2B5EF4-FFF2-40B4-BE49-F238E27FC236}">
                <a16:creationId xmlns:a16="http://schemas.microsoft.com/office/drawing/2014/main" id="{C892D346-9511-C73A-A646-0BCB92746A13}"/>
              </a:ext>
            </a:extLst>
          </p:cNvPr>
          <p:cNvSpPr txBox="1"/>
          <p:nvPr/>
        </p:nvSpPr>
        <p:spPr>
          <a:xfrm>
            <a:off x="8457681" y="1529772"/>
            <a:ext cx="1242648" cy="276999"/>
          </a:xfrm>
          <a:prstGeom prst="rect">
            <a:avLst/>
          </a:prstGeom>
          <a:noFill/>
        </p:spPr>
        <p:txBody>
          <a:bodyPr wrap="none" rtlCol="0">
            <a:spAutoFit/>
          </a:bodyPr>
          <a:lstStyle/>
          <a:p>
            <a:r>
              <a:rPr lang="zh-CN" altLang="en-US" sz="1200" b="1" dirty="0"/>
              <a:t>表</a:t>
            </a:r>
            <a:r>
              <a:rPr lang="en-US" altLang="zh-CN" sz="1200" b="1" dirty="0"/>
              <a:t>9 </a:t>
            </a:r>
            <a:r>
              <a:rPr lang="zh-CN" altLang="en-US" sz="1200" b="1" dirty="0"/>
              <a:t>企业异质性</a:t>
            </a:r>
          </a:p>
        </p:txBody>
      </p:sp>
    </p:spTree>
    <p:extLst>
      <p:ext uri="{BB962C8B-B14F-4D97-AF65-F5344CB8AC3E}">
        <p14:creationId xmlns:p14="http://schemas.microsoft.com/office/powerpoint/2010/main" val="1220409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864273-BD4A-5C2C-5A51-7DCF8A90D756}"/>
              </a:ext>
            </a:extLst>
          </p:cNvPr>
          <p:cNvSpPr>
            <a:spLocks noGrp="1"/>
          </p:cNvSpPr>
          <p:nvPr>
            <p:ph type="title"/>
          </p:nvPr>
        </p:nvSpPr>
        <p:spPr/>
        <p:txBody>
          <a:bodyPr>
            <a:normAutofit/>
          </a:bodyPr>
          <a:lstStyle/>
          <a:p>
            <a:r>
              <a:rPr lang="zh-CN" altLang="en-US" sz="2800" dirty="0"/>
              <a:t>进一步分析</a:t>
            </a:r>
          </a:p>
        </p:txBody>
      </p:sp>
      <p:sp>
        <p:nvSpPr>
          <p:cNvPr id="3" name="内容占位符 2">
            <a:extLst>
              <a:ext uri="{FF2B5EF4-FFF2-40B4-BE49-F238E27FC236}">
                <a16:creationId xmlns:a16="http://schemas.microsoft.com/office/drawing/2014/main" id="{7F8AB1B3-B272-60C4-B453-77DA59965C55}"/>
              </a:ext>
            </a:extLst>
          </p:cNvPr>
          <p:cNvSpPr>
            <a:spLocks noGrp="1"/>
          </p:cNvSpPr>
          <p:nvPr>
            <p:ph sz="half" idx="1"/>
          </p:nvPr>
        </p:nvSpPr>
        <p:spPr/>
        <p:txBody>
          <a:bodyPr/>
          <a:lstStyle/>
          <a:p>
            <a:pPr marL="0" indent="0">
              <a:buNone/>
            </a:pPr>
            <a:r>
              <a:rPr lang="zh-CN" altLang="en-US" sz="2400" dirty="0"/>
              <a:t>集聚网络视角下人工智能对企业投资效率的影响</a:t>
            </a:r>
            <a:endParaRPr lang="en-US" altLang="zh-CN" sz="2400" dirty="0"/>
          </a:p>
          <a:p>
            <a:pPr lvl="1"/>
            <a:r>
              <a:rPr lang="zh-CN" altLang="en-US" sz="2000" dirty="0"/>
              <a:t>处于集聚网络核心位置的企业更易观测其他企业应用人工智能的技术路径及其经济后果，减少应用成本与试错成本，显著提升投资效率。</a:t>
            </a:r>
            <a:endParaRPr lang="en-US" altLang="zh-CN" sz="2000" dirty="0"/>
          </a:p>
          <a:p>
            <a:pPr lvl="1"/>
            <a:r>
              <a:rPr lang="zh-CN" altLang="en-US" sz="2000" dirty="0"/>
              <a:t>陈运森和谢得仁（</a:t>
            </a:r>
            <a:r>
              <a:rPr lang="en-US" altLang="zh-CN" sz="2000" dirty="0"/>
              <a:t> 2011 </a:t>
            </a:r>
            <a:r>
              <a:rPr lang="zh-CN" altLang="en-US" sz="2000" dirty="0"/>
              <a:t>）</a:t>
            </a:r>
          </a:p>
          <a:p>
            <a:endParaRPr lang="zh-CN" altLang="en-US" dirty="0"/>
          </a:p>
        </p:txBody>
      </p:sp>
      <mc:AlternateContent xmlns:mc="http://schemas.openxmlformats.org/markup-compatibility/2006" xmlns:a14="http://schemas.microsoft.com/office/drawing/2010/main">
        <mc:Choice Requires="a14">
          <p:graphicFrame>
            <p:nvGraphicFramePr>
              <p:cNvPr id="6" name="内容占位符 5">
                <a:extLst>
                  <a:ext uri="{FF2B5EF4-FFF2-40B4-BE49-F238E27FC236}">
                    <a16:creationId xmlns:a16="http://schemas.microsoft.com/office/drawing/2014/main" id="{0ABCA7DA-4DF8-009B-6067-06FA0A4E9B1C}"/>
                  </a:ext>
                </a:extLst>
              </p:cNvPr>
              <p:cNvGraphicFramePr>
                <a:graphicFrameLocks noGrp="1"/>
              </p:cNvGraphicFramePr>
              <p:nvPr>
                <p:ph sz="half" idx="2"/>
                <p:extLst>
                  <p:ext uri="{D42A27DB-BD31-4B8C-83A1-F6EECF244321}">
                    <p14:modId xmlns:p14="http://schemas.microsoft.com/office/powerpoint/2010/main" val="3837726137"/>
                  </p:ext>
                </p:extLst>
              </p:nvPr>
            </p:nvGraphicFramePr>
            <p:xfrm>
              <a:off x="6172200" y="1690688"/>
              <a:ext cx="5181601" cy="4066305"/>
            </p:xfrm>
            <a:graphic>
              <a:graphicData uri="http://schemas.openxmlformats.org/drawingml/2006/table">
                <a:tbl>
                  <a:tblPr firstRow="1" firstCol="1" bandRow="1"/>
                  <a:tblGrid>
                    <a:gridCol w="1625986">
                      <a:extLst>
                        <a:ext uri="{9D8B030D-6E8A-4147-A177-3AD203B41FA5}">
                          <a16:colId xmlns:a16="http://schemas.microsoft.com/office/drawing/2014/main" val="3987894300"/>
                        </a:ext>
                      </a:extLst>
                    </a:gridCol>
                    <a:gridCol w="889163">
                      <a:extLst>
                        <a:ext uri="{9D8B030D-6E8A-4147-A177-3AD203B41FA5}">
                          <a16:colId xmlns:a16="http://schemas.microsoft.com/office/drawing/2014/main" val="2717936318"/>
                        </a:ext>
                      </a:extLst>
                    </a:gridCol>
                    <a:gridCol w="889163">
                      <a:extLst>
                        <a:ext uri="{9D8B030D-6E8A-4147-A177-3AD203B41FA5}">
                          <a16:colId xmlns:a16="http://schemas.microsoft.com/office/drawing/2014/main" val="941050674"/>
                        </a:ext>
                      </a:extLst>
                    </a:gridCol>
                    <a:gridCol w="889163">
                      <a:extLst>
                        <a:ext uri="{9D8B030D-6E8A-4147-A177-3AD203B41FA5}">
                          <a16:colId xmlns:a16="http://schemas.microsoft.com/office/drawing/2014/main" val="1921050727"/>
                        </a:ext>
                      </a:extLst>
                    </a:gridCol>
                    <a:gridCol w="888126">
                      <a:extLst>
                        <a:ext uri="{9D8B030D-6E8A-4147-A177-3AD203B41FA5}">
                          <a16:colId xmlns:a16="http://schemas.microsoft.com/office/drawing/2014/main" val="1336415411"/>
                        </a:ext>
                      </a:extLst>
                    </a:gridCol>
                  </a:tblGrid>
                  <a:tr h="271087">
                    <a:tc rowSpan="2">
                      <a:txBody>
                        <a:bodyPr/>
                        <a:lstStyle/>
                        <a:p>
                          <a:pPr indent="127000" algn="ctr">
                            <a:buNone/>
                          </a:pPr>
                          <a:r>
                            <a:rPr lang="zh-CN" sz="1100" kern="100">
                              <a:effectLst/>
                              <a:latin typeface="+mn-ea"/>
                              <a:ea typeface="+mn-ea"/>
                            </a:rPr>
                            <a:t>变量</a:t>
                          </a:r>
                        </a:p>
                      </a:txBody>
                      <a:tcPr marL="23467" marR="23467"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100">
                              <a:effectLst/>
                              <a:latin typeface="+mn-ea"/>
                              <a:ea typeface="+mn-ea"/>
                            </a:rPr>
                            <a:t>(1)</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(2)</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(3)</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(4)</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27599225"/>
                      </a:ext>
                    </a:extLst>
                  </a:tr>
                  <a:tr h="271087">
                    <a:tc vMerge="1">
                      <a:txBody>
                        <a:bodyPr/>
                        <a:lstStyle/>
                        <a:p>
                          <a:endParaRPr lang="zh-CN" altLang="en-US"/>
                        </a:p>
                      </a:txBody>
                      <a:tcPr/>
                    </a:tc>
                    <a:tc gridSpan="4">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0">
                                    <a:effectLst/>
                                    <a:latin typeface="Cambria Math" panose="02040503050406030204" pitchFamily="18" charset="0"/>
                                    <a:ea typeface="+mn-ea"/>
                                  </a:rPr>
                                  <m:t>𝐼𝑛𝑣</m:t>
                                </m:r>
                                <m:r>
                                  <a:rPr lang="en-GB" sz="1100" i="1" kern="0">
                                    <a:effectLst/>
                                    <a:latin typeface="Cambria Math" panose="02040503050406030204" pitchFamily="18" charset="0"/>
                                    <a:ea typeface="+mn-ea"/>
                                  </a:rPr>
                                  <m:t>_</m:t>
                                </m:r>
                                <m:r>
                                  <a:rPr lang="en-GB" sz="1100" i="1" kern="0">
                                    <a:effectLst/>
                                    <a:latin typeface="Cambria Math" panose="02040503050406030204" pitchFamily="18" charset="0"/>
                                    <a:ea typeface="+mn-ea"/>
                                  </a:rPr>
                                  <m:t>𝑒</m:t>
                                </m:r>
                              </m:oMath>
                            </m:oMathPara>
                          </a14:m>
                          <a:endParaRPr lang="zh-CN" sz="1100" kern="100">
                            <a:effectLst/>
                            <a:latin typeface="+mn-ea"/>
                            <a:ea typeface="+mn-ea"/>
                          </a:endParaRPr>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067856873"/>
                      </a:ext>
                    </a:extLst>
                  </a:tr>
                  <a:tr h="27108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𝐴</m:t>
                                </m:r>
                                <m:sSub>
                                  <m:sSubPr>
                                    <m:ctrlPr>
                                      <a:rPr lang="zh-CN" sz="1100" i="1" kern="100">
                                        <a:effectLst/>
                                        <a:latin typeface="Cambria Math" panose="02040503050406030204" pitchFamily="18" charset="0"/>
                                        <a:ea typeface="+mn-ea"/>
                                      </a:rPr>
                                    </m:ctrlPr>
                                  </m:sSubPr>
                                  <m:e>
                                    <m:r>
                                      <a:rPr lang="en-GB" sz="1100" i="1" kern="100">
                                        <a:effectLst/>
                                        <a:latin typeface="Cambria Math" panose="02040503050406030204" pitchFamily="18" charset="0"/>
                                        <a:ea typeface="+mn-ea"/>
                                      </a:rPr>
                                      <m:t>𝐼</m:t>
                                    </m:r>
                                  </m:e>
                                  <m:sub>
                                    <m:r>
                                      <a:rPr lang="en-GB" sz="1100" i="1" kern="100">
                                        <a:effectLst/>
                                        <a:latin typeface="Cambria Math" panose="02040503050406030204" pitchFamily="18" charset="0"/>
                                        <a:ea typeface="+mn-ea"/>
                                      </a:rPr>
                                      <m:t>𝑢𝑡𝑖𝑙𝑖𝑧𝑒</m:t>
                                    </m:r>
                                  </m:sub>
                                </m:sSub>
                                <m:r>
                                  <a:rPr lang="en-GB" sz="1100" i="1" kern="100">
                                    <a:effectLst/>
                                    <a:latin typeface="Cambria Math" panose="02040503050406030204" pitchFamily="18" charset="0"/>
                                    <a:ea typeface="+mn-ea"/>
                                  </a:rPr>
                                  <m:t>×</m:t>
                                </m:r>
                                <m:r>
                                  <a:rPr lang="en-GB" sz="1100" i="1" kern="100">
                                    <a:effectLst/>
                                    <a:latin typeface="Cambria Math" panose="02040503050406030204" pitchFamily="18" charset="0"/>
                                    <a:ea typeface="+mn-ea"/>
                                  </a:rPr>
                                  <m:t>𝐷𝑒𝑔𝑐𝑒𝑛𝑡𝑟𝑙</m:t>
                                </m:r>
                              </m:oMath>
                            </m:oMathPara>
                          </a14:m>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0">
                              <a:effectLst/>
                              <a:latin typeface="+mn-ea"/>
                              <a:ea typeface="+mn-ea"/>
                            </a:rPr>
                            <a:t>-0.0003***</a:t>
                          </a:r>
                          <a:endParaRPr lang="zh-CN" sz="1100" kern="100">
                            <a:effectLst/>
                            <a:latin typeface="+mn-ea"/>
                            <a:ea typeface="+mn-ea"/>
                          </a:endParaRPr>
                        </a:p>
                      </a:txBody>
                      <a:tcPr marL="23467" marR="23467"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85880670"/>
                      </a:ext>
                    </a:extLst>
                  </a:tr>
                  <a:tr h="271087">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0">
                              <a:effectLst/>
                              <a:latin typeface="+mn-ea"/>
                              <a:ea typeface="+mn-ea"/>
                            </a:rPr>
                            <a:t>(0.0001)</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875473031"/>
                      </a:ext>
                    </a:extLst>
                  </a:tr>
                  <a:tr h="27108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𝐴</m:t>
                                </m:r>
                                <m:sSub>
                                  <m:sSubPr>
                                    <m:ctrlPr>
                                      <a:rPr lang="zh-CN" sz="1100" i="1" kern="100">
                                        <a:effectLst/>
                                        <a:latin typeface="Cambria Math" panose="02040503050406030204" pitchFamily="18" charset="0"/>
                                        <a:ea typeface="+mn-ea"/>
                                      </a:rPr>
                                    </m:ctrlPr>
                                  </m:sSubPr>
                                  <m:e>
                                    <m:r>
                                      <a:rPr lang="en-GB" sz="1100" i="1" kern="100">
                                        <a:effectLst/>
                                        <a:latin typeface="Cambria Math" panose="02040503050406030204" pitchFamily="18" charset="0"/>
                                        <a:ea typeface="+mn-ea"/>
                                      </a:rPr>
                                      <m:t>𝐼</m:t>
                                    </m:r>
                                  </m:e>
                                  <m:sub>
                                    <m:r>
                                      <a:rPr lang="en-GB" sz="1100" i="1" kern="100">
                                        <a:effectLst/>
                                        <a:latin typeface="Cambria Math" panose="02040503050406030204" pitchFamily="18" charset="0"/>
                                        <a:ea typeface="+mn-ea"/>
                                      </a:rPr>
                                      <m:t>𝑢𝑡𝑖𝑙𝑖𝑧𝑒</m:t>
                                    </m:r>
                                  </m:sub>
                                </m:sSub>
                                <m:r>
                                  <a:rPr lang="en-GB" sz="1100" i="1" kern="100">
                                    <a:effectLst/>
                                    <a:latin typeface="Cambria Math" panose="02040503050406030204" pitchFamily="18" charset="0"/>
                                    <a:ea typeface="+mn-ea"/>
                                  </a:rPr>
                                  <m:t>×</m:t>
                                </m:r>
                                <m:r>
                                  <a:rPr lang="en-GB" sz="1100" i="1" kern="100">
                                    <a:effectLst/>
                                    <a:latin typeface="Cambria Math" panose="02040503050406030204" pitchFamily="18" charset="0"/>
                                    <a:ea typeface="+mn-ea"/>
                                  </a:rPr>
                                  <m:t>𝐶𝑙𝑜𝑐𝑒𝑛𝑡𝑟𝑙</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0">
                              <a:effectLst/>
                              <a:latin typeface="+mn-ea"/>
                              <a:ea typeface="+mn-ea"/>
                            </a:rPr>
                            <a:t>-0.0679***</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2035254114"/>
                      </a:ext>
                    </a:extLst>
                  </a:tr>
                  <a:tr h="271087">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0">
                              <a:effectLst/>
                              <a:latin typeface="+mn-ea"/>
                              <a:ea typeface="+mn-ea"/>
                            </a:rPr>
                            <a:t>(0.0123)</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1286791665"/>
                      </a:ext>
                    </a:extLst>
                  </a:tr>
                  <a:tr h="27108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𝐴</m:t>
                                </m:r>
                                <m:sSub>
                                  <m:sSubPr>
                                    <m:ctrlPr>
                                      <a:rPr lang="zh-CN" sz="1100" i="1" kern="100">
                                        <a:effectLst/>
                                        <a:latin typeface="Cambria Math" panose="02040503050406030204" pitchFamily="18" charset="0"/>
                                        <a:ea typeface="+mn-ea"/>
                                      </a:rPr>
                                    </m:ctrlPr>
                                  </m:sSubPr>
                                  <m:e>
                                    <m:r>
                                      <a:rPr lang="en-GB" sz="1100" i="1" kern="100">
                                        <a:effectLst/>
                                        <a:latin typeface="Cambria Math" panose="02040503050406030204" pitchFamily="18" charset="0"/>
                                        <a:ea typeface="+mn-ea"/>
                                      </a:rPr>
                                      <m:t>𝐼</m:t>
                                    </m:r>
                                  </m:e>
                                  <m:sub>
                                    <m:r>
                                      <a:rPr lang="en-GB" sz="1100" i="1" kern="100">
                                        <a:effectLst/>
                                        <a:latin typeface="Cambria Math" panose="02040503050406030204" pitchFamily="18" charset="0"/>
                                        <a:ea typeface="+mn-ea"/>
                                      </a:rPr>
                                      <m:t>𝑢𝑡𝑖𝑙𝑖𝑧𝑒</m:t>
                                    </m:r>
                                  </m:sub>
                                </m:sSub>
                                <m:r>
                                  <a:rPr lang="en-GB" sz="1100" i="1" kern="100">
                                    <a:effectLst/>
                                    <a:latin typeface="Cambria Math" panose="02040503050406030204" pitchFamily="18" charset="0"/>
                                    <a:ea typeface="+mn-ea"/>
                                  </a:rPr>
                                  <m:t>×</m:t>
                                </m:r>
                                <m:r>
                                  <a:rPr lang="en-GB" sz="1100" i="1" kern="100">
                                    <a:effectLst/>
                                    <a:latin typeface="Cambria Math" panose="02040503050406030204" pitchFamily="18" charset="0"/>
                                    <a:ea typeface="+mn-ea"/>
                                  </a:rPr>
                                  <m:t>𝐵𝑒𝑡𝑐𝑒𝑛𝑡𝑟𝑙</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-4.6627***</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2808193996"/>
                      </a:ext>
                    </a:extLst>
                  </a:tr>
                  <a:tr h="271087">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(1.4264)</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1940245504"/>
                      </a:ext>
                    </a:extLst>
                  </a:tr>
                  <a:tr h="27108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𝐴</m:t>
                                </m:r>
                                <m:sSub>
                                  <m:sSubPr>
                                    <m:ctrlPr>
                                      <a:rPr lang="zh-CN" sz="1100" i="1" kern="100">
                                        <a:effectLst/>
                                        <a:latin typeface="Cambria Math" panose="02040503050406030204" pitchFamily="18" charset="0"/>
                                        <a:ea typeface="+mn-ea"/>
                                      </a:rPr>
                                    </m:ctrlPr>
                                  </m:sSubPr>
                                  <m:e>
                                    <m:r>
                                      <a:rPr lang="en-GB" sz="1100" i="1" kern="100">
                                        <a:effectLst/>
                                        <a:latin typeface="Cambria Math" panose="02040503050406030204" pitchFamily="18" charset="0"/>
                                        <a:ea typeface="+mn-ea"/>
                                      </a:rPr>
                                      <m:t>𝐼</m:t>
                                    </m:r>
                                  </m:e>
                                  <m:sub>
                                    <m:r>
                                      <a:rPr lang="en-GB" sz="1100" i="1" kern="100">
                                        <a:effectLst/>
                                        <a:latin typeface="Cambria Math" panose="02040503050406030204" pitchFamily="18" charset="0"/>
                                        <a:ea typeface="+mn-ea"/>
                                      </a:rPr>
                                      <m:t>𝑢𝑡𝑖𝑙𝑖𝑧𝑒</m:t>
                                    </m:r>
                                  </m:sub>
                                </m:sSub>
                                <m:r>
                                  <a:rPr lang="en-GB" sz="1100" i="1" kern="100">
                                    <a:effectLst/>
                                    <a:latin typeface="Cambria Math" panose="02040503050406030204" pitchFamily="18" charset="0"/>
                                    <a:ea typeface="+mn-ea"/>
                                  </a:rPr>
                                  <m:t>×</m:t>
                                </m:r>
                                <m:r>
                                  <a:rPr lang="en-GB" sz="1100" i="1" kern="100">
                                    <a:effectLst/>
                                    <a:latin typeface="Cambria Math" panose="02040503050406030204" pitchFamily="18" charset="0"/>
                                    <a:ea typeface="+mn-ea"/>
                                  </a:rPr>
                                  <m:t>𝑆𝑡𝑟𝑢h𝑜𝑙𝑒𝑠</m:t>
                                </m:r>
                              </m:oMath>
                            </m:oMathPara>
                          </a14:m>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-0.0298***</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2343348546"/>
                      </a:ext>
                    </a:extLst>
                  </a:tr>
                  <a:tr h="271087">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(0.0052)</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80534380"/>
                      </a:ext>
                    </a:extLst>
                  </a:tr>
                  <a:tr h="27108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𝐶𝑜𝑛𝑡𝑟𝑜𝑙</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528686379"/>
                      </a:ext>
                    </a:extLst>
                  </a:tr>
                  <a:tr h="27108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𝑌𝑒𝑎𝑟</m:t>
                                </m:r>
                                <m:r>
                                  <a:rPr lang="en-GB" sz="1100" i="1" kern="100">
                                    <a:effectLst/>
                                    <a:latin typeface="Cambria Math" panose="02040503050406030204" pitchFamily="18" charset="0"/>
                                    <a:ea typeface="+mn-ea"/>
                                  </a:rPr>
                                  <m:t> </m:t>
                                </m:r>
                                <m:r>
                                  <a:rPr lang="en-GB" sz="1100" i="1" kern="100">
                                    <a:effectLst/>
                                    <a:latin typeface="Cambria Math" panose="02040503050406030204" pitchFamily="18" charset="0"/>
                                    <a:ea typeface="+mn-ea"/>
                                  </a:rPr>
                                  <m:t>𝐹𝐸</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498157375"/>
                      </a:ext>
                    </a:extLst>
                  </a:tr>
                  <a:tr h="27108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𝐹𝑖𝑟𝑚</m:t>
                                </m:r>
                                <m:r>
                                  <a:rPr lang="en-GB" sz="1100" i="1" kern="100">
                                    <a:effectLst/>
                                    <a:latin typeface="Cambria Math" panose="02040503050406030204" pitchFamily="18" charset="0"/>
                                    <a:ea typeface="+mn-ea"/>
                                  </a:rPr>
                                  <m:t> </m:t>
                                </m:r>
                                <m:r>
                                  <a:rPr lang="en-GB" sz="1100" i="1" kern="100">
                                    <a:effectLst/>
                                    <a:latin typeface="Cambria Math" panose="02040503050406030204" pitchFamily="18" charset="0"/>
                                    <a:ea typeface="+mn-ea"/>
                                  </a:rPr>
                                  <m:t>𝐹𝐸</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762898511"/>
                      </a:ext>
                    </a:extLst>
                  </a:tr>
                  <a:tr h="27108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𝑂𝑏𝑠𝑒𝑟𝑣𝑎𝑡𝑖𝑜𝑛𝑠</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0">
                              <a:effectLst/>
                              <a:latin typeface="+mn-ea"/>
                              <a:ea typeface="+mn-ea"/>
                            </a:rPr>
                            <a:t>23,908</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23,908</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23,908</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23,908</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435227542"/>
                      </a:ext>
                    </a:extLst>
                  </a:tr>
                  <a:tr h="271087">
                    <a:tc>
                      <a:txBody>
                        <a:bodyPr/>
                        <a:lstStyle/>
                        <a:p>
                          <a:pPr indent="127000" algn="ctr">
                            <a:buNone/>
                          </a:pPr>
                          <a14:m>
                            <m:oMathPara xmlns:m="http://schemas.openxmlformats.org/officeDocument/2006/math">
                              <m:oMathParaPr>
                                <m:jc m:val="centerGroup"/>
                              </m:oMathParaPr>
                              <m:oMath xmlns:m="http://schemas.openxmlformats.org/officeDocument/2006/math">
                                <m:sSup>
                                  <m:sSupPr>
                                    <m:ctrlPr>
                                      <a:rPr lang="zh-CN" sz="1100" i="1" kern="0">
                                        <a:effectLst/>
                                        <a:latin typeface="Cambria Math" panose="02040503050406030204" pitchFamily="18" charset="0"/>
                                        <a:ea typeface="+mn-ea"/>
                                      </a:rPr>
                                    </m:ctrlPr>
                                  </m:sSupPr>
                                  <m:e>
                                    <m:r>
                                      <a:rPr lang="en-GB" sz="1100" i="1" kern="0">
                                        <a:effectLst/>
                                        <a:latin typeface="Cambria Math" panose="02040503050406030204" pitchFamily="18" charset="0"/>
                                        <a:ea typeface="+mn-ea"/>
                                      </a:rPr>
                                      <m:t>𝑅</m:t>
                                    </m:r>
                                  </m:e>
                                  <m:sup>
                                    <m:r>
                                      <a:rPr lang="en-GB" sz="1100" i="1" kern="0">
                                        <a:effectLst/>
                                        <a:latin typeface="Cambria Math" panose="02040503050406030204" pitchFamily="18" charset="0"/>
                                        <a:ea typeface="+mn-ea"/>
                                      </a:rPr>
                                      <m:t>2</m:t>
                                    </m:r>
                                  </m:sup>
                                </m:sSup>
                                <m:r>
                                  <a:rPr lang="en-GB" sz="1100" i="1" kern="0">
                                    <a:effectLst/>
                                    <a:latin typeface="Cambria Math" panose="02040503050406030204" pitchFamily="18" charset="0"/>
                                    <a:ea typeface="+mn-ea"/>
                                    <a:cs typeface="Cambria Math" panose="02040503050406030204" pitchFamily="18" charset="0"/>
                                  </a:rPr>
                                  <m:t>_</m:t>
                                </m:r>
                                <m:r>
                                  <a:rPr lang="en-GB" sz="1100" i="1" kern="0">
                                    <a:effectLst/>
                                    <a:latin typeface="Cambria Math" panose="02040503050406030204" pitchFamily="18" charset="0"/>
                                    <a:ea typeface="+mn-ea"/>
                                    <a:cs typeface="Cambria Math" panose="02040503050406030204" pitchFamily="18" charset="0"/>
                                  </a:rPr>
                                  <m:t>𝑎𝑑𝑗𝑢𝑠𝑡𝑒𝑑</m:t>
                                </m:r>
                              </m:oMath>
                            </m:oMathPara>
                          </a14:m>
                          <a:endParaRPr lang="zh-CN" sz="1100" kern="100">
                            <a:effectLst/>
                            <a:latin typeface="+mn-ea"/>
                            <a:ea typeface="+mn-ea"/>
                          </a:endParaRPr>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0">
                              <a:effectLst/>
                              <a:latin typeface="+mn-ea"/>
                              <a:ea typeface="+mn-ea"/>
                            </a:rPr>
                            <a:t>0.2273</a:t>
                          </a:r>
                          <a:endParaRPr lang="zh-CN" sz="1100" kern="100">
                            <a:effectLst/>
                            <a:latin typeface="+mn-ea"/>
                            <a:ea typeface="+mn-ea"/>
                          </a:endParaRPr>
                        </a:p>
                      </a:txBody>
                      <a:tcPr marL="23467" marR="23467"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0">
                              <a:effectLst/>
                              <a:latin typeface="+mn-ea"/>
                              <a:ea typeface="+mn-ea"/>
                            </a:rPr>
                            <a:t>0.2276</a:t>
                          </a:r>
                          <a:endParaRPr lang="zh-CN" sz="1100" kern="100">
                            <a:effectLst/>
                            <a:latin typeface="+mn-ea"/>
                            <a:ea typeface="+mn-ea"/>
                          </a:endParaRPr>
                        </a:p>
                      </a:txBody>
                      <a:tcPr marL="23467" marR="23467"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0">
                              <a:effectLst/>
                              <a:latin typeface="+mn-ea"/>
                              <a:ea typeface="+mn-ea"/>
                            </a:rPr>
                            <a:t>0.2266</a:t>
                          </a:r>
                          <a:endParaRPr lang="zh-CN" sz="1100" kern="100">
                            <a:effectLst/>
                            <a:latin typeface="+mn-ea"/>
                            <a:ea typeface="+mn-ea"/>
                          </a:endParaRPr>
                        </a:p>
                      </a:txBody>
                      <a:tcPr marL="23467" marR="23467"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0" dirty="0">
                              <a:effectLst/>
                              <a:latin typeface="+mn-ea"/>
                              <a:ea typeface="+mn-ea"/>
                            </a:rPr>
                            <a:t>0.2275</a:t>
                          </a:r>
                          <a:endParaRPr lang="zh-CN" sz="1100" kern="100" dirty="0">
                            <a:effectLst/>
                            <a:latin typeface="+mn-ea"/>
                            <a:ea typeface="+mn-ea"/>
                          </a:endParaRPr>
                        </a:p>
                      </a:txBody>
                      <a:tcPr marL="23467" marR="23467"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7625839"/>
                      </a:ext>
                    </a:extLst>
                  </a:tr>
                </a:tbl>
              </a:graphicData>
            </a:graphic>
          </p:graphicFrame>
        </mc:Choice>
        <mc:Fallback xmlns="">
          <p:graphicFrame>
            <p:nvGraphicFramePr>
              <p:cNvPr id="6" name="内容占位符 5">
                <a:extLst>
                  <a:ext uri="{FF2B5EF4-FFF2-40B4-BE49-F238E27FC236}">
                    <a16:creationId xmlns:a16="http://schemas.microsoft.com/office/drawing/2014/main" id="{0ABCA7DA-4DF8-009B-6067-06FA0A4E9B1C}"/>
                  </a:ext>
                </a:extLst>
              </p:cNvPr>
              <p:cNvGraphicFramePr>
                <a:graphicFrameLocks noGrp="1"/>
              </p:cNvGraphicFramePr>
              <p:nvPr>
                <p:ph sz="half" idx="2"/>
                <p:extLst>
                  <p:ext uri="{D42A27DB-BD31-4B8C-83A1-F6EECF244321}">
                    <p14:modId xmlns:p14="http://schemas.microsoft.com/office/powerpoint/2010/main" val="3837726137"/>
                  </p:ext>
                </p:extLst>
              </p:nvPr>
            </p:nvGraphicFramePr>
            <p:xfrm>
              <a:off x="6172200" y="1690688"/>
              <a:ext cx="5181601" cy="4066305"/>
            </p:xfrm>
            <a:graphic>
              <a:graphicData uri="http://schemas.openxmlformats.org/drawingml/2006/table">
                <a:tbl>
                  <a:tblPr firstRow="1" firstCol="1" bandRow="1"/>
                  <a:tblGrid>
                    <a:gridCol w="1625986">
                      <a:extLst>
                        <a:ext uri="{9D8B030D-6E8A-4147-A177-3AD203B41FA5}">
                          <a16:colId xmlns:a16="http://schemas.microsoft.com/office/drawing/2014/main" val="3987894300"/>
                        </a:ext>
                      </a:extLst>
                    </a:gridCol>
                    <a:gridCol w="889163">
                      <a:extLst>
                        <a:ext uri="{9D8B030D-6E8A-4147-A177-3AD203B41FA5}">
                          <a16:colId xmlns:a16="http://schemas.microsoft.com/office/drawing/2014/main" val="2717936318"/>
                        </a:ext>
                      </a:extLst>
                    </a:gridCol>
                    <a:gridCol w="889163">
                      <a:extLst>
                        <a:ext uri="{9D8B030D-6E8A-4147-A177-3AD203B41FA5}">
                          <a16:colId xmlns:a16="http://schemas.microsoft.com/office/drawing/2014/main" val="941050674"/>
                        </a:ext>
                      </a:extLst>
                    </a:gridCol>
                    <a:gridCol w="889163">
                      <a:extLst>
                        <a:ext uri="{9D8B030D-6E8A-4147-A177-3AD203B41FA5}">
                          <a16:colId xmlns:a16="http://schemas.microsoft.com/office/drawing/2014/main" val="1921050727"/>
                        </a:ext>
                      </a:extLst>
                    </a:gridCol>
                    <a:gridCol w="888126">
                      <a:extLst>
                        <a:ext uri="{9D8B030D-6E8A-4147-A177-3AD203B41FA5}">
                          <a16:colId xmlns:a16="http://schemas.microsoft.com/office/drawing/2014/main" val="1336415411"/>
                        </a:ext>
                      </a:extLst>
                    </a:gridCol>
                  </a:tblGrid>
                  <a:tr h="271087">
                    <a:tc rowSpan="2">
                      <a:txBody>
                        <a:bodyPr/>
                        <a:lstStyle/>
                        <a:p>
                          <a:pPr indent="127000" algn="ctr">
                            <a:buNone/>
                          </a:pPr>
                          <a:r>
                            <a:rPr lang="zh-CN" sz="1100" kern="100">
                              <a:effectLst/>
                              <a:latin typeface="+mn-ea"/>
                              <a:ea typeface="+mn-ea"/>
                            </a:rPr>
                            <a:t>变量</a:t>
                          </a:r>
                        </a:p>
                      </a:txBody>
                      <a:tcPr marL="23467" marR="23467"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100">
                              <a:effectLst/>
                              <a:latin typeface="+mn-ea"/>
                              <a:ea typeface="+mn-ea"/>
                            </a:rPr>
                            <a:t>(1)</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(2)</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(3)</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(4)</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27599225"/>
                      </a:ext>
                    </a:extLst>
                  </a:tr>
                  <a:tr h="271087">
                    <a:tc vMerge="1">
                      <a:txBody>
                        <a:bodyPr/>
                        <a:lstStyle/>
                        <a:p>
                          <a:endParaRPr lang="zh-CN" altLang="en-US"/>
                        </a:p>
                      </a:txBody>
                      <a:tcPr/>
                    </a:tc>
                    <a:tc gridSpan="4">
                      <a:txBody>
                        <a:bodyPr/>
                        <a:lstStyle/>
                        <a:p>
                          <a:endParaRPr lang="zh-CN"/>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blipFill>
                          <a:blip r:embed="rId2"/>
                          <a:stretch>
                            <a:fillRect l="-45719" t="-104545" r="-171" b="-1320455"/>
                          </a:stretch>
                        </a:blip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067856873"/>
                      </a:ext>
                    </a:extLst>
                  </a:tr>
                  <a:tr h="271087">
                    <a:tc>
                      <a:txBody>
                        <a:bodyPr/>
                        <a:lstStyle/>
                        <a:p>
                          <a:endParaRPr lang="zh-CN"/>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blipFill>
                          <a:blip r:embed="rId2"/>
                          <a:stretch>
                            <a:fillRect t="-200000" r="-219101" b="-1191111"/>
                          </a:stretch>
                        </a:blipFill>
                      </a:tcPr>
                    </a:tc>
                    <a:tc>
                      <a:txBody>
                        <a:bodyPr/>
                        <a:lstStyle/>
                        <a:p>
                          <a:pPr indent="127000" algn="ctr">
                            <a:buNone/>
                          </a:pPr>
                          <a:r>
                            <a:rPr lang="en-GB" sz="1100" kern="0">
                              <a:effectLst/>
                              <a:latin typeface="+mn-ea"/>
                              <a:ea typeface="+mn-ea"/>
                            </a:rPr>
                            <a:t>-0.0003***</a:t>
                          </a:r>
                          <a:endParaRPr lang="zh-CN" sz="1100" kern="100">
                            <a:effectLst/>
                            <a:latin typeface="+mn-ea"/>
                            <a:ea typeface="+mn-ea"/>
                          </a:endParaRPr>
                        </a:p>
                      </a:txBody>
                      <a:tcPr marL="23467" marR="23467"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85880670"/>
                      </a:ext>
                    </a:extLst>
                  </a:tr>
                  <a:tr h="271087">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0">
                              <a:effectLst/>
                              <a:latin typeface="+mn-ea"/>
                              <a:ea typeface="+mn-ea"/>
                            </a:rPr>
                            <a:t>(0.0001)</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875473031"/>
                      </a:ext>
                    </a:extLst>
                  </a:tr>
                  <a:tr h="271087">
                    <a:tc>
                      <a:txBody>
                        <a:bodyPr/>
                        <a:lstStyle/>
                        <a:p>
                          <a:endParaRPr lang="zh-CN"/>
                        </a:p>
                      </a:txBody>
                      <a:tcPr marL="23467" marR="23467" marT="0" marB="0" anchor="ctr">
                        <a:lnL>
                          <a:noFill/>
                        </a:lnL>
                        <a:lnR>
                          <a:noFill/>
                        </a:lnR>
                        <a:lnT>
                          <a:noFill/>
                        </a:lnT>
                        <a:lnB>
                          <a:noFill/>
                        </a:lnB>
                        <a:blipFill>
                          <a:blip r:embed="rId2"/>
                          <a:stretch>
                            <a:fillRect t="-397778" r="-219101" b="-993333"/>
                          </a:stretch>
                        </a:blip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0">
                              <a:effectLst/>
                              <a:latin typeface="+mn-ea"/>
                              <a:ea typeface="+mn-ea"/>
                            </a:rPr>
                            <a:t>-0.0679***</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2035254114"/>
                      </a:ext>
                    </a:extLst>
                  </a:tr>
                  <a:tr h="271087">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0">
                              <a:effectLst/>
                              <a:latin typeface="+mn-ea"/>
                              <a:ea typeface="+mn-ea"/>
                            </a:rPr>
                            <a:t>(0.0123)</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1286791665"/>
                      </a:ext>
                    </a:extLst>
                  </a:tr>
                  <a:tr h="271087">
                    <a:tc>
                      <a:txBody>
                        <a:bodyPr/>
                        <a:lstStyle/>
                        <a:p>
                          <a:endParaRPr lang="zh-CN"/>
                        </a:p>
                      </a:txBody>
                      <a:tcPr marL="23467" marR="23467" marT="0" marB="0" anchor="ctr">
                        <a:lnL>
                          <a:noFill/>
                        </a:lnL>
                        <a:lnR>
                          <a:noFill/>
                        </a:lnR>
                        <a:lnT>
                          <a:noFill/>
                        </a:lnT>
                        <a:lnB>
                          <a:noFill/>
                        </a:lnB>
                        <a:blipFill>
                          <a:blip r:embed="rId2"/>
                          <a:stretch>
                            <a:fillRect t="-595556" r="-219101" b="-795556"/>
                          </a:stretch>
                        </a:blip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-4.6627***</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2808193996"/>
                      </a:ext>
                    </a:extLst>
                  </a:tr>
                  <a:tr h="271087">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(1.4264)</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1940245504"/>
                      </a:ext>
                    </a:extLst>
                  </a:tr>
                  <a:tr h="271087">
                    <a:tc>
                      <a:txBody>
                        <a:bodyPr/>
                        <a:lstStyle/>
                        <a:p>
                          <a:endParaRPr lang="zh-CN"/>
                        </a:p>
                      </a:txBody>
                      <a:tcPr marL="23467" marR="23467" marT="0" marB="0" anchor="ctr">
                        <a:lnL>
                          <a:noFill/>
                        </a:lnL>
                        <a:lnR>
                          <a:noFill/>
                        </a:lnR>
                        <a:lnT>
                          <a:noFill/>
                        </a:lnT>
                        <a:lnB>
                          <a:noFill/>
                        </a:lnB>
                        <a:blipFill>
                          <a:blip r:embed="rId2"/>
                          <a:stretch>
                            <a:fillRect t="-793333" r="-219101" b="-597778"/>
                          </a:stretch>
                        </a:blip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-0.0298***</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2343348546"/>
                      </a:ext>
                    </a:extLst>
                  </a:tr>
                  <a:tr h="271087">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(0.0052)</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80534380"/>
                      </a:ext>
                    </a:extLst>
                  </a:tr>
                  <a:tr h="271087">
                    <a:tc>
                      <a:txBody>
                        <a:bodyPr/>
                        <a:lstStyle/>
                        <a:p>
                          <a:endParaRPr lang="zh-CN"/>
                        </a:p>
                      </a:txBody>
                      <a:tcPr marL="23467" marR="23467" marT="0" marB="0" anchor="ctr">
                        <a:lnL>
                          <a:noFill/>
                        </a:lnL>
                        <a:lnR>
                          <a:noFill/>
                        </a:lnR>
                        <a:lnT>
                          <a:noFill/>
                        </a:lnT>
                        <a:lnB>
                          <a:noFill/>
                        </a:lnB>
                        <a:blipFill>
                          <a:blip r:embed="rId2"/>
                          <a:stretch>
                            <a:fillRect t="-991111" r="-219101" b="-400000"/>
                          </a:stretch>
                        </a:blip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528686379"/>
                      </a:ext>
                    </a:extLst>
                  </a:tr>
                  <a:tr h="271087">
                    <a:tc>
                      <a:txBody>
                        <a:bodyPr/>
                        <a:lstStyle/>
                        <a:p>
                          <a:endParaRPr lang="zh-CN"/>
                        </a:p>
                      </a:txBody>
                      <a:tcPr marL="23467" marR="23467" marT="0" marB="0" anchor="ctr">
                        <a:lnL>
                          <a:noFill/>
                        </a:lnL>
                        <a:lnR>
                          <a:noFill/>
                        </a:lnR>
                        <a:lnT>
                          <a:noFill/>
                        </a:lnT>
                        <a:lnB>
                          <a:noFill/>
                        </a:lnB>
                        <a:blipFill>
                          <a:blip r:embed="rId2"/>
                          <a:stretch>
                            <a:fillRect t="-1115909" r="-219101" b="-309091"/>
                          </a:stretch>
                        </a:blip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498157375"/>
                      </a:ext>
                    </a:extLst>
                  </a:tr>
                  <a:tr h="271087">
                    <a:tc>
                      <a:txBody>
                        <a:bodyPr/>
                        <a:lstStyle/>
                        <a:p>
                          <a:endParaRPr lang="zh-CN"/>
                        </a:p>
                      </a:txBody>
                      <a:tcPr marL="23467" marR="23467" marT="0" marB="0" anchor="ctr">
                        <a:lnL>
                          <a:noFill/>
                        </a:lnL>
                        <a:lnR>
                          <a:noFill/>
                        </a:lnR>
                        <a:lnT>
                          <a:noFill/>
                        </a:lnT>
                        <a:lnB>
                          <a:noFill/>
                        </a:lnB>
                        <a:blipFill>
                          <a:blip r:embed="rId2"/>
                          <a:stretch>
                            <a:fillRect t="-1188889" r="-219101" b="-202222"/>
                          </a:stretch>
                        </a:blip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762898511"/>
                      </a:ext>
                    </a:extLst>
                  </a:tr>
                  <a:tr h="271087">
                    <a:tc>
                      <a:txBody>
                        <a:bodyPr/>
                        <a:lstStyle/>
                        <a:p>
                          <a:endParaRPr lang="zh-CN"/>
                        </a:p>
                      </a:txBody>
                      <a:tcPr marL="23467" marR="23467" marT="0" marB="0" anchor="ctr">
                        <a:lnL>
                          <a:noFill/>
                        </a:lnL>
                        <a:lnR>
                          <a:noFill/>
                        </a:lnR>
                        <a:lnT>
                          <a:noFill/>
                        </a:lnT>
                        <a:lnB>
                          <a:noFill/>
                        </a:lnB>
                        <a:blipFill>
                          <a:blip r:embed="rId2"/>
                          <a:stretch>
                            <a:fillRect t="-1318182" r="-219101" b="-106818"/>
                          </a:stretch>
                        </a:blipFill>
                      </a:tcPr>
                    </a:tc>
                    <a:tc>
                      <a:txBody>
                        <a:bodyPr/>
                        <a:lstStyle/>
                        <a:p>
                          <a:pPr indent="127000" algn="ctr">
                            <a:buNone/>
                          </a:pPr>
                          <a:r>
                            <a:rPr lang="en-GB" sz="1100" kern="0">
                              <a:effectLst/>
                              <a:latin typeface="+mn-ea"/>
                              <a:ea typeface="+mn-ea"/>
                            </a:rPr>
                            <a:t>23,908</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23,908</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23,908</a:t>
                          </a:r>
                          <a:endParaRPr lang="zh-CN" sz="1100" kern="100">
                            <a:effectLst/>
                            <a:latin typeface="+mn-ea"/>
                            <a:ea typeface="+mn-ea"/>
                          </a:endParaRPr>
                        </a:p>
                      </a:txBody>
                      <a:tcPr marL="23467" marR="23467" marT="0" marB="0">
                        <a:lnL>
                          <a:noFill/>
                        </a:lnL>
                        <a:lnR>
                          <a:noFill/>
                        </a:lnR>
                        <a:lnT>
                          <a:noFill/>
                        </a:lnT>
                        <a:lnB>
                          <a:noFill/>
                        </a:lnB>
                        <a:noFill/>
                      </a:tcPr>
                    </a:tc>
                    <a:tc>
                      <a:txBody>
                        <a:bodyPr/>
                        <a:lstStyle/>
                        <a:p>
                          <a:pPr indent="127000" algn="ctr">
                            <a:buNone/>
                          </a:pPr>
                          <a:r>
                            <a:rPr lang="en-GB" sz="1100" kern="0">
                              <a:effectLst/>
                              <a:latin typeface="+mn-ea"/>
                              <a:ea typeface="+mn-ea"/>
                            </a:rPr>
                            <a:t>23,908</a:t>
                          </a:r>
                          <a:endParaRPr lang="zh-CN" sz="1100" kern="100">
                            <a:effectLst/>
                            <a:latin typeface="+mn-ea"/>
                            <a:ea typeface="+mn-ea"/>
                          </a:endParaRPr>
                        </a:p>
                      </a:txBody>
                      <a:tcPr marL="23467" marR="23467" marT="0" marB="0">
                        <a:lnL>
                          <a:noFill/>
                        </a:lnL>
                        <a:lnR>
                          <a:noFill/>
                        </a:lnR>
                        <a:lnT>
                          <a:noFill/>
                        </a:lnT>
                        <a:lnB>
                          <a:noFill/>
                        </a:lnB>
                        <a:noFill/>
                      </a:tcPr>
                    </a:tc>
                    <a:extLst>
                      <a:ext uri="{0D108BD9-81ED-4DB2-BD59-A6C34878D82A}">
                        <a16:rowId xmlns:a16="http://schemas.microsoft.com/office/drawing/2014/main" val="435227542"/>
                      </a:ext>
                    </a:extLst>
                  </a:tr>
                  <a:tr h="271087">
                    <a:tc>
                      <a:txBody>
                        <a:bodyPr/>
                        <a:lstStyle/>
                        <a:p>
                          <a:endParaRPr lang="zh-CN"/>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blipFill>
                          <a:blip r:embed="rId2"/>
                          <a:stretch>
                            <a:fillRect t="-1386667" r="-219101" b="-4444"/>
                          </a:stretch>
                        </a:blipFill>
                      </a:tcPr>
                    </a:tc>
                    <a:tc>
                      <a:txBody>
                        <a:bodyPr/>
                        <a:lstStyle/>
                        <a:p>
                          <a:pPr indent="127000" algn="ctr">
                            <a:buNone/>
                          </a:pPr>
                          <a:r>
                            <a:rPr lang="en-GB" sz="1100" kern="0">
                              <a:effectLst/>
                              <a:latin typeface="+mn-ea"/>
                              <a:ea typeface="+mn-ea"/>
                            </a:rPr>
                            <a:t>0.2273</a:t>
                          </a:r>
                          <a:endParaRPr lang="zh-CN" sz="1100" kern="100">
                            <a:effectLst/>
                            <a:latin typeface="+mn-ea"/>
                            <a:ea typeface="+mn-ea"/>
                          </a:endParaRPr>
                        </a:p>
                      </a:txBody>
                      <a:tcPr marL="23467" marR="23467"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0">
                              <a:effectLst/>
                              <a:latin typeface="+mn-ea"/>
                              <a:ea typeface="+mn-ea"/>
                            </a:rPr>
                            <a:t>0.2276</a:t>
                          </a:r>
                          <a:endParaRPr lang="zh-CN" sz="1100" kern="100">
                            <a:effectLst/>
                            <a:latin typeface="+mn-ea"/>
                            <a:ea typeface="+mn-ea"/>
                          </a:endParaRPr>
                        </a:p>
                      </a:txBody>
                      <a:tcPr marL="23467" marR="23467"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0">
                              <a:effectLst/>
                              <a:latin typeface="+mn-ea"/>
                              <a:ea typeface="+mn-ea"/>
                            </a:rPr>
                            <a:t>0.2266</a:t>
                          </a:r>
                          <a:endParaRPr lang="zh-CN" sz="1100" kern="100">
                            <a:effectLst/>
                            <a:latin typeface="+mn-ea"/>
                            <a:ea typeface="+mn-ea"/>
                          </a:endParaRPr>
                        </a:p>
                      </a:txBody>
                      <a:tcPr marL="23467" marR="23467"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a:buNone/>
                          </a:pPr>
                          <a:r>
                            <a:rPr lang="en-GB" sz="1100" kern="0" dirty="0">
                              <a:effectLst/>
                              <a:latin typeface="+mn-ea"/>
                              <a:ea typeface="+mn-ea"/>
                            </a:rPr>
                            <a:t>0.2275</a:t>
                          </a:r>
                          <a:endParaRPr lang="zh-CN" sz="1100" kern="100" dirty="0">
                            <a:effectLst/>
                            <a:latin typeface="+mn-ea"/>
                            <a:ea typeface="+mn-ea"/>
                          </a:endParaRPr>
                        </a:p>
                      </a:txBody>
                      <a:tcPr marL="23467" marR="23467"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7625839"/>
                      </a:ext>
                    </a:extLst>
                  </a:tr>
                </a:tbl>
              </a:graphicData>
            </a:graphic>
          </p:graphicFrame>
        </mc:Fallback>
      </mc:AlternateContent>
      <p:sp>
        <p:nvSpPr>
          <p:cNvPr id="4" name="文本框 3">
            <a:extLst>
              <a:ext uri="{FF2B5EF4-FFF2-40B4-BE49-F238E27FC236}">
                <a16:creationId xmlns:a16="http://schemas.microsoft.com/office/drawing/2014/main" id="{29F43066-E79B-C451-43D7-9E6FA8992C8D}"/>
              </a:ext>
            </a:extLst>
          </p:cNvPr>
          <p:cNvSpPr txBox="1"/>
          <p:nvPr/>
        </p:nvSpPr>
        <p:spPr>
          <a:xfrm>
            <a:off x="7064458" y="1413689"/>
            <a:ext cx="3490058" cy="276999"/>
          </a:xfrm>
          <a:prstGeom prst="rect">
            <a:avLst/>
          </a:prstGeom>
          <a:noFill/>
        </p:spPr>
        <p:txBody>
          <a:bodyPr wrap="none" rtlCol="0">
            <a:spAutoFit/>
          </a:bodyPr>
          <a:lstStyle/>
          <a:p>
            <a:r>
              <a:rPr lang="zh-CN" altLang="en-US" sz="1200" b="1" dirty="0"/>
              <a:t>表</a:t>
            </a:r>
            <a:r>
              <a:rPr lang="en-US" altLang="zh-CN" sz="1200" b="1" dirty="0"/>
              <a:t>10 </a:t>
            </a:r>
            <a:r>
              <a:rPr lang="zh-CN" altLang="en-US" sz="1200" b="1" dirty="0"/>
              <a:t>集聚网络视角下人工智能对投资效率的影响</a:t>
            </a:r>
          </a:p>
        </p:txBody>
      </p:sp>
    </p:spTree>
    <p:extLst>
      <p:ext uri="{BB962C8B-B14F-4D97-AF65-F5344CB8AC3E}">
        <p14:creationId xmlns:p14="http://schemas.microsoft.com/office/powerpoint/2010/main" val="3065224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0BAF2-1FC7-8262-41B2-AEB48979B8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050A12B-9178-860E-0402-CA0A6752395B}"/>
              </a:ext>
            </a:extLst>
          </p:cNvPr>
          <p:cNvSpPr>
            <a:spLocks noGrp="1"/>
          </p:cNvSpPr>
          <p:nvPr>
            <p:ph type="title"/>
          </p:nvPr>
        </p:nvSpPr>
        <p:spPr/>
        <p:txBody>
          <a:bodyPr>
            <a:normAutofit/>
          </a:bodyPr>
          <a:lstStyle/>
          <a:p>
            <a:r>
              <a:rPr lang="zh-CN" altLang="en-US" sz="2800" dirty="0"/>
              <a:t>进一步分析</a:t>
            </a:r>
          </a:p>
        </p:txBody>
      </p:sp>
      <p:sp>
        <p:nvSpPr>
          <p:cNvPr id="3" name="内容占位符 2">
            <a:extLst>
              <a:ext uri="{FF2B5EF4-FFF2-40B4-BE49-F238E27FC236}">
                <a16:creationId xmlns:a16="http://schemas.microsoft.com/office/drawing/2014/main" id="{417B4CE6-D716-9F9E-322A-C263A4DD7717}"/>
              </a:ext>
            </a:extLst>
          </p:cNvPr>
          <p:cNvSpPr>
            <a:spLocks noGrp="1"/>
          </p:cNvSpPr>
          <p:nvPr>
            <p:ph sz="half" idx="1"/>
          </p:nvPr>
        </p:nvSpPr>
        <p:spPr/>
        <p:txBody>
          <a:bodyPr/>
          <a:lstStyle/>
          <a:p>
            <a:pPr marL="0" indent="0">
              <a:buNone/>
            </a:pPr>
            <a:r>
              <a:rPr lang="zh-CN" altLang="en-US" sz="2400" dirty="0"/>
              <a:t>经济后果</a:t>
            </a:r>
            <a:endParaRPr lang="en-US" altLang="zh-CN" sz="2400" dirty="0"/>
          </a:p>
          <a:p>
            <a:pPr lvl="1"/>
            <a:r>
              <a:rPr lang="zh-CN" altLang="en-US" sz="2000" dirty="0"/>
              <a:t>提高企业全要素生产率</a:t>
            </a:r>
            <a:endParaRPr lang="zh-CN" altLang="en-US" dirty="0"/>
          </a:p>
        </p:txBody>
      </p:sp>
      <mc:AlternateContent xmlns:mc="http://schemas.openxmlformats.org/markup-compatibility/2006" xmlns:a14="http://schemas.microsoft.com/office/drawing/2010/main">
        <mc:Choice Requires="a14">
          <p:graphicFrame>
            <p:nvGraphicFramePr>
              <p:cNvPr id="6" name="内容占位符 5">
                <a:extLst>
                  <a:ext uri="{FF2B5EF4-FFF2-40B4-BE49-F238E27FC236}">
                    <a16:creationId xmlns:a16="http://schemas.microsoft.com/office/drawing/2014/main" id="{8DB9364C-8283-3E51-3B65-9DF8F014420C}"/>
                  </a:ext>
                </a:extLst>
              </p:cNvPr>
              <p:cNvGraphicFramePr>
                <a:graphicFrameLocks noGrp="1"/>
              </p:cNvGraphicFramePr>
              <p:nvPr>
                <p:ph sz="half" idx="2"/>
                <p:extLst>
                  <p:ext uri="{D42A27DB-BD31-4B8C-83A1-F6EECF244321}">
                    <p14:modId xmlns:p14="http://schemas.microsoft.com/office/powerpoint/2010/main" val="3873672568"/>
                  </p:ext>
                </p:extLst>
              </p:nvPr>
            </p:nvGraphicFramePr>
            <p:xfrm>
              <a:off x="6172200" y="2642410"/>
              <a:ext cx="5491066" cy="2965284"/>
            </p:xfrm>
            <a:graphic>
              <a:graphicData uri="http://schemas.openxmlformats.org/drawingml/2006/table">
                <a:tbl>
                  <a:tblPr firstRow="1" firstCol="1" bandRow="1"/>
                  <a:tblGrid>
                    <a:gridCol w="1470972">
                      <a:extLst>
                        <a:ext uri="{9D8B030D-6E8A-4147-A177-3AD203B41FA5}">
                          <a16:colId xmlns:a16="http://schemas.microsoft.com/office/drawing/2014/main" val="3987894300"/>
                        </a:ext>
                      </a:extLst>
                    </a:gridCol>
                    <a:gridCol w="804394">
                      <a:extLst>
                        <a:ext uri="{9D8B030D-6E8A-4147-A177-3AD203B41FA5}">
                          <a16:colId xmlns:a16="http://schemas.microsoft.com/office/drawing/2014/main" val="2717936318"/>
                        </a:ext>
                      </a:extLst>
                    </a:gridCol>
                    <a:gridCol w="804394">
                      <a:extLst>
                        <a:ext uri="{9D8B030D-6E8A-4147-A177-3AD203B41FA5}">
                          <a16:colId xmlns:a16="http://schemas.microsoft.com/office/drawing/2014/main" val="941050674"/>
                        </a:ext>
                      </a:extLst>
                    </a:gridCol>
                    <a:gridCol w="804394">
                      <a:extLst>
                        <a:ext uri="{9D8B030D-6E8A-4147-A177-3AD203B41FA5}">
                          <a16:colId xmlns:a16="http://schemas.microsoft.com/office/drawing/2014/main" val="1921050727"/>
                        </a:ext>
                      </a:extLst>
                    </a:gridCol>
                    <a:gridCol w="803456">
                      <a:extLst>
                        <a:ext uri="{9D8B030D-6E8A-4147-A177-3AD203B41FA5}">
                          <a16:colId xmlns:a16="http://schemas.microsoft.com/office/drawing/2014/main" val="2566915984"/>
                        </a:ext>
                      </a:extLst>
                    </a:gridCol>
                    <a:gridCol w="803456">
                      <a:extLst>
                        <a:ext uri="{9D8B030D-6E8A-4147-A177-3AD203B41FA5}">
                          <a16:colId xmlns:a16="http://schemas.microsoft.com/office/drawing/2014/main" val="1336415411"/>
                        </a:ext>
                      </a:extLst>
                    </a:gridCol>
                  </a:tblGrid>
                  <a:tr h="329476">
                    <a:tc rowSpan="2">
                      <a:txBody>
                        <a:bodyPr/>
                        <a:lstStyle/>
                        <a:p>
                          <a:pPr indent="127000" algn="ctr">
                            <a:buNone/>
                          </a:pPr>
                          <a:r>
                            <a:rPr lang="zh-CN" sz="1100" kern="100" dirty="0">
                              <a:effectLst/>
                              <a:latin typeface="+mn-ea"/>
                              <a:ea typeface="+mn-ea"/>
                            </a:rPr>
                            <a:t>变量</a:t>
                          </a:r>
                        </a:p>
                      </a:txBody>
                      <a:tcPr marL="23467" marR="23467" marT="0" marB="0" anchor="ctr">
                        <a:lnL>
                          <a:noFill/>
                        </a:lnL>
                        <a:lnR>
                          <a:noFill/>
                        </a:lnR>
                        <a:lnT w="1270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effectLst/>
                              <a:latin typeface="+mn-ea"/>
                              <a:ea typeface="+mn-ea"/>
                            </a:rPr>
                            <a:t>(1)</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(2)</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(3)</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zh-CN" altLang="en-US" sz="1100" kern="100" dirty="0">
                              <a:effectLst/>
                              <a:latin typeface="+mn-ea"/>
                              <a:ea typeface="+mn-ea"/>
                            </a:rPr>
                            <a:t>（</a:t>
                          </a:r>
                          <a:r>
                            <a:rPr lang="en-US" altLang="zh-CN" sz="1100" kern="100" dirty="0">
                              <a:effectLst/>
                              <a:latin typeface="+mn-ea"/>
                              <a:ea typeface="+mn-ea"/>
                            </a:rPr>
                            <a:t>4</a:t>
                          </a:r>
                          <a:r>
                            <a:rPr lang="zh-CN" altLang="en-US" sz="1100" kern="100" dirty="0">
                              <a:effectLst/>
                              <a:latin typeface="+mn-ea"/>
                              <a:ea typeface="+mn-ea"/>
                            </a:rPr>
                            <a:t>）</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dirty="0">
                              <a:effectLst/>
                              <a:latin typeface="+mn-ea"/>
                              <a:ea typeface="+mn-ea"/>
                            </a:rPr>
                            <a:t>(5)</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27599225"/>
                      </a:ext>
                    </a:extLst>
                  </a:tr>
                  <a:tr h="329476">
                    <a:tc vMerge="1">
                      <a:txBody>
                        <a:bodyPr/>
                        <a:lstStyle/>
                        <a:p>
                          <a:pPr indent="127000" algn="ctr">
                            <a:buNone/>
                          </a:pP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𝑇𝐹𝑃</m:t>
                                </m:r>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_</m:t>
                                </m:r>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𝑂𝑃</m:t>
                                </m:r>
                              </m:oMath>
                            </m:oMathPara>
                          </a14:m>
                          <a:endParaRPr/>
                        </a:p>
                      </a:txBody>
                      <a:tcPr marL="47625" marR="47625" marT="0"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𝑇𝐹𝑃</m:t>
                                </m:r>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_</m:t>
                                </m:r>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𝐿𝑃</m:t>
                                </m:r>
                              </m:oMath>
                            </m:oMathPara>
                          </a14:m>
                          <a:endParaRPr/>
                        </a:p>
                      </a:txBody>
                      <a:tcPr marL="47625" marR="47625" marT="0"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𝑇𝐹𝑃</m:t>
                                </m:r>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_</m:t>
                                </m:r>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𝑂𝐿𝑆</m:t>
                                </m:r>
                              </m:oMath>
                            </m:oMathPara>
                          </a14:m>
                          <a:endParaRPr/>
                        </a:p>
                      </a:txBody>
                      <a:tcPr marL="47625" marR="47625" marT="0"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𝑇𝐹𝑃</m:t>
                                </m:r>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_</m:t>
                                </m:r>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𝐹𝐸</m:t>
                                </m:r>
                              </m:oMath>
                            </m:oMathPara>
                          </a14:m>
                          <a:endParaRPr/>
                        </a:p>
                      </a:txBody>
                      <a:tcPr marL="47625" marR="47625" marT="0"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𝑇𝐹𝑃</m:t>
                                </m:r>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_</m:t>
                                </m:r>
                                <m:r>
                                  <a:rPr lang="en-US" sz="1200" i="1" kern="0" dirty="0" smtClean="0">
                                    <a:effectLst/>
                                    <a:latin typeface="Cambria Math" panose="02040503050406030204" pitchFamily="18" charset="0"/>
                                    <a:ea typeface="宋体" panose="02010600030101010101" pitchFamily="2" charset="-122"/>
                                    <a:cs typeface="Times New Roman" panose="02020603050405020304" pitchFamily="18" charset="0"/>
                                  </a:rPr>
                                  <m:t>𝐺𝑀𝑀</m:t>
                                </m:r>
                              </m:oMath>
                            </m:oMathPara>
                          </a14:m>
                          <a:endParaRPr/>
                        </a:p>
                      </a:txBody>
                      <a:tcPr marL="47625" marR="47625" marT="0"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5669585"/>
                      </a:ext>
                    </a:extLst>
                  </a:tr>
                  <a:tr h="3294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smtClean="0">
                                    <a:effectLst/>
                                    <a:latin typeface="Cambria Math" panose="02040503050406030204" pitchFamily="18" charset="0"/>
                                    <a:ea typeface="+mn-ea"/>
                                  </a:rPr>
                                  <m:t>𝐴</m:t>
                                </m:r>
                                <m:sSub>
                                  <m:sSubPr>
                                    <m:ctrlPr>
                                      <a:rPr lang="zh-CN" sz="1100" i="1" kern="100">
                                        <a:effectLst/>
                                        <a:latin typeface="Cambria Math" panose="02040503050406030204" pitchFamily="18" charset="0"/>
                                        <a:ea typeface="+mn-ea"/>
                                      </a:rPr>
                                    </m:ctrlPr>
                                  </m:sSubPr>
                                  <m:e>
                                    <m:r>
                                      <a:rPr lang="en-GB" sz="1100" i="1" kern="100">
                                        <a:effectLst/>
                                        <a:latin typeface="Cambria Math" panose="02040503050406030204" pitchFamily="18" charset="0"/>
                                        <a:ea typeface="+mn-ea"/>
                                      </a:rPr>
                                      <m:t>𝐼</m:t>
                                    </m:r>
                                  </m:e>
                                  <m:sub>
                                    <m:r>
                                      <a:rPr lang="en-GB" sz="1100" i="1" kern="100">
                                        <a:effectLst/>
                                        <a:latin typeface="Cambria Math" panose="02040503050406030204" pitchFamily="18" charset="0"/>
                                        <a:ea typeface="+mn-ea"/>
                                      </a:rPr>
                                      <m:t>𝑢𝑡𝑖𝑙𝑖𝑧𝑒</m:t>
                                    </m:r>
                                  </m:sub>
                                </m:sSub>
                                <m:r>
                                  <a:rPr lang="en-GB" sz="1100" i="1" kern="100">
                                    <a:effectLst/>
                                    <a:latin typeface="Cambria Math" panose="02040503050406030204" pitchFamily="18" charset="0"/>
                                    <a:ea typeface="+mn-ea"/>
                                  </a:rPr>
                                  <m:t>×</m:t>
                                </m:r>
                                <m:r>
                                  <a:rPr lang="en-US" sz="1100" b="0" i="1" kern="100" smtClean="0">
                                    <a:effectLst/>
                                    <a:latin typeface="Cambria Math" panose="02040503050406030204" pitchFamily="18" charset="0"/>
                                    <a:ea typeface="+mn-ea"/>
                                  </a:rPr>
                                  <m:t>𝐼𝑛𝑣</m:t>
                                </m:r>
                                <m:r>
                                  <a:rPr lang="en-US" sz="1100" b="0" i="1" kern="100" smtClean="0">
                                    <a:effectLst/>
                                    <a:latin typeface="Cambria Math" panose="02040503050406030204" pitchFamily="18" charset="0"/>
                                    <a:ea typeface="+mn-ea"/>
                                  </a:rPr>
                                  <m:t>_</m:t>
                                </m:r>
                                <m:r>
                                  <a:rPr lang="en-US" sz="1100" b="0" i="1" kern="100" smtClean="0">
                                    <a:effectLst/>
                                    <a:latin typeface="Cambria Math" panose="02040503050406030204" pitchFamily="18" charset="0"/>
                                    <a:ea typeface="+mn-ea"/>
                                  </a:rPr>
                                  <m:t>𝑒</m:t>
                                </m:r>
                              </m:oMath>
                            </m:oMathPara>
                          </a14:m>
                          <a:endParaRPr lang="zh-CN" sz="1100" kern="100" dirty="0">
                            <a:effectLst/>
                            <a:latin typeface="+mn-ea"/>
                            <a:ea typeface="+mn-ea"/>
                          </a:endParaRPr>
                        </a:p>
                      </a:txBody>
                      <a:tcPr marL="23467" marR="23467"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0.2790***</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0.2673***</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0.2418***</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0.2351***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0.2930***</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785880670"/>
                      </a:ext>
                    </a:extLst>
                  </a:tr>
                  <a:tr h="329476">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(0.0673)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(0.0686)</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(0.0665)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(0.0678)</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(0.0697)</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extLst>
                      <a:ext uri="{0D108BD9-81ED-4DB2-BD59-A6C34878D82A}">
                        <a16:rowId xmlns:a16="http://schemas.microsoft.com/office/drawing/2014/main" val="2875473031"/>
                      </a:ext>
                    </a:extLst>
                  </a:tr>
                  <a:tr h="3294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𝐶𝑜𝑛𝑡𝑟𝑜𝑙</m:t>
                                </m:r>
                              </m:oMath>
                            </m:oMathPara>
                          </a14:m>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528686379"/>
                      </a:ext>
                    </a:extLst>
                  </a:tr>
                  <a:tr h="3294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𝑌𝑒𝑎𝑟</m:t>
                                </m:r>
                                <m:r>
                                  <a:rPr lang="en-GB" sz="1100" i="1" kern="100">
                                    <a:effectLst/>
                                    <a:latin typeface="Cambria Math" panose="02040503050406030204" pitchFamily="18" charset="0"/>
                                    <a:ea typeface="+mn-ea"/>
                                  </a:rPr>
                                  <m:t> </m:t>
                                </m:r>
                                <m:r>
                                  <a:rPr lang="en-GB" sz="1100" i="1" kern="100">
                                    <a:effectLst/>
                                    <a:latin typeface="Cambria Math" panose="02040503050406030204" pitchFamily="18" charset="0"/>
                                    <a:ea typeface="+mn-ea"/>
                                  </a:rPr>
                                  <m:t>𝐹𝐸</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498157375"/>
                      </a:ext>
                    </a:extLst>
                  </a:tr>
                  <a:tr h="3294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𝐹𝑖𝑟𝑚</m:t>
                                </m:r>
                                <m:r>
                                  <a:rPr lang="en-GB" sz="1100" i="1" kern="100">
                                    <a:effectLst/>
                                    <a:latin typeface="Cambria Math" panose="02040503050406030204" pitchFamily="18" charset="0"/>
                                    <a:ea typeface="+mn-ea"/>
                                  </a:rPr>
                                  <m:t> </m:t>
                                </m:r>
                                <m:r>
                                  <a:rPr lang="en-GB" sz="1100" i="1" kern="100">
                                    <a:effectLst/>
                                    <a:latin typeface="Cambria Math" panose="02040503050406030204" pitchFamily="18" charset="0"/>
                                    <a:ea typeface="+mn-ea"/>
                                  </a:rPr>
                                  <m:t>𝐹𝐸</m:t>
                                </m:r>
                              </m:oMath>
                            </m:oMathPara>
                          </a14:m>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762898511"/>
                      </a:ext>
                    </a:extLst>
                  </a:tr>
                  <a:tr h="329476">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𝑂𝑏𝑠𝑒𝑟𝑣𝑎𝑡𝑖𝑜𝑛𝑠</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39,482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39,482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39,482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39,482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39,482</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extLst>
                      <a:ext uri="{0D108BD9-81ED-4DB2-BD59-A6C34878D82A}">
                        <a16:rowId xmlns:a16="http://schemas.microsoft.com/office/drawing/2014/main" val="435227542"/>
                      </a:ext>
                    </a:extLst>
                  </a:tr>
                  <a:tr h="329476">
                    <a:tc>
                      <a:txBody>
                        <a:bodyPr/>
                        <a:lstStyle/>
                        <a:p>
                          <a:pPr indent="127000" algn="ctr">
                            <a:buNone/>
                          </a:pPr>
                          <a14:m>
                            <m:oMathPara xmlns:m="http://schemas.openxmlformats.org/officeDocument/2006/math">
                              <m:oMathParaPr>
                                <m:jc m:val="centerGroup"/>
                              </m:oMathParaPr>
                              <m:oMath xmlns:m="http://schemas.openxmlformats.org/officeDocument/2006/math">
                                <m:sSup>
                                  <m:sSupPr>
                                    <m:ctrlPr>
                                      <a:rPr lang="zh-CN" sz="1100" i="1" kern="0">
                                        <a:effectLst/>
                                        <a:latin typeface="Cambria Math" panose="02040503050406030204" pitchFamily="18" charset="0"/>
                                        <a:ea typeface="+mn-ea"/>
                                      </a:rPr>
                                    </m:ctrlPr>
                                  </m:sSupPr>
                                  <m:e>
                                    <m:r>
                                      <a:rPr lang="en-GB" sz="1100" i="1" kern="0">
                                        <a:effectLst/>
                                        <a:latin typeface="Cambria Math" panose="02040503050406030204" pitchFamily="18" charset="0"/>
                                        <a:ea typeface="+mn-ea"/>
                                      </a:rPr>
                                      <m:t>𝑅</m:t>
                                    </m:r>
                                  </m:e>
                                  <m:sup>
                                    <m:r>
                                      <a:rPr lang="en-GB" sz="1100" i="1" kern="0">
                                        <a:effectLst/>
                                        <a:latin typeface="Cambria Math" panose="02040503050406030204" pitchFamily="18" charset="0"/>
                                        <a:ea typeface="+mn-ea"/>
                                      </a:rPr>
                                      <m:t>2</m:t>
                                    </m:r>
                                  </m:sup>
                                </m:sSup>
                                <m:r>
                                  <a:rPr lang="en-GB" sz="1100" i="1" kern="0">
                                    <a:effectLst/>
                                    <a:latin typeface="Cambria Math" panose="02040503050406030204" pitchFamily="18" charset="0"/>
                                    <a:ea typeface="+mn-ea"/>
                                    <a:cs typeface="Cambria Math" panose="02040503050406030204" pitchFamily="18" charset="0"/>
                                  </a:rPr>
                                  <m:t>_</m:t>
                                </m:r>
                                <m:r>
                                  <a:rPr lang="en-GB" sz="1100" i="1" kern="0">
                                    <a:effectLst/>
                                    <a:latin typeface="Cambria Math" panose="02040503050406030204" pitchFamily="18" charset="0"/>
                                    <a:ea typeface="+mn-ea"/>
                                    <a:cs typeface="Cambria Math" panose="02040503050406030204" pitchFamily="18" charset="0"/>
                                  </a:rPr>
                                  <m:t>𝑎𝑑𝑗𝑢𝑠𝑡𝑒𝑑</m:t>
                                </m:r>
                              </m:oMath>
                            </m:oMathPara>
                          </a14:m>
                          <a:endParaRPr lang="zh-CN" sz="1100" kern="100">
                            <a:effectLst/>
                            <a:latin typeface="+mn-ea"/>
                            <a:ea typeface="+mn-ea"/>
                          </a:endParaRPr>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0.8595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0.9099</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0.9361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0.9422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0.8451</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7625839"/>
                      </a:ext>
                    </a:extLst>
                  </a:tr>
                </a:tbl>
              </a:graphicData>
            </a:graphic>
          </p:graphicFrame>
        </mc:Choice>
        <mc:Fallback xmlns="">
          <p:graphicFrame>
            <p:nvGraphicFramePr>
              <p:cNvPr id="6" name="内容占位符 5">
                <a:extLst>
                  <a:ext uri="{FF2B5EF4-FFF2-40B4-BE49-F238E27FC236}">
                    <a16:creationId xmlns:a16="http://schemas.microsoft.com/office/drawing/2014/main" id="{8DB9364C-8283-3E51-3B65-9DF8F014420C}"/>
                  </a:ext>
                </a:extLst>
              </p:cNvPr>
              <p:cNvGraphicFramePr>
                <a:graphicFrameLocks noGrp="1"/>
              </p:cNvGraphicFramePr>
              <p:nvPr>
                <p:ph sz="half" idx="2"/>
                <p:extLst>
                  <p:ext uri="{D42A27DB-BD31-4B8C-83A1-F6EECF244321}">
                    <p14:modId xmlns:p14="http://schemas.microsoft.com/office/powerpoint/2010/main" val="3873672568"/>
                  </p:ext>
                </p:extLst>
              </p:nvPr>
            </p:nvGraphicFramePr>
            <p:xfrm>
              <a:off x="6172200" y="2642410"/>
              <a:ext cx="5491066" cy="2965284"/>
            </p:xfrm>
            <a:graphic>
              <a:graphicData uri="http://schemas.openxmlformats.org/drawingml/2006/table">
                <a:tbl>
                  <a:tblPr firstRow="1" firstCol="1" bandRow="1"/>
                  <a:tblGrid>
                    <a:gridCol w="1470972">
                      <a:extLst>
                        <a:ext uri="{9D8B030D-6E8A-4147-A177-3AD203B41FA5}">
                          <a16:colId xmlns:a16="http://schemas.microsoft.com/office/drawing/2014/main" val="3987894300"/>
                        </a:ext>
                      </a:extLst>
                    </a:gridCol>
                    <a:gridCol w="804394">
                      <a:extLst>
                        <a:ext uri="{9D8B030D-6E8A-4147-A177-3AD203B41FA5}">
                          <a16:colId xmlns:a16="http://schemas.microsoft.com/office/drawing/2014/main" val="2717936318"/>
                        </a:ext>
                      </a:extLst>
                    </a:gridCol>
                    <a:gridCol w="804394">
                      <a:extLst>
                        <a:ext uri="{9D8B030D-6E8A-4147-A177-3AD203B41FA5}">
                          <a16:colId xmlns:a16="http://schemas.microsoft.com/office/drawing/2014/main" val="941050674"/>
                        </a:ext>
                      </a:extLst>
                    </a:gridCol>
                    <a:gridCol w="804394">
                      <a:extLst>
                        <a:ext uri="{9D8B030D-6E8A-4147-A177-3AD203B41FA5}">
                          <a16:colId xmlns:a16="http://schemas.microsoft.com/office/drawing/2014/main" val="1921050727"/>
                        </a:ext>
                      </a:extLst>
                    </a:gridCol>
                    <a:gridCol w="803456">
                      <a:extLst>
                        <a:ext uri="{9D8B030D-6E8A-4147-A177-3AD203B41FA5}">
                          <a16:colId xmlns:a16="http://schemas.microsoft.com/office/drawing/2014/main" val="2566915984"/>
                        </a:ext>
                      </a:extLst>
                    </a:gridCol>
                    <a:gridCol w="803456">
                      <a:extLst>
                        <a:ext uri="{9D8B030D-6E8A-4147-A177-3AD203B41FA5}">
                          <a16:colId xmlns:a16="http://schemas.microsoft.com/office/drawing/2014/main" val="1336415411"/>
                        </a:ext>
                      </a:extLst>
                    </a:gridCol>
                  </a:tblGrid>
                  <a:tr h="329476">
                    <a:tc rowSpan="2">
                      <a:txBody>
                        <a:bodyPr/>
                        <a:lstStyle/>
                        <a:p>
                          <a:pPr indent="127000" algn="ctr">
                            <a:buNone/>
                          </a:pPr>
                          <a:r>
                            <a:rPr lang="zh-CN" sz="1100" kern="100" dirty="0">
                              <a:effectLst/>
                              <a:latin typeface="+mn-ea"/>
                              <a:ea typeface="+mn-ea"/>
                            </a:rPr>
                            <a:t>变量</a:t>
                          </a:r>
                        </a:p>
                      </a:txBody>
                      <a:tcPr marL="23467" marR="23467" marT="0" marB="0" anchor="ctr">
                        <a:lnL>
                          <a:noFill/>
                        </a:lnL>
                        <a:lnR>
                          <a:noFill/>
                        </a:lnR>
                        <a:lnT w="1270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a:effectLst/>
                              <a:latin typeface="+mn-ea"/>
                              <a:ea typeface="+mn-ea"/>
                            </a:rPr>
                            <a:t>(1)</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(2)</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a:effectLst/>
                              <a:latin typeface="+mn-ea"/>
                              <a:ea typeface="+mn-ea"/>
                            </a:rPr>
                            <a:t>(3)</a:t>
                          </a:r>
                          <a:endParaRPr lang="zh-CN" sz="1100" kern="10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zh-CN" altLang="en-US" sz="1100" kern="100" dirty="0">
                              <a:effectLst/>
                              <a:latin typeface="+mn-ea"/>
                              <a:ea typeface="+mn-ea"/>
                            </a:rPr>
                            <a:t>（</a:t>
                          </a:r>
                          <a:r>
                            <a:rPr lang="en-US" altLang="zh-CN" sz="1100" kern="100" dirty="0">
                              <a:effectLst/>
                              <a:latin typeface="+mn-ea"/>
                              <a:ea typeface="+mn-ea"/>
                            </a:rPr>
                            <a:t>4</a:t>
                          </a:r>
                          <a:r>
                            <a:rPr lang="zh-CN" altLang="en-US" sz="1100" kern="100" dirty="0">
                              <a:effectLst/>
                              <a:latin typeface="+mn-ea"/>
                              <a:ea typeface="+mn-ea"/>
                            </a:rPr>
                            <a:t>）</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dirty="0">
                              <a:effectLst/>
                              <a:latin typeface="+mn-ea"/>
                              <a:ea typeface="+mn-ea"/>
                            </a:rPr>
                            <a:t>(5)</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27599225"/>
                      </a:ext>
                    </a:extLst>
                  </a:tr>
                  <a:tr h="329476">
                    <a:tc vMerge="1">
                      <a:txBody>
                        <a:bodyPr/>
                        <a:lstStyle/>
                        <a:p>
                          <a:pPr indent="127000" algn="ctr">
                            <a:buNone/>
                          </a:pP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47625" marR="47625" marT="0"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2"/>
                          <a:stretch>
                            <a:fillRect l="-183333" t="-101852" r="-400758" b="-707407"/>
                          </a:stretch>
                        </a:blipFill>
                      </a:tcPr>
                    </a:tc>
                    <a:tc>
                      <a:txBody>
                        <a:bodyPr/>
                        <a:lstStyle/>
                        <a:p>
                          <a:endParaRPr lang="zh-CN"/>
                        </a:p>
                      </a:txBody>
                      <a:tcPr marL="47625" marR="47625" marT="0"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2"/>
                          <a:stretch>
                            <a:fillRect l="-283333" t="-101852" r="-300758" b="-707407"/>
                          </a:stretch>
                        </a:blipFill>
                      </a:tcPr>
                    </a:tc>
                    <a:tc>
                      <a:txBody>
                        <a:bodyPr/>
                        <a:lstStyle/>
                        <a:p>
                          <a:endParaRPr lang="zh-CN"/>
                        </a:p>
                      </a:txBody>
                      <a:tcPr marL="47625" marR="47625" marT="0"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2"/>
                          <a:stretch>
                            <a:fillRect l="-383333" t="-101852" r="-200758" b="-707407"/>
                          </a:stretch>
                        </a:blipFill>
                      </a:tcPr>
                    </a:tc>
                    <a:tc>
                      <a:txBody>
                        <a:bodyPr/>
                        <a:lstStyle/>
                        <a:p>
                          <a:endParaRPr lang="zh-CN"/>
                        </a:p>
                      </a:txBody>
                      <a:tcPr marL="47625" marR="47625" marT="0"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2"/>
                          <a:stretch>
                            <a:fillRect l="-483333" t="-101852" r="-100758" b="-707407"/>
                          </a:stretch>
                        </a:blipFill>
                      </a:tcPr>
                    </a:tc>
                    <a:tc>
                      <a:txBody>
                        <a:bodyPr/>
                        <a:lstStyle/>
                        <a:p>
                          <a:endParaRPr lang="zh-CN"/>
                        </a:p>
                      </a:txBody>
                      <a:tcPr marL="47625" marR="47625" marT="0"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2"/>
                          <a:stretch>
                            <a:fillRect l="-583333" t="-101852" r="-758" b="-707407"/>
                          </a:stretch>
                        </a:blipFill>
                      </a:tcPr>
                    </a:tc>
                    <a:extLst>
                      <a:ext uri="{0D108BD9-81ED-4DB2-BD59-A6C34878D82A}">
                        <a16:rowId xmlns:a16="http://schemas.microsoft.com/office/drawing/2014/main" val="1805669585"/>
                      </a:ext>
                    </a:extLst>
                  </a:tr>
                  <a:tr h="329476">
                    <a:tc>
                      <a:txBody>
                        <a:bodyPr/>
                        <a:lstStyle/>
                        <a:p>
                          <a:endParaRPr lang="zh-CN"/>
                        </a:p>
                      </a:txBody>
                      <a:tcPr marL="23467" marR="23467" marT="0" marB="0" anchor="ctr">
                        <a:lnL>
                          <a:noFill/>
                        </a:lnL>
                        <a:lnR>
                          <a:noFill/>
                        </a:lnR>
                        <a:lnT w="6350" cap="flat" cmpd="sng" algn="ctr">
                          <a:solidFill>
                            <a:schemeClr val="tx1"/>
                          </a:solidFill>
                          <a:prstDash val="solid"/>
                          <a:round/>
                          <a:headEnd type="none" w="med" len="med"/>
                          <a:tailEnd type="none" w="med" len="med"/>
                        </a:lnT>
                        <a:lnB>
                          <a:noFill/>
                        </a:lnB>
                        <a:blipFill>
                          <a:blip r:embed="rId2"/>
                          <a:stretch>
                            <a:fillRect t="-201852" r="-273140" b="-607407"/>
                          </a:stretch>
                        </a:blip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0.2790***</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0.2673***</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0.2418***</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0.2351***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0.2930***</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785880670"/>
                      </a:ext>
                    </a:extLst>
                  </a:tr>
                  <a:tr h="329476">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(0.0673)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(0.0686)</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(0.0665)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(0.0678)</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(0.0697)</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extLst>
                      <a:ext uri="{0D108BD9-81ED-4DB2-BD59-A6C34878D82A}">
                        <a16:rowId xmlns:a16="http://schemas.microsoft.com/office/drawing/2014/main" val="2875473031"/>
                      </a:ext>
                    </a:extLst>
                  </a:tr>
                  <a:tr h="329476">
                    <a:tc>
                      <a:txBody>
                        <a:bodyPr/>
                        <a:lstStyle/>
                        <a:p>
                          <a:endParaRPr lang="zh-CN"/>
                        </a:p>
                      </a:txBody>
                      <a:tcPr marL="23467" marR="23467" marT="0" marB="0" anchor="ctr">
                        <a:lnL>
                          <a:noFill/>
                        </a:lnL>
                        <a:lnR>
                          <a:noFill/>
                        </a:lnR>
                        <a:lnT>
                          <a:noFill/>
                        </a:lnT>
                        <a:lnB>
                          <a:noFill/>
                        </a:lnB>
                        <a:blipFill>
                          <a:blip r:embed="rId2"/>
                          <a:stretch>
                            <a:fillRect t="-394545" r="-273140" b="-398182"/>
                          </a:stretch>
                        </a:blip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528686379"/>
                      </a:ext>
                    </a:extLst>
                  </a:tr>
                  <a:tr h="329476">
                    <a:tc>
                      <a:txBody>
                        <a:bodyPr/>
                        <a:lstStyle/>
                        <a:p>
                          <a:endParaRPr lang="zh-CN"/>
                        </a:p>
                      </a:txBody>
                      <a:tcPr marL="23467" marR="23467" marT="0" marB="0" anchor="ctr">
                        <a:lnL>
                          <a:noFill/>
                        </a:lnL>
                        <a:lnR>
                          <a:noFill/>
                        </a:lnR>
                        <a:lnT>
                          <a:noFill/>
                        </a:lnT>
                        <a:lnB>
                          <a:noFill/>
                        </a:lnB>
                        <a:blipFill>
                          <a:blip r:embed="rId2"/>
                          <a:stretch>
                            <a:fillRect t="-503704" r="-273140" b="-305556"/>
                          </a:stretch>
                        </a:blip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498157375"/>
                      </a:ext>
                    </a:extLst>
                  </a:tr>
                  <a:tr h="329476">
                    <a:tc>
                      <a:txBody>
                        <a:bodyPr/>
                        <a:lstStyle/>
                        <a:p>
                          <a:endParaRPr lang="zh-CN"/>
                        </a:p>
                      </a:txBody>
                      <a:tcPr marL="23467" marR="23467" marT="0" marB="0" anchor="ctr">
                        <a:lnL>
                          <a:noFill/>
                        </a:lnL>
                        <a:lnR>
                          <a:noFill/>
                        </a:lnR>
                        <a:lnT>
                          <a:noFill/>
                        </a:lnT>
                        <a:lnB>
                          <a:noFill/>
                        </a:lnB>
                        <a:blipFill>
                          <a:blip r:embed="rId2"/>
                          <a:stretch>
                            <a:fillRect t="-603704" r="-273140" b="-205556"/>
                          </a:stretch>
                        </a:blip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762898511"/>
                      </a:ext>
                    </a:extLst>
                  </a:tr>
                  <a:tr h="329476">
                    <a:tc>
                      <a:txBody>
                        <a:bodyPr/>
                        <a:lstStyle/>
                        <a:p>
                          <a:endParaRPr lang="zh-CN"/>
                        </a:p>
                      </a:txBody>
                      <a:tcPr marL="23467" marR="23467" marT="0" marB="0" anchor="ctr">
                        <a:lnL>
                          <a:noFill/>
                        </a:lnL>
                        <a:lnR>
                          <a:noFill/>
                        </a:lnR>
                        <a:lnT>
                          <a:noFill/>
                        </a:lnT>
                        <a:lnB>
                          <a:noFill/>
                        </a:lnB>
                        <a:blipFill>
                          <a:blip r:embed="rId2"/>
                          <a:stretch>
                            <a:fillRect t="-703704" r="-273140" b="-105556"/>
                          </a:stretch>
                        </a:blip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39,482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39,482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39,482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39,482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39,482</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a:noFill/>
                        </a:lnB>
                        <a:noFill/>
                      </a:tcPr>
                    </a:tc>
                    <a:extLst>
                      <a:ext uri="{0D108BD9-81ED-4DB2-BD59-A6C34878D82A}">
                        <a16:rowId xmlns:a16="http://schemas.microsoft.com/office/drawing/2014/main" val="435227542"/>
                      </a:ext>
                    </a:extLst>
                  </a:tr>
                  <a:tr h="329476">
                    <a:tc>
                      <a:txBody>
                        <a:bodyPr/>
                        <a:lstStyle/>
                        <a:p>
                          <a:endParaRPr lang="zh-CN"/>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blipFill>
                          <a:blip r:embed="rId2"/>
                          <a:stretch>
                            <a:fillRect t="-803704" r="-273140" b="-5556"/>
                          </a:stretch>
                        </a:blip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0.8595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0.9099</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0.9361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0.9422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0.8451</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7625839"/>
                      </a:ext>
                    </a:extLst>
                  </a:tr>
                </a:tbl>
              </a:graphicData>
            </a:graphic>
          </p:graphicFrame>
        </mc:Fallback>
      </mc:AlternateContent>
      <p:sp>
        <p:nvSpPr>
          <p:cNvPr id="4" name="文本框 3">
            <a:extLst>
              <a:ext uri="{FF2B5EF4-FFF2-40B4-BE49-F238E27FC236}">
                <a16:creationId xmlns:a16="http://schemas.microsoft.com/office/drawing/2014/main" id="{D12A2EEA-A622-64AB-B2BA-5BB2C29EDF30}"/>
              </a:ext>
            </a:extLst>
          </p:cNvPr>
          <p:cNvSpPr txBox="1"/>
          <p:nvPr/>
        </p:nvSpPr>
        <p:spPr>
          <a:xfrm>
            <a:off x="8457681" y="2365411"/>
            <a:ext cx="1489510" cy="276999"/>
          </a:xfrm>
          <a:prstGeom prst="rect">
            <a:avLst/>
          </a:prstGeom>
          <a:noFill/>
        </p:spPr>
        <p:txBody>
          <a:bodyPr wrap="none" rtlCol="0">
            <a:spAutoFit/>
          </a:bodyPr>
          <a:lstStyle/>
          <a:p>
            <a:r>
              <a:rPr lang="zh-CN" altLang="en-US" sz="1200" b="1" dirty="0"/>
              <a:t>表</a:t>
            </a:r>
            <a:r>
              <a:rPr lang="en-US" altLang="zh-CN" sz="1200" b="1" dirty="0"/>
              <a:t>11 </a:t>
            </a:r>
            <a:r>
              <a:rPr lang="zh-CN" altLang="en-US" sz="1200" b="1" dirty="0"/>
              <a:t>全要素生产率</a:t>
            </a:r>
          </a:p>
        </p:txBody>
      </p:sp>
    </p:spTree>
    <p:extLst>
      <p:ext uri="{BB962C8B-B14F-4D97-AF65-F5344CB8AC3E}">
        <p14:creationId xmlns:p14="http://schemas.microsoft.com/office/powerpoint/2010/main" val="905313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069F7-D262-40CA-BA8F-8F347649054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FF6CDB4-8820-1A9C-DF00-550FCCBD4E5C}"/>
              </a:ext>
            </a:extLst>
          </p:cNvPr>
          <p:cNvSpPr>
            <a:spLocks noGrp="1"/>
          </p:cNvSpPr>
          <p:nvPr>
            <p:ph type="title"/>
          </p:nvPr>
        </p:nvSpPr>
        <p:spPr/>
        <p:txBody>
          <a:bodyPr>
            <a:normAutofit/>
          </a:bodyPr>
          <a:lstStyle/>
          <a:p>
            <a:r>
              <a:rPr lang="zh-CN" altLang="en-US" sz="2800" dirty="0"/>
              <a:t>进一步分析</a:t>
            </a:r>
          </a:p>
        </p:txBody>
      </p:sp>
      <p:sp>
        <p:nvSpPr>
          <p:cNvPr id="3" name="内容占位符 2">
            <a:extLst>
              <a:ext uri="{FF2B5EF4-FFF2-40B4-BE49-F238E27FC236}">
                <a16:creationId xmlns:a16="http://schemas.microsoft.com/office/drawing/2014/main" id="{8650D505-4C63-C167-6CBE-B1C21AF38C49}"/>
              </a:ext>
            </a:extLst>
          </p:cNvPr>
          <p:cNvSpPr>
            <a:spLocks noGrp="1"/>
          </p:cNvSpPr>
          <p:nvPr>
            <p:ph sz="half" idx="1"/>
          </p:nvPr>
        </p:nvSpPr>
        <p:spPr/>
        <p:txBody>
          <a:bodyPr/>
          <a:lstStyle/>
          <a:p>
            <a:pPr marL="0" indent="0">
              <a:buNone/>
            </a:pPr>
            <a:r>
              <a:rPr lang="zh-CN" altLang="en-US" sz="2400" dirty="0"/>
              <a:t>经济后果</a:t>
            </a:r>
            <a:endParaRPr lang="en-US" altLang="zh-CN" sz="2400" dirty="0"/>
          </a:p>
          <a:p>
            <a:pPr lvl="1"/>
            <a:r>
              <a:rPr lang="zh-CN" altLang="en-US" sz="2000" dirty="0"/>
              <a:t>提高企业韧性</a:t>
            </a:r>
            <a:endParaRPr lang="zh-CN" altLang="en-US" dirty="0"/>
          </a:p>
        </p:txBody>
      </p:sp>
      <mc:AlternateContent xmlns:mc="http://schemas.openxmlformats.org/markup-compatibility/2006" xmlns:a14="http://schemas.microsoft.com/office/drawing/2010/main">
        <mc:Choice Requires="a14">
          <p:graphicFrame>
            <p:nvGraphicFramePr>
              <p:cNvPr id="6" name="内容占位符 5">
                <a:extLst>
                  <a:ext uri="{FF2B5EF4-FFF2-40B4-BE49-F238E27FC236}">
                    <a16:creationId xmlns:a16="http://schemas.microsoft.com/office/drawing/2014/main" id="{AC96DC89-CB60-0F58-7510-3DB750A5922F}"/>
                  </a:ext>
                </a:extLst>
              </p:cNvPr>
              <p:cNvGraphicFramePr>
                <a:graphicFrameLocks noGrp="1"/>
              </p:cNvGraphicFramePr>
              <p:nvPr>
                <p:ph sz="half" idx="2"/>
                <p:extLst>
                  <p:ext uri="{D42A27DB-BD31-4B8C-83A1-F6EECF244321}">
                    <p14:modId xmlns:p14="http://schemas.microsoft.com/office/powerpoint/2010/main" val="4292038229"/>
                  </p:ext>
                </p:extLst>
              </p:nvPr>
            </p:nvGraphicFramePr>
            <p:xfrm>
              <a:off x="6172199" y="2642410"/>
              <a:ext cx="5267132" cy="3021273"/>
            </p:xfrm>
            <a:graphic>
              <a:graphicData uri="http://schemas.openxmlformats.org/drawingml/2006/table">
                <a:tbl>
                  <a:tblPr firstRow="1" firstCol="1" bandRow="1"/>
                  <a:tblGrid>
                    <a:gridCol w="1652826">
                      <a:extLst>
                        <a:ext uri="{9D8B030D-6E8A-4147-A177-3AD203B41FA5}">
                          <a16:colId xmlns:a16="http://schemas.microsoft.com/office/drawing/2014/main" val="3987894300"/>
                        </a:ext>
                      </a:extLst>
                    </a:gridCol>
                    <a:gridCol w="903840">
                      <a:extLst>
                        <a:ext uri="{9D8B030D-6E8A-4147-A177-3AD203B41FA5}">
                          <a16:colId xmlns:a16="http://schemas.microsoft.com/office/drawing/2014/main" val="2717936318"/>
                        </a:ext>
                      </a:extLst>
                    </a:gridCol>
                    <a:gridCol w="903840">
                      <a:extLst>
                        <a:ext uri="{9D8B030D-6E8A-4147-A177-3AD203B41FA5}">
                          <a16:colId xmlns:a16="http://schemas.microsoft.com/office/drawing/2014/main" val="941050674"/>
                        </a:ext>
                      </a:extLst>
                    </a:gridCol>
                    <a:gridCol w="903840">
                      <a:extLst>
                        <a:ext uri="{9D8B030D-6E8A-4147-A177-3AD203B41FA5}">
                          <a16:colId xmlns:a16="http://schemas.microsoft.com/office/drawing/2014/main" val="1921050727"/>
                        </a:ext>
                      </a:extLst>
                    </a:gridCol>
                    <a:gridCol w="902786">
                      <a:extLst>
                        <a:ext uri="{9D8B030D-6E8A-4147-A177-3AD203B41FA5}">
                          <a16:colId xmlns:a16="http://schemas.microsoft.com/office/drawing/2014/main" val="2566915984"/>
                        </a:ext>
                      </a:extLst>
                    </a:gridCol>
                  </a:tblGrid>
                  <a:tr h="335697">
                    <a:tc rowSpan="2">
                      <a:txBody>
                        <a:bodyPr/>
                        <a:lstStyle/>
                        <a:p>
                          <a:pPr indent="127000" algn="ctr">
                            <a:buNone/>
                          </a:pPr>
                          <a:r>
                            <a:rPr lang="zh-CN" sz="1100" kern="100" dirty="0">
                              <a:effectLst/>
                              <a:latin typeface="+mn-ea"/>
                              <a:ea typeface="+mn-ea"/>
                            </a:rPr>
                            <a:t>变量</a:t>
                          </a:r>
                        </a:p>
                      </a:txBody>
                      <a:tcPr marL="23467" marR="23467" marT="0" marB="0" anchor="ctr">
                        <a:lnL>
                          <a:noFill/>
                        </a:lnL>
                        <a:lnR>
                          <a:noFill/>
                        </a:lnR>
                        <a:lnT w="1270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dirty="0">
                              <a:effectLst/>
                              <a:latin typeface="+mn-ea"/>
                              <a:ea typeface="+mn-ea"/>
                            </a:rPr>
                            <a:t>(1)</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dirty="0">
                              <a:effectLst/>
                              <a:latin typeface="+mn-ea"/>
                              <a:ea typeface="+mn-ea"/>
                            </a:rPr>
                            <a:t>(2)</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dirty="0">
                              <a:effectLst/>
                              <a:latin typeface="+mn-ea"/>
                              <a:ea typeface="+mn-ea"/>
                            </a:rPr>
                            <a:t>(3)</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zh-CN" altLang="en-US" sz="1100" kern="100" dirty="0">
                              <a:effectLst/>
                              <a:latin typeface="+mn-ea"/>
                              <a:ea typeface="+mn-ea"/>
                            </a:rPr>
                            <a:t>（</a:t>
                          </a:r>
                          <a:r>
                            <a:rPr lang="en-US" altLang="zh-CN" sz="1100" kern="100" dirty="0">
                              <a:effectLst/>
                              <a:latin typeface="+mn-ea"/>
                              <a:ea typeface="+mn-ea"/>
                            </a:rPr>
                            <a:t>4</a:t>
                          </a:r>
                          <a:r>
                            <a:rPr lang="zh-CN" altLang="en-US" sz="1100" kern="100" dirty="0">
                              <a:effectLst/>
                              <a:latin typeface="+mn-ea"/>
                              <a:ea typeface="+mn-ea"/>
                            </a:rPr>
                            <a:t>）</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27599225"/>
                      </a:ext>
                    </a:extLst>
                  </a:tr>
                  <a:tr h="335697">
                    <a:tc vMerge="1">
                      <a:txBody>
                        <a:bodyPr/>
                        <a:lstStyle/>
                        <a:p>
                          <a:pPr indent="127000" algn="ctr">
                            <a:buNone/>
                          </a:pP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𝑅𝑒𝑠𝑖𝑙</m:t>
                                </m:r>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_</m:t>
                                </m:r>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𝑂𝑃</m:t>
                                </m:r>
                              </m:oMath>
                            </m:oMathPara>
                          </a14:m>
                          <a:endParaRPr/>
                        </a:p>
                      </a:txBody>
                      <a:tcPr marL="47625" marR="47625" marT="0" marB="0">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𝑅𝑒𝑠𝑖𝑙</m:t>
                                </m:r>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_</m:t>
                                </m:r>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𝐿𝑃</m:t>
                                </m:r>
                              </m:oMath>
                            </m:oMathPara>
                          </a14:m>
                          <a:endParaRPr/>
                        </a:p>
                      </a:txBody>
                      <a:tcPr marL="47625" marR="47625" marT="0" marB="0">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𝑅𝑒𝑠𝑖𝑙</m:t>
                                </m:r>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_</m:t>
                                </m:r>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𝑂𝐿𝑆</m:t>
                                </m:r>
                              </m:oMath>
                            </m:oMathPara>
                          </a14:m>
                          <a:endParaRPr/>
                        </a:p>
                      </a:txBody>
                      <a:tcPr marL="47625" marR="47625" marT="0" marB="0">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𝑅𝑒𝑠𝑖𝑙</m:t>
                                </m:r>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_</m:t>
                                </m:r>
                                <m:r>
                                  <a:rPr lang="en-US" sz="1400" i="1" kern="0" dirty="0" smtClean="0">
                                    <a:effectLst/>
                                    <a:latin typeface="Cambria Math" panose="02040503050406030204" pitchFamily="18" charset="0"/>
                                    <a:ea typeface="宋体" panose="02010600030101010101" pitchFamily="2" charset="-122"/>
                                    <a:cs typeface="Times New Roman" panose="02020603050405020304" pitchFamily="18" charset="0"/>
                                  </a:rPr>
                                  <m:t>𝐹𝐸</m:t>
                                </m:r>
                              </m:oMath>
                            </m:oMathPara>
                          </a14:m>
                          <a:endParaRPr/>
                        </a:p>
                      </a:txBody>
                      <a:tcPr marL="47625" marR="47625" marT="0" marB="0">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6430624"/>
                      </a:ext>
                    </a:extLst>
                  </a:tr>
                  <a:tr h="33569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smtClean="0">
                                    <a:effectLst/>
                                    <a:latin typeface="Cambria Math" panose="02040503050406030204" pitchFamily="18" charset="0"/>
                                    <a:ea typeface="+mn-ea"/>
                                  </a:rPr>
                                  <m:t>𝐴</m:t>
                                </m:r>
                                <m:sSub>
                                  <m:sSubPr>
                                    <m:ctrlPr>
                                      <a:rPr lang="zh-CN" sz="1100" i="1" kern="100">
                                        <a:effectLst/>
                                        <a:latin typeface="Cambria Math" panose="02040503050406030204" pitchFamily="18" charset="0"/>
                                        <a:ea typeface="+mn-ea"/>
                                      </a:rPr>
                                    </m:ctrlPr>
                                  </m:sSubPr>
                                  <m:e>
                                    <m:r>
                                      <a:rPr lang="en-GB" sz="1100" i="1" kern="100">
                                        <a:effectLst/>
                                        <a:latin typeface="Cambria Math" panose="02040503050406030204" pitchFamily="18" charset="0"/>
                                        <a:ea typeface="+mn-ea"/>
                                      </a:rPr>
                                      <m:t>𝐼</m:t>
                                    </m:r>
                                  </m:e>
                                  <m:sub>
                                    <m:r>
                                      <a:rPr lang="en-GB" sz="1100" i="1" kern="100">
                                        <a:effectLst/>
                                        <a:latin typeface="Cambria Math" panose="02040503050406030204" pitchFamily="18" charset="0"/>
                                        <a:ea typeface="+mn-ea"/>
                                      </a:rPr>
                                      <m:t>𝑢𝑡𝑖𝑙𝑖𝑧𝑒</m:t>
                                    </m:r>
                                  </m:sub>
                                </m:sSub>
                                <m:r>
                                  <a:rPr lang="en-GB" sz="1100" i="1" kern="100">
                                    <a:effectLst/>
                                    <a:latin typeface="Cambria Math" panose="02040503050406030204" pitchFamily="18" charset="0"/>
                                    <a:ea typeface="+mn-ea"/>
                                  </a:rPr>
                                  <m:t>×</m:t>
                                </m:r>
                                <m:r>
                                  <a:rPr lang="en-US" sz="1100" b="0" i="1" kern="100" smtClean="0">
                                    <a:effectLst/>
                                    <a:latin typeface="Cambria Math" panose="02040503050406030204" pitchFamily="18" charset="0"/>
                                    <a:ea typeface="+mn-ea"/>
                                  </a:rPr>
                                  <m:t>𝐼𝑛𝑣</m:t>
                                </m:r>
                                <m:r>
                                  <a:rPr lang="en-US" sz="1100" b="0" i="1" kern="100" smtClean="0">
                                    <a:effectLst/>
                                    <a:latin typeface="Cambria Math" panose="02040503050406030204" pitchFamily="18" charset="0"/>
                                    <a:ea typeface="+mn-ea"/>
                                  </a:rPr>
                                  <m:t>_</m:t>
                                </m:r>
                                <m:r>
                                  <a:rPr lang="en-US" sz="1100" b="0" i="1" kern="100" smtClean="0">
                                    <a:effectLst/>
                                    <a:latin typeface="Cambria Math" panose="02040503050406030204" pitchFamily="18" charset="0"/>
                                    <a:ea typeface="+mn-ea"/>
                                  </a:rPr>
                                  <m:t>𝑒</m:t>
                                </m:r>
                              </m:oMath>
                            </m:oMathPara>
                          </a14:m>
                          <a:endParaRPr lang="zh-CN" sz="1100" kern="100" dirty="0">
                            <a:effectLst/>
                            <a:latin typeface="+mn-ea"/>
                            <a:ea typeface="+mn-ea"/>
                          </a:endParaRPr>
                        </a:p>
                      </a:txBody>
                      <a:tcPr marL="23467" marR="23467"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0.1523**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0.2339***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0.3624***</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0.3991***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785880670"/>
                      </a:ext>
                    </a:extLst>
                  </a:tr>
                  <a:tr h="335697">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(0.0746)</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(0.0763)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(0.0749)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(0.0763)</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extLst>
                      <a:ext uri="{0D108BD9-81ED-4DB2-BD59-A6C34878D82A}">
                        <a16:rowId xmlns:a16="http://schemas.microsoft.com/office/drawing/2014/main" val="2875473031"/>
                      </a:ext>
                    </a:extLst>
                  </a:tr>
                  <a:tr h="33569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𝐶𝑜𝑛𝑡𝑟𝑜𝑙</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528686379"/>
                      </a:ext>
                    </a:extLst>
                  </a:tr>
                  <a:tr h="33569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𝑌𝑒𝑎𝑟</m:t>
                                </m:r>
                                <m:r>
                                  <a:rPr lang="en-GB" sz="1100" i="1" kern="100">
                                    <a:effectLst/>
                                    <a:latin typeface="Cambria Math" panose="02040503050406030204" pitchFamily="18" charset="0"/>
                                    <a:ea typeface="+mn-ea"/>
                                  </a:rPr>
                                  <m:t> </m:t>
                                </m:r>
                                <m:r>
                                  <a:rPr lang="en-GB" sz="1100" i="1" kern="100">
                                    <a:effectLst/>
                                    <a:latin typeface="Cambria Math" panose="02040503050406030204" pitchFamily="18" charset="0"/>
                                    <a:ea typeface="+mn-ea"/>
                                  </a:rPr>
                                  <m:t>𝐹𝐸</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498157375"/>
                      </a:ext>
                    </a:extLst>
                  </a:tr>
                  <a:tr h="33569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𝐹𝑖𝑟𝑚</m:t>
                                </m:r>
                                <m:r>
                                  <a:rPr lang="en-GB" sz="1100" i="1" kern="100">
                                    <a:effectLst/>
                                    <a:latin typeface="Cambria Math" panose="02040503050406030204" pitchFamily="18" charset="0"/>
                                    <a:ea typeface="+mn-ea"/>
                                  </a:rPr>
                                  <m:t> </m:t>
                                </m:r>
                                <m:r>
                                  <a:rPr lang="en-GB" sz="1100" i="1" kern="100">
                                    <a:effectLst/>
                                    <a:latin typeface="Cambria Math" panose="02040503050406030204" pitchFamily="18" charset="0"/>
                                    <a:ea typeface="+mn-ea"/>
                                  </a:rPr>
                                  <m:t>𝐹𝐸</m:t>
                                </m:r>
                              </m:oMath>
                            </m:oMathPara>
                          </a14:m>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762898511"/>
                      </a:ext>
                    </a:extLst>
                  </a:tr>
                  <a:tr h="335697">
                    <a:tc>
                      <a:txBody>
                        <a:bodyPr/>
                        <a:lstStyle/>
                        <a:p>
                          <a:pPr indent="127000" algn="ctr">
                            <a:buNone/>
                          </a:pPr>
                          <a14:m>
                            <m:oMathPara xmlns:m="http://schemas.openxmlformats.org/officeDocument/2006/math">
                              <m:oMathParaPr>
                                <m:jc m:val="centerGroup"/>
                              </m:oMathParaPr>
                              <m:oMath xmlns:m="http://schemas.openxmlformats.org/officeDocument/2006/math">
                                <m:r>
                                  <a:rPr lang="en-GB" sz="1100" i="1" kern="100">
                                    <a:effectLst/>
                                    <a:latin typeface="Cambria Math" panose="02040503050406030204" pitchFamily="18" charset="0"/>
                                    <a:ea typeface="+mn-ea"/>
                                  </a:rPr>
                                  <m:t>𝑂𝑏𝑠𝑒𝑟𝑣𝑎𝑡𝑖𝑜𝑛𝑠</m:t>
                                </m:r>
                              </m:oMath>
                            </m:oMathPara>
                          </a14:m>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37,453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37,453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37,453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37,453</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extLst>
                      <a:ext uri="{0D108BD9-81ED-4DB2-BD59-A6C34878D82A}">
                        <a16:rowId xmlns:a16="http://schemas.microsoft.com/office/drawing/2014/main" val="435227542"/>
                      </a:ext>
                    </a:extLst>
                  </a:tr>
                  <a:tr h="335697">
                    <a:tc>
                      <a:txBody>
                        <a:bodyPr/>
                        <a:lstStyle/>
                        <a:p>
                          <a:pPr indent="127000" algn="ctr">
                            <a:buNone/>
                          </a:pPr>
                          <a14:m>
                            <m:oMathPara xmlns:m="http://schemas.openxmlformats.org/officeDocument/2006/math">
                              <m:oMathParaPr>
                                <m:jc m:val="centerGroup"/>
                              </m:oMathParaPr>
                              <m:oMath xmlns:m="http://schemas.openxmlformats.org/officeDocument/2006/math">
                                <m:sSup>
                                  <m:sSupPr>
                                    <m:ctrlPr>
                                      <a:rPr lang="zh-CN" sz="1100" i="1" kern="0">
                                        <a:effectLst/>
                                        <a:latin typeface="Cambria Math" panose="02040503050406030204" pitchFamily="18" charset="0"/>
                                        <a:ea typeface="+mn-ea"/>
                                      </a:rPr>
                                    </m:ctrlPr>
                                  </m:sSupPr>
                                  <m:e>
                                    <m:r>
                                      <a:rPr lang="en-GB" sz="1100" i="1" kern="0">
                                        <a:effectLst/>
                                        <a:latin typeface="Cambria Math" panose="02040503050406030204" pitchFamily="18" charset="0"/>
                                        <a:ea typeface="+mn-ea"/>
                                      </a:rPr>
                                      <m:t>𝑅</m:t>
                                    </m:r>
                                  </m:e>
                                  <m:sup>
                                    <m:r>
                                      <a:rPr lang="en-GB" sz="1100" i="1" kern="0">
                                        <a:effectLst/>
                                        <a:latin typeface="Cambria Math" panose="02040503050406030204" pitchFamily="18" charset="0"/>
                                        <a:ea typeface="+mn-ea"/>
                                      </a:rPr>
                                      <m:t>2</m:t>
                                    </m:r>
                                  </m:sup>
                                </m:sSup>
                                <m:r>
                                  <a:rPr lang="en-GB" sz="1100" i="1" kern="0">
                                    <a:effectLst/>
                                    <a:latin typeface="Cambria Math" panose="02040503050406030204" pitchFamily="18" charset="0"/>
                                    <a:ea typeface="+mn-ea"/>
                                    <a:cs typeface="Cambria Math" panose="02040503050406030204" pitchFamily="18" charset="0"/>
                                  </a:rPr>
                                  <m:t>_</m:t>
                                </m:r>
                                <m:r>
                                  <a:rPr lang="en-GB" sz="1100" i="1" kern="0">
                                    <a:effectLst/>
                                    <a:latin typeface="Cambria Math" panose="02040503050406030204" pitchFamily="18" charset="0"/>
                                    <a:ea typeface="+mn-ea"/>
                                    <a:cs typeface="Cambria Math" panose="02040503050406030204" pitchFamily="18" charset="0"/>
                                  </a:rPr>
                                  <m:t>𝑎𝑑𝑗𝑢𝑠𝑡𝑒𝑑</m:t>
                                </m:r>
                              </m:oMath>
                            </m:oMathPara>
                          </a14:m>
                          <a:endParaRPr lang="zh-CN" sz="1100" kern="100">
                            <a:effectLst/>
                            <a:latin typeface="+mn-ea"/>
                            <a:ea typeface="+mn-ea"/>
                          </a:endParaRPr>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0.0289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0.0703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0.0909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0.0999</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7625839"/>
                      </a:ext>
                    </a:extLst>
                  </a:tr>
                </a:tbl>
              </a:graphicData>
            </a:graphic>
          </p:graphicFrame>
        </mc:Choice>
        <mc:Fallback xmlns="">
          <p:graphicFrame>
            <p:nvGraphicFramePr>
              <p:cNvPr id="6" name="内容占位符 5">
                <a:extLst>
                  <a:ext uri="{FF2B5EF4-FFF2-40B4-BE49-F238E27FC236}">
                    <a16:creationId xmlns:a16="http://schemas.microsoft.com/office/drawing/2014/main" id="{AC96DC89-CB60-0F58-7510-3DB750A5922F}"/>
                  </a:ext>
                </a:extLst>
              </p:cNvPr>
              <p:cNvGraphicFramePr>
                <a:graphicFrameLocks noGrp="1"/>
              </p:cNvGraphicFramePr>
              <p:nvPr>
                <p:ph sz="half" idx="2"/>
                <p:extLst>
                  <p:ext uri="{D42A27DB-BD31-4B8C-83A1-F6EECF244321}">
                    <p14:modId xmlns:p14="http://schemas.microsoft.com/office/powerpoint/2010/main" val="4292038229"/>
                  </p:ext>
                </p:extLst>
              </p:nvPr>
            </p:nvGraphicFramePr>
            <p:xfrm>
              <a:off x="6172199" y="2642410"/>
              <a:ext cx="5267132" cy="3021273"/>
            </p:xfrm>
            <a:graphic>
              <a:graphicData uri="http://schemas.openxmlformats.org/drawingml/2006/table">
                <a:tbl>
                  <a:tblPr firstRow="1" firstCol="1" bandRow="1"/>
                  <a:tblGrid>
                    <a:gridCol w="1652826">
                      <a:extLst>
                        <a:ext uri="{9D8B030D-6E8A-4147-A177-3AD203B41FA5}">
                          <a16:colId xmlns:a16="http://schemas.microsoft.com/office/drawing/2014/main" val="3987894300"/>
                        </a:ext>
                      </a:extLst>
                    </a:gridCol>
                    <a:gridCol w="903840">
                      <a:extLst>
                        <a:ext uri="{9D8B030D-6E8A-4147-A177-3AD203B41FA5}">
                          <a16:colId xmlns:a16="http://schemas.microsoft.com/office/drawing/2014/main" val="2717936318"/>
                        </a:ext>
                      </a:extLst>
                    </a:gridCol>
                    <a:gridCol w="903840">
                      <a:extLst>
                        <a:ext uri="{9D8B030D-6E8A-4147-A177-3AD203B41FA5}">
                          <a16:colId xmlns:a16="http://schemas.microsoft.com/office/drawing/2014/main" val="941050674"/>
                        </a:ext>
                      </a:extLst>
                    </a:gridCol>
                    <a:gridCol w="903840">
                      <a:extLst>
                        <a:ext uri="{9D8B030D-6E8A-4147-A177-3AD203B41FA5}">
                          <a16:colId xmlns:a16="http://schemas.microsoft.com/office/drawing/2014/main" val="1921050727"/>
                        </a:ext>
                      </a:extLst>
                    </a:gridCol>
                    <a:gridCol w="902786">
                      <a:extLst>
                        <a:ext uri="{9D8B030D-6E8A-4147-A177-3AD203B41FA5}">
                          <a16:colId xmlns:a16="http://schemas.microsoft.com/office/drawing/2014/main" val="2566915984"/>
                        </a:ext>
                      </a:extLst>
                    </a:gridCol>
                  </a:tblGrid>
                  <a:tr h="335697">
                    <a:tc rowSpan="2">
                      <a:txBody>
                        <a:bodyPr/>
                        <a:lstStyle/>
                        <a:p>
                          <a:pPr indent="127000" algn="ctr">
                            <a:buNone/>
                          </a:pPr>
                          <a:r>
                            <a:rPr lang="zh-CN" sz="1100" kern="100" dirty="0">
                              <a:effectLst/>
                              <a:latin typeface="+mn-ea"/>
                              <a:ea typeface="+mn-ea"/>
                            </a:rPr>
                            <a:t>变量</a:t>
                          </a:r>
                        </a:p>
                      </a:txBody>
                      <a:tcPr marL="23467" marR="23467" marT="0" marB="0" anchor="ctr">
                        <a:lnL>
                          <a:noFill/>
                        </a:lnL>
                        <a:lnR>
                          <a:noFill/>
                        </a:lnR>
                        <a:lnT w="1270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indent="127000" algn="ctr">
                            <a:buNone/>
                          </a:pPr>
                          <a:r>
                            <a:rPr lang="en-GB" sz="1100" kern="100" dirty="0">
                              <a:effectLst/>
                              <a:latin typeface="+mn-ea"/>
                              <a:ea typeface="+mn-ea"/>
                            </a:rPr>
                            <a:t>(1)</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dirty="0">
                              <a:effectLst/>
                              <a:latin typeface="+mn-ea"/>
                              <a:ea typeface="+mn-ea"/>
                            </a:rPr>
                            <a:t>(2)</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en-GB" sz="1100" kern="100" dirty="0">
                              <a:effectLst/>
                              <a:latin typeface="+mn-ea"/>
                              <a:ea typeface="+mn-ea"/>
                            </a:rPr>
                            <a:t>(3)</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indent="127000" algn="ctr">
                            <a:buNone/>
                          </a:pPr>
                          <a:r>
                            <a:rPr lang="zh-CN" altLang="en-US" sz="1100" kern="100" dirty="0">
                              <a:effectLst/>
                              <a:latin typeface="+mn-ea"/>
                              <a:ea typeface="+mn-ea"/>
                            </a:rPr>
                            <a:t>（</a:t>
                          </a:r>
                          <a:r>
                            <a:rPr lang="en-US" altLang="zh-CN" sz="1100" kern="100" dirty="0">
                              <a:effectLst/>
                              <a:latin typeface="+mn-ea"/>
                              <a:ea typeface="+mn-ea"/>
                            </a:rPr>
                            <a:t>4</a:t>
                          </a:r>
                          <a:r>
                            <a:rPr lang="zh-CN" altLang="en-US" sz="1100" kern="100" dirty="0">
                              <a:effectLst/>
                              <a:latin typeface="+mn-ea"/>
                              <a:ea typeface="+mn-ea"/>
                            </a:rPr>
                            <a:t>）</a:t>
                          </a: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27599225"/>
                      </a:ext>
                    </a:extLst>
                  </a:tr>
                  <a:tr h="335697">
                    <a:tc vMerge="1">
                      <a:txBody>
                        <a:bodyPr/>
                        <a:lstStyle/>
                        <a:p>
                          <a:pPr indent="127000" algn="ctr">
                            <a:buNone/>
                          </a:pPr>
                          <a:endParaRPr lang="zh-CN" sz="1100" kern="100" dirty="0">
                            <a:effectLst/>
                            <a:latin typeface="+mn-ea"/>
                            <a:ea typeface="+mn-ea"/>
                          </a:endParaRPr>
                        </a:p>
                      </a:txBody>
                      <a:tcPr marL="23467" marR="23467"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47625" marR="47625" marT="0" marB="0">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2"/>
                          <a:stretch>
                            <a:fillRect l="-181879" t="-101818" r="-299329" b="-705455"/>
                          </a:stretch>
                        </a:blipFill>
                      </a:tcPr>
                    </a:tc>
                    <a:tc>
                      <a:txBody>
                        <a:bodyPr/>
                        <a:lstStyle/>
                        <a:p>
                          <a:endParaRPr lang="zh-CN"/>
                        </a:p>
                      </a:txBody>
                      <a:tcPr marL="47625" marR="47625" marT="0" marB="0">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2"/>
                          <a:stretch>
                            <a:fillRect l="-283784" t="-101818" r="-201351" b="-705455"/>
                          </a:stretch>
                        </a:blipFill>
                      </a:tcPr>
                    </a:tc>
                    <a:tc>
                      <a:txBody>
                        <a:bodyPr/>
                        <a:lstStyle/>
                        <a:p>
                          <a:endParaRPr lang="zh-CN"/>
                        </a:p>
                      </a:txBody>
                      <a:tcPr marL="47625" marR="47625" marT="0" marB="0">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2"/>
                          <a:stretch>
                            <a:fillRect l="-381208" t="-101818" r="-100000" b="-705455"/>
                          </a:stretch>
                        </a:blipFill>
                      </a:tcPr>
                    </a:tc>
                    <a:tc>
                      <a:txBody>
                        <a:bodyPr/>
                        <a:lstStyle/>
                        <a:p>
                          <a:endParaRPr lang="zh-CN"/>
                        </a:p>
                      </a:txBody>
                      <a:tcPr marL="47625" marR="47625" marT="0" marB="0">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2"/>
                          <a:stretch>
                            <a:fillRect l="-484459" t="-101818" r="-676" b="-705455"/>
                          </a:stretch>
                        </a:blipFill>
                      </a:tcPr>
                    </a:tc>
                    <a:extLst>
                      <a:ext uri="{0D108BD9-81ED-4DB2-BD59-A6C34878D82A}">
                        <a16:rowId xmlns:a16="http://schemas.microsoft.com/office/drawing/2014/main" val="1316430624"/>
                      </a:ext>
                    </a:extLst>
                  </a:tr>
                  <a:tr h="335697">
                    <a:tc>
                      <a:txBody>
                        <a:bodyPr/>
                        <a:lstStyle/>
                        <a:p>
                          <a:endParaRPr lang="zh-CN"/>
                        </a:p>
                      </a:txBody>
                      <a:tcPr marL="23467" marR="23467" marT="0" marB="0" anchor="ctr">
                        <a:lnL>
                          <a:noFill/>
                        </a:lnL>
                        <a:lnR>
                          <a:noFill/>
                        </a:lnR>
                        <a:lnT w="6350" cap="flat" cmpd="sng" algn="ctr">
                          <a:solidFill>
                            <a:schemeClr val="tx1"/>
                          </a:solidFill>
                          <a:prstDash val="solid"/>
                          <a:round/>
                          <a:headEnd type="none" w="med" len="med"/>
                          <a:tailEnd type="none" w="med" len="med"/>
                        </a:lnT>
                        <a:lnB>
                          <a:noFill/>
                        </a:lnB>
                        <a:blipFill>
                          <a:blip r:embed="rId2"/>
                          <a:stretch>
                            <a:fillRect t="-198214" r="-219557" b="-592857"/>
                          </a:stretch>
                        </a:blip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0.1523**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0.2339***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0.3624***</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0.3991***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785880670"/>
                      </a:ext>
                    </a:extLst>
                  </a:tr>
                  <a:tr h="335697">
                    <a:tc>
                      <a:txBody>
                        <a:bodyPr/>
                        <a:lstStyle/>
                        <a:p>
                          <a:pPr indent="127000" algn="ctr">
                            <a:buNone/>
                          </a:pPr>
                          <a:r>
                            <a:rPr lang="en-GB" sz="1100" kern="100">
                              <a:effectLst/>
                              <a:latin typeface="+mn-ea"/>
                              <a:ea typeface="+mn-ea"/>
                            </a:rPr>
                            <a:t> </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(0.0746)</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(0.0763)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(0.0749)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(0.0763)</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extLst>
                      <a:ext uri="{0D108BD9-81ED-4DB2-BD59-A6C34878D82A}">
                        <a16:rowId xmlns:a16="http://schemas.microsoft.com/office/drawing/2014/main" val="2875473031"/>
                      </a:ext>
                    </a:extLst>
                  </a:tr>
                  <a:tr h="335697">
                    <a:tc>
                      <a:txBody>
                        <a:bodyPr/>
                        <a:lstStyle/>
                        <a:p>
                          <a:endParaRPr lang="zh-CN"/>
                        </a:p>
                      </a:txBody>
                      <a:tcPr marL="23467" marR="23467" marT="0" marB="0" anchor="ctr">
                        <a:lnL>
                          <a:noFill/>
                        </a:lnL>
                        <a:lnR>
                          <a:noFill/>
                        </a:lnR>
                        <a:lnT>
                          <a:noFill/>
                        </a:lnT>
                        <a:lnB>
                          <a:noFill/>
                        </a:lnB>
                        <a:blipFill>
                          <a:blip r:embed="rId2"/>
                          <a:stretch>
                            <a:fillRect t="-403636" r="-219557" b="-403636"/>
                          </a:stretch>
                        </a:blip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528686379"/>
                      </a:ext>
                    </a:extLst>
                  </a:tr>
                  <a:tr h="335697">
                    <a:tc>
                      <a:txBody>
                        <a:bodyPr/>
                        <a:lstStyle/>
                        <a:p>
                          <a:endParaRPr lang="zh-CN"/>
                        </a:p>
                      </a:txBody>
                      <a:tcPr marL="23467" marR="23467" marT="0" marB="0" anchor="ctr">
                        <a:lnL>
                          <a:noFill/>
                        </a:lnL>
                        <a:lnR>
                          <a:noFill/>
                        </a:lnR>
                        <a:lnT>
                          <a:noFill/>
                        </a:lnT>
                        <a:lnB>
                          <a:noFill/>
                        </a:lnB>
                        <a:blipFill>
                          <a:blip r:embed="rId2"/>
                          <a:stretch>
                            <a:fillRect t="-503636" r="-219557" b="-303636"/>
                          </a:stretch>
                        </a:blip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498157375"/>
                      </a:ext>
                    </a:extLst>
                  </a:tr>
                  <a:tr h="335697">
                    <a:tc>
                      <a:txBody>
                        <a:bodyPr/>
                        <a:lstStyle/>
                        <a:p>
                          <a:endParaRPr lang="zh-CN"/>
                        </a:p>
                      </a:txBody>
                      <a:tcPr marL="23467" marR="23467" marT="0" marB="0" anchor="ctr">
                        <a:lnL>
                          <a:noFill/>
                        </a:lnL>
                        <a:lnR>
                          <a:noFill/>
                        </a:lnR>
                        <a:lnT>
                          <a:noFill/>
                        </a:lnT>
                        <a:lnB>
                          <a:noFill/>
                        </a:lnB>
                        <a:blipFill>
                          <a:blip r:embed="rId2"/>
                          <a:stretch>
                            <a:fillRect t="-592857" r="-219557" b="-198214"/>
                          </a:stretch>
                        </a:blip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a:effectLst/>
                              <a:latin typeface="+mn-ea"/>
                              <a:ea typeface="+mn-ea"/>
                            </a:rPr>
                            <a:t>Yes</a:t>
                          </a:r>
                          <a:endParaRPr lang="zh-CN" sz="1100" kern="10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tc>
                      <a:txBody>
                        <a:bodyPr/>
                        <a:lstStyle/>
                        <a:p>
                          <a:pPr indent="127000" algn="ctr">
                            <a:buNone/>
                          </a:pPr>
                          <a:r>
                            <a:rPr lang="en-GB" sz="1100" kern="100" dirty="0">
                              <a:effectLst/>
                              <a:latin typeface="+mn-ea"/>
                              <a:ea typeface="+mn-ea"/>
                            </a:rPr>
                            <a:t>Yes</a:t>
                          </a:r>
                          <a:endParaRPr lang="zh-CN" sz="1100" kern="100" dirty="0">
                            <a:effectLst/>
                            <a:latin typeface="+mn-ea"/>
                            <a:ea typeface="+mn-ea"/>
                          </a:endParaRPr>
                        </a:p>
                      </a:txBody>
                      <a:tcPr marL="23467" marR="23467" marT="0" marB="0" anchor="ctr">
                        <a:lnL>
                          <a:noFill/>
                        </a:lnL>
                        <a:lnR>
                          <a:noFill/>
                        </a:lnR>
                        <a:lnT>
                          <a:noFill/>
                        </a:lnT>
                        <a:lnB>
                          <a:noFill/>
                        </a:lnB>
                        <a:noFill/>
                      </a:tcPr>
                    </a:tc>
                    <a:extLst>
                      <a:ext uri="{0D108BD9-81ED-4DB2-BD59-A6C34878D82A}">
                        <a16:rowId xmlns:a16="http://schemas.microsoft.com/office/drawing/2014/main" val="2762898511"/>
                      </a:ext>
                    </a:extLst>
                  </a:tr>
                  <a:tr h="335697">
                    <a:tc>
                      <a:txBody>
                        <a:bodyPr/>
                        <a:lstStyle/>
                        <a:p>
                          <a:endParaRPr lang="zh-CN"/>
                        </a:p>
                      </a:txBody>
                      <a:tcPr marL="23467" marR="23467" marT="0" marB="0" anchor="ctr">
                        <a:lnL>
                          <a:noFill/>
                        </a:lnL>
                        <a:lnR>
                          <a:noFill/>
                        </a:lnR>
                        <a:lnT>
                          <a:noFill/>
                        </a:lnT>
                        <a:lnB>
                          <a:noFill/>
                        </a:lnB>
                        <a:blipFill>
                          <a:blip r:embed="rId2"/>
                          <a:stretch>
                            <a:fillRect t="-705455" r="-219557" b="-101818"/>
                          </a:stretch>
                        </a:blip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37,453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37,453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37,453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37,453</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a:noFill/>
                        </a:lnB>
                        <a:noFill/>
                      </a:tcPr>
                    </a:tc>
                    <a:extLst>
                      <a:ext uri="{0D108BD9-81ED-4DB2-BD59-A6C34878D82A}">
                        <a16:rowId xmlns:a16="http://schemas.microsoft.com/office/drawing/2014/main" val="435227542"/>
                      </a:ext>
                    </a:extLst>
                  </a:tr>
                  <a:tr h="335697">
                    <a:tc>
                      <a:txBody>
                        <a:bodyPr/>
                        <a:lstStyle/>
                        <a:p>
                          <a:endParaRPr lang="zh-CN"/>
                        </a:p>
                      </a:txBody>
                      <a:tcPr marL="23467" marR="23467" marT="0" marB="0" anchor="ctr">
                        <a:lnL>
                          <a:noFill/>
                        </a:lnL>
                        <a:lnR>
                          <a:noFill/>
                        </a:lnR>
                        <a:lnT>
                          <a:noFill/>
                        </a:lnT>
                        <a:lnB w="12700" cap="flat" cmpd="sng" algn="ctr">
                          <a:solidFill>
                            <a:srgbClr val="000000"/>
                          </a:solidFill>
                          <a:prstDash val="solid"/>
                          <a:round/>
                          <a:headEnd type="none" w="med" len="med"/>
                          <a:tailEnd type="none" w="med" len="med"/>
                        </a:lnB>
                        <a:blipFill>
                          <a:blip r:embed="rId2"/>
                          <a:stretch>
                            <a:fillRect t="-805455" r="-219557" b="-1818"/>
                          </a:stretch>
                        </a:blip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0.0289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0.0703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a:effectLst/>
                              <a:latin typeface="Times New Roman" panose="02020603050405020304" pitchFamily="18" charset="0"/>
                              <a:ea typeface="宋体" panose="02010600030101010101" pitchFamily="2" charset="-122"/>
                              <a:cs typeface="Times New Roman" panose="02020603050405020304" pitchFamily="18" charset="0"/>
                            </a:rPr>
                            <a:t>0.0909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0.0999</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7625" marR="47625"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7625839"/>
                      </a:ext>
                    </a:extLst>
                  </a:tr>
                </a:tbl>
              </a:graphicData>
            </a:graphic>
          </p:graphicFrame>
        </mc:Fallback>
      </mc:AlternateContent>
      <p:sp>
        <p:nvSpPr>
          <p:cNvPr id="4" name="文本框 3">
            <a:extLst>
              <a:ext uri="{FF2B5EF4-FFF2-40B4-BE49-F238E27FC236}">
                <a16:creationId xmlns:a16="http://schemas.microsoft.com/office/drawing/2014/main" id="{7B141F59-B004-4AED-C6E7-6F0121332F79}"/>
              </a:ext>
            </a:extLst>
          </p:cNvPr>
          <p:cNvSpPr txBox="1"/>
          <p:nvPr/>
        </p:nvSpPr>
        <p:spPr>
          <a:xfrm>
            <a:off x="8457681" y="2365411"/>
            <a:ext cx="1181734" cy="276999"/>
          </a:xfrm>
          <a:prstGeom prst="rect">
            <a:avLst/>
          </a:prstGeom>
          <a:noFill/>
        </p:spPr>
        <p:txBody>
          <a:bodyPr wrap="none" rtlCol="0">
            <a:spAutoFit/>
          </a:bodyPr>
          <a:lstStyle/>
          <a:p>
            <a:r>
              <a:rPr lang="zh-CN" altLang="en-US" sz="1200" b="1" dirty="0"/>
              <a:t>表</a:t>
            </a:r>
            <a:r>
              <a:rPr lang="en-US" altLang="zh-CN" sz="1200" b="1" dirty="0"/>
              <a:t>12 </a:t>
            </a:r>
            <a:r>
              <a:rPr lang="zh-CN" altLang="en-US" sz="1200" b="1" dirty="0"/>
              <a:t>企业韧性</a:t>
            </a:r>
          </a:p>
        </p:txBody>
      </p:sp>
    </p:spTree>
    <p:extLst>
      <p:ext uri="{BB962C8B-B14F-4D97-AF65-F5344CB8AC3E}">
        <p14:creationId xmlns:p14="http://schemas.microsoft.com/office/powerpoint/2010/main" val="1721457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031F47-D325-5222-EF1B-082FBD34A7A0}"/>
              </a:ext>
            </a:extLst>
          </p:cNvPr>
          <p:cNvSpPr>
            <a:spLocks noGrp="1"/>
          </p:cNvSpPr>
          <p:nvPr>
            <p:ph type="title"/>
          </p:nvPr>
        </p:nvSpPr>
        <p:spPr/>
        <p:txBody>
          <a:bodyPr vert="horz" lIns="91440" tIns="45720" rIns="91440" bIns="45720" rtlCol="0" anchor="ctr">
            <a:normAutofit/>
          </a:bodyPr>
          <a:lstStyle/>
          <a:p>
            <a:r>
              <a:rPr lang="zh-CN" altLang="en-US" sz="2800" dirty="0"/>
              <a:t>结论</a:t>
            </a:r>
          </a:p>
        </p:txBody>
      </p:sp>
      <p:sp>
        <p:nvSpPr>
          <p:cNvPr id="3" name="内容占位符 2">
            <a:extLst>
              <a:ext uri="{FF2B5EF4-FFF2-40B4-BE49-F238E27FC236}">
                <a16:creationId xmlns:a16="http://schemas.microsoft.com/office/drawing/2014/main" id="{75F29896-F125-E2B2-500B-0DE018D6AD98}"/>
              </a:ext>
            </a:extLst>
          </p:cNvPr>
          <p:cNvSpPr>
            <a:spLocks noGrp="1"/>
          </p:cNvSpPr>
          <p:nvPr>
            <p:ph idx="1"/>
          </p:nvPr>
        </p:nvSpPr>
        <p:spPr/>
        <p:txBody>
          <a:bodyPr>
            <a:noAutofit/>
          </a:bodyPr>
          <a:lstStyle/>
          <a:p>
            <a:pPr marL="0" indent="0">
              <a:lnSpc>
                <a:spcPct val="100000"/>
              </a:lnSpc>
              <a:spcBef>
                <a:spcPts val="1200"/>
              </a:spcBef>
              <a:buNone/>
            </a:pPr>
            <a:r>
              <a:rPr lang="zh-CN" altLang="en-US" sz="2000" dirty="0"/>
              <a:t>（</a:t>
            </a:r>
            <a:r>
              <a:rPr lang="en-US" altLang="zh-CN" sz="2000" dirty="0"/>
              <a:t>1</a:t>
            </a:r>
            <a:r>
              <a:rPr lang="zh-CN" altLang="en-US" sz="2000" dirty="0"/>
              <a:t>）在样本期内，人工智能技术的应用降低了企业过度投资和投资不足行为，使企业投资效率显著提升。</a:t>
            </a:r>
            <a:endParaRPr lang="en-US" altLang="zh-CN" sz="2000" dirty="0"/>
          </a:p>
          <a:p>
            <a:pPr marL="0" indent="0">
              <a:lnSpc>
                <a:spcPct val="100000"/>
              </a:lnSpc>
              <a:spcBef>
                <a:spcPts val="1200"/>
              </a:spcBef>
              <a:buNone/>
            </a:pPr>
            <a:r>
              <a:rPr lang="zh-CN" altLang="en-US" sz="2000" dirty="0"/>
              <a:t>（</a:t>
            </a:r>
            <a:r>
              <a:rPr lang="en-US" altLang="zh-CN" sz="2000" dirty="0"/>
              <a:t>2</a:t>
            </a:r>
            <a:r>
              <a:rPr lang="zh-CN" altLang="en-US" sz="2000" dirty="0"/>
              <a:t>）机制分析发现，人工智能可通过降低环境、政治、政策不确定性的渠道优化企业的投资效率。</a:t>
            </a:r>
            <a:endParaRPr lang="en-US" altLang="zh-CN" sz="2000" dirty="0"/>
          </a:p>
          <a:p>
            <a:pPr marL="0" indent="0">
              <a:lnSpc>
                <a:spcPct val="100000"/>
              </a:lnSpc>
              <a:spcBef>
                <a:spcPts val="1200"/>
              </a:spcBef>
              <a:buNone/>
            </a:pPr>
            <a:r>
              <a:rPr lang="zh-CN" altLang="en-US" sz="2000" dirty="0"/>
              <a:t>（</a:t>
            </a:r>
            <a:r>
              <a:rPr lang="en-US" altLang="zh-CN" sz="2000" dirty="0"/>
              <a:t>3</a:t>
            </a:r>
            <a:r>
              <a:rPr lang="zh-CN" altLang="en-US" sz="2000" dirty="0"/>
              <a:t>）异质性分析表明，在企业层面，高成长速度企业应用人工智能技术优化投资效率的效果更显著；在行业层面，人工智能对投资效率的提升作用在技术与劳动密集型行业中更为显著，而在资本密集型行业中则相对有限；在地区层面，人工智能技术对东部地区企业的优化作用明显强于中西部欠发达地区。</a:t>
            </a:r>
            <a:endParaRPr lang="en-US" altLang="zh-CN" sz="2000" dirty="0"/>
          </a:p>
          <a:p>
            <a:pPr marL="0" indent="0">
              <a:lnSpc>
                <a:spcPct val="100000"/>
              </a:lnSpc>
              <a:spcBef>
                <a:spcPts val="1200"/>
              </a:spcBef>
              <a:buNone/>
            </a:pPr>
            <a:r>
              <a:rPr lang="zh-CN" altLang="en-US" sz="2000" dirty="0"/>
              <a:t>（</a:t>
            </a:r>
            <a:r>
              <a:rPr lang="en-US" altLang="zh-CN" sz="2000" dirty="0"/>
              <a:t>4</a:t>
            </a:r>
            <a:r>
              <a:rPr lang="zh-CN" altLang="en-US" sz="2000" dirty="0"/>
              <a:t>））本文进一步从集聚网络视角考察了人工智能对企业投资效率的影响。结果发现，人工智能技术应用具有正外部性，其应用成效可通过网络效应迅速扩散，位于集聚网络中心位置的企业通过借鉴他人经验、降低试错成本从而更娴熟地运用，对投资效率的优化效果更加显著。</a:t>
            </a:r>
          </a:p>
        </p:txBody>
      </p:sp>
    </p:spTree>
    <p:extLst>
      <p:ext uri="{BB962C8B-B14F-4D97-AF65-F5344CB8AC3E}">
        <p14:creationId xmlns:p14="http://schemas.microsoft.com/office/powerpoint/2010/main" val="1306153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F96BDC-C56B-C023-8E46-7B317D72E37F}"/>
              </a:ext>
            </a:extLst>
          </p:cNvPr>
          <p:cNvSpPr>
            <a:spLocks noGrp="1"/>
          </p:cNvSpPr>
          <p:nvPr>
            <p:ph type="title"/>
          </p:nvPr>
        </p:nvSpPr>
        <p:spPr/>
        <p:txBody>
          <a:bodyPr vert="horz" lIns="91440" tIns="45720" rIns="91440" bIns="45720" rtlCol="0" anchor="ctr">
            <a:normAutofit/>
          </a:bodyPr>
          <a:lstStyle/>
          <a:p>
            <a:r>
              <a:rPr lang="zh-CN" altLang="en-US" sz="2800" dirty="0"/>
              <a:t>政策启示</a:t>
            </a:r>
          </a:p>
        </p:txBody>
      </p:sp>
      <p:sp>
        <p:nvSpPr>
          <p:cNvPr id="3" name="内容占位符 2">
            <a:extLst>
              <a:ext uri="{FF2B5EF4-FFF2-40B4-BE49-F238E27FC236}">
                <a16:creationId xmlns:a16="http://schemas.microsoft.com/office/drawing/2014/main" id="{499BBE97-F952-3C20-BE01-9A9B17AC3555}"/>
              </a:ext>
            </a:extLst>
          </p:cNvPr>
          <p:cNvSpPr>
            <a:spLocks noGrp="1"/>
          </p:cNvSpPr>
          <p:nvPr>
            <p:ph idx="1"/>
          </p:nvPr>
        </p:nvSpPr>
        <p:spPr/>
        <p:txBody>
          <a:bodyPr>
            <a:normAutofit/>
          </a:bodyPr>
          <a:lstStyle/>
          <a:p>
            <a:pPr marL="0" indent="0">
              <a:lnSpc>
                <a:spcPct val="100000"/>
              </a:lnSpc>
              <a:spcBef>
                <a:spcPts val="1200"/>
              </a:spcBef>
              <a:buNone/>
            </a:pPr>
            <a:r>
              <a:rPr lang="zh-CN" altLang="en-US" sz="2000" dirty="0"/>
              <a:t>第一，政府要着重推动人工智能基础设施建设，确保算力、数据、算法三大底座的基础供应，在保证持续服务的基础上提升人工智能的服务质量。</a:t>
            </a:r>
            <a:endParaRPr lang="en-US" altLang="zh-CN" sz="2000" dirty="0"/>
          </a:p>
          <a:p>
            <a:pPr marL="0" indent="0">
              <a:lnSpc>
                <a:spcPct val="100000"/>
              </a:lnSpc>
              <a:spcBef>
                <a:spcPts val="1200"/>
              </a:spcBef>
              <a:buNone/>
            </a:pPr>
            <a:r>
              <a:rPr lang="zh-CN" altLang="en-US" sz="2000" dirty="0"/>
              <a:t>第二，鼓励企业将人工智能技术应用到投资决策中，充分发挥人工智能技术的两大经济特性，助力投资效率向帕累托最优改进。</a:t>
            </a:r>
            <a:endParaRPr lang="en-US" altLang="zh-CN" sz="2000" dirty="0"/>
          </a:p>
          <a:p>
            <a:pPr marL="0" indent="0">
              <a:lnSpc>
                <a:spcPct val="100000"/>
              </a:lnSpc>
              <a:spcBef>
                <a:spcPts val="1200"/>
              </a:spcBef>
              <a:buNone/>
            </a:pPr>
            <a:r>
              <a:rPr lang="zh-CN" altLang="en-US" sz="2000" dirty="0"/>
              <a:t>第三，地方政府牵头组建人工智能产业联盟，加强联盟内企业信息互联互通，以先“应用”带动后“应用”模式，由龙头企业带动中小企业应用人工智能。</a:t>
            </a:r>
          </a:p>
        </p:txBody>
      </p:sp>
    </p:spTree>
    <p:extLst>
      <p:ext uri="{BB962C8B-B14F-4D97-AF65-F5344CB8AC3E}">
        <p14:creationId xmlns:p14="http://schemas.microsoft.com/office/powerpoint/2010/main" val="4090430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1485E5-FE5F-C8FA-BDFB-B190B6B6217C}"/>
              </a:ext>
            </a:extLst>
          </p:cNvPr>
          <p:cNvSpPr>
            <a:spLocks noGrp="1"/>
          </p:cNvSpPr>
          <p:nvPr>
            <p:ph type="title"/>
          </p:nvPr>
        </p:nvSpPr>
        <p:spPr>
          <a:xfrm>
            <a:off x="2281456" y="2630703"/>
            <a:ext cx="7629088" cy="1325563"/>
          </a:xfrm>
        </p:spPr>
        <p:txBody>
          <a:bodyPr>
            <a:normAutofit fontScale="90000"/>
          </a:bodyPr>
          <a:lstStyle/>
          <a:p>
            <a:pPr algn="ctr"/>
            <a:r>
              <a:rPr lang="zh-CN" altLang="en-US" sz="8000" dirty="0"/>
              <a:t>谢谢！</a:t>
            </a:r>
            <a:br>
              <a:rPr lang="en-US" altLang="zh-CN" sz="8000" dirty="0"/>
            </a:br>
            <a:r>
              <a:rPr lang="zh-CN" altLang="en-US" sz="8000" dirty="0"/>
              <a:t>请批评指正！</a:t>
            </a:r>
          </a:p>
        </p:txBody>
      </p:sp>
    </p:spTree>
    <p:extLst>
      <p:ext uri="{BB962C8B-B14F-4D97-AF65-F5344CB8AC3E}">
        <p14:creationId xmlns:p14="http://schemas.microsoft.com/office/powerpoint/2010/main" val="2402343647"/>
      </p:ext>
    </p:extLst>
  </p:cSld>
  <p:clrMapOvr>
    <a:masterClrMapping/>
  </p:clrMapOvr>
</p:sld>
</file>

<file path=ppt/theme/theme1.xml><?xml version="1.0" encoding="utf-8"?>
<a:theme xmlns:a="http://schemas.openxmlformats.org/drawingml/2006/main" name="Office 主题​​">
  <a:themeElements>
    <a:clrScheme name="学术">
      <a:dk1>
        <a:sysClr val="windowText" lastClr="000000"/>
      </a:dk1>
      <a:lt1>
        <a:sysClr val="window" lastClr="FFFFFF"/>
      </a:lt1>
      <a:dk2>
        <a:srgbClr val="44546A"/>
      </a:dk2>
      <a:lt2>
        <a:srgbClr val="E7E6E6"/>
      </a:lt2>
      <a:accent1>
        <a:srgbClr val="034A90"/>
      </a:accent1>
      <a:accent2>
        <a:srgbClr val="48A1FA"/>
      </a:accent2>
      <a:accent3>
        <a:srgbClr val="064ABA"/>
      </a:accent3>
      <a:accent4>
        <a:srgbClr val="00BBF7"/>
      </a:accent4>
      <a:accent5>
        <a:srgbClr val="85C0FB"/>
      </a:accent5>
      <a:accent6>
        <a:srgbClr val="C2DFFD"/>
      </a:accent6>
      <a:hlink>
        <a:srgbClr val="0563C1"/>
      </a:hlink>
      <a:folHlink>
        <a:srgbClr val="954F72"/>
      </a:folHlink>
    </a:clrScheme>
    <a:fontScheme name="鸿蒙字体">
      <a:majorFont>
        <a:latin typeface="HarmonyOS Sans SC Black"/>
        <a:ea typeface="HarmonyOS Sans SC Black"/>
        <a:cs typeface=""/>
      </a:majorFont>
      <a:minorFont>
        <a:latin typeface="HarmonyOS Sans SC"/>
        <a:ea typeface="HarmonyOS Sans S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TotalTime>
  <Words>3489</Words>
  <Application>Microsoft Office PowerPoint</Application>
  <PresentationFormat>宽屏</PresentationFormat>
  <Paragraphs>875</Paragraphs>
  <Slides>25</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25</vt:i4>
      </vt:variant>
    </vt:vector>
  </HeadingPairs>
  <TitlesOfParts>
    <vt:vector size="35" baseType="lpstr">
      <vt:lpstr>HarmonyOS Sans SC</vt:lpstr>
      <vt:lpstr>HarmonyOS Sans SC Black</vt:lpstr>
      <vt:lpstr>等线</vt:lpstr>
      <vt:lpstr>楷体</vt:lpstr>
      <vt:lpstr>宋体</vt:lpstr>
      <vt:lpstr>Arial</vt:lpstr>
      <vt:lpstr>Calibri</vt:lpstr>
      <vt:lpstr>Cambria Math</vt:lpstr>
      <vt:lpstr>Times New Roman</vt:lpstr>
      <vt:lpstr>Office 主题​​</vt:lpstr>
      <vt:lpstr>人工智能、不确定性与投资效率</vt:lpstr>
      <vt:lpstr>摘要</vt:lpstr>
      <vt:lpstr>边际贡献</vt:lpstr>
      <vt:lpstr>投资效率</vt:lpstr>
      <vt:lpstr>传统视角下的投资效率</vt:lpstr>
      <vt:lpstr>人工智能的作用</vt:lpstr>
      <vt:lpstr>人工智能两大经济特性</vt:lpstr>
      <vt:lpstr>人工智能与投资效率</vt:lpstr>
      <vt:lpstr>人工智能技术对企业投资效率作用路径</vt:lpstr>
      <vt:lpstr>人工智能影响企业投资效率的理论框架</vt:lpstr>
      <vt:lpstr>实证设计</vt:lpstr>
      <vt:lpstr>实证设计</vt:lpstr>
      <vt:lpstr>实证结果分析</vt:lpstr>
      <vt:lpstr>实证结果分析</vt:lpstr>
      <vt:lpstr>实证结果分析</vt:lpstr>
      <vt:lpstr>实证结果分析</vt:lpstr>
      <vt:lpstr>实证结果分析</vt:lpstr>
      <vt:lpstr>实证结果分析</vt:lpstr>
      <vt:lpstr>实证结果分析</vt:lpstr>
      <vt:lpstr>进一步分析</vt:lpstr>
      <vt:lpstr>进一步分析</vt:lpstr>
      <vt:lpstr>进一步分析</vt:lpstr>
      <vt:lpstr>结论</vt:lpstr>
      <vt:lpstr>政策启示</vt:lpstr>
      <vt:lpstr>谢谢！ 请批评指正！</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齐凯 张</dc:creator>
  <cp:lastModifiedBy>齐凯 张</cp:lastModifiedBy>
  <cp:revision>31</cp:revision>
  <dcterms:created xsi:type="dcterms:W3CDTF">2025-10-12T16:03:43Z</dcterms:created>
  <dcterms:modified xsi:type="dcterms:W3CDTF">2025-12-06T01:03:28Z</dcterms:modified>
</cp:coreProperties>
</file>